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bc7777e7fb4c7d" /><Relationship Type="http://schemas.openxmlformats.org/officeDocument/2006/relationships/extended-properties" Target="/docProps/app.xml" Id="R7a63894153eb4b88" /><Relationship Type="http://schemas.openxmlformats.org/officeDocument/2006/relationships/officeDocument" Target="/ppt/presentation.xml" Id="R97c6287ef3e94338" /></Relationships>
</file>

<file path=ppt/presentation.xml><?xml version="1.0" encoding="utf-8"?>
<p:presentation xmlns:p="http://schemas.openxmlformats.org/presentationml/2006/main">
  <p:sldMasterIdLst>
    <p:sldMasterId xmlns:r="http://schemas.openxmlformats.org/officeDocument/2006/relationships" id="2147483648" r:id="R4504a09406b94f63"/>
  </p:sldMasterIdLst>
  <p:notesMasterIdLst>
    <p:notesMasterId xmlns:r="http://schemas.openxmlformats.org/officeDocument/2006/relationships" r:id="Rcc7447846e864cde"/>
  </p:notesMasterIdLst>
  <p:sldIdLst>
    <p:sldId xmlns:r="http://schemas.openxmlformats.org/officeDocument/2006/relationships" id="256" r:id="R19c26fd07ff44a67"/>
    <p:sldId xmlns:r="http://schemas.openxmlformats.org/officeDocument/2006/relationships" id="257" r:id="Rbd93d2883bf24394"/>
    <p:sldId xmlns:r="http://schemas.openxmlformats.org/officeDocument/2006/relationships" id="258" r:id="Ra12f3b9a06e048be"/>
    <p:sldId xmlns:r="http://schemas.openxmlformats.org/officeDocument/2006/relationships" id="259" r:id="Rb1a06fed7b4c4c34"/>
    <p:sldId xmlns:r="http://schemas.openxmlformats.org/officeDocument/2006/relationships" id="260" r:id="R33a96fe96b624cf9"/>
    <p:sldId xmlns:r="http://schemas.openxmlformats.org/officeDocument/2006/relationships" id="261" r:id="R6d2cd29e53cf4068"/>
    <p:sldId xmlns:r="http://schemas.openxmlformats.org/officeDocument/2006/relationships" id="262" r:id="R4b41a30aa60e446e"/>
    <p:sldId xmlns:r="http://schemas.openxmlformats.org/officeDocument/2006/relationships" id="263" r:id="R6f98bd31b1dd4114"/>
    <p:sldId xmlns:r="http://schemas.openxmlformats.org/officeDocument/2006/relationships" id="264" r:id="R1f9288faecee470a"/>
    <p:sldId xmlns:r="http://schemas.openxmlformats.org/officeDocument/2006/relationships" id="265" r:id="R431256e17fd941e0"/>
    <p:sldId xmlns:r="http://schemas.openxmlformats.org/officeDocument/2006/relationships" id="266" r:id="R05e56843b3c94069"/>
    <p:sldId xmlns:r="http://schemas.openxmlformats.org/officeDocument/2006/relationships" id="267" r:id="R3300b930af8c4a81"/>
    <p:sldId xmlns:r="http://schemas.openxmlformats.org/officeDocument/2006/relationships" id="268" r:id="R481cda2b31ce45fe"/>
    <p:sldId xmlns:r="http://schemas.openxmlformats.org/officeDocument/2006/relationships" id="269" r:id="R5d751b536f124da1"/>
    <p:sldId xmlns:r="http://schemas.openxmlformats.org/officeDocument/2006/relationships" id="270" r:id="R9a509536130b4a07"/>
    <p:sldId xmlns:r="http://schemas.openxmlformats.org/officeDocument/2006/relationships" id="271" r:id="R7e9fa5bdda894209"/>
    <p:sldId xmlns:r="http://schemas.openxmlformats.org/officeDocument/2006/relationships" id="272" r:id="R54e957f559e447ac"/>
    <p:sldId xmlns:r="http://schemas.openxmlformats.org/officeDocument/2006/relationships" id="273" r:id="R97a2c08c701d443d"/>
    <p:sldId xmlns:r="http://schemas.openxmlformats.org/officeDocument/2006/relationships" id="274" r:id="Raaeeb02484e24f11"/>
    <p:sldId xmlns:r="http://schemas.openxmlformats.org/officeDocument/2006/relationships" id="275" r:id="R965f310702e94eaf"/>
    <p:sldId xmlns:r="http://schemas.openxmlformats.org/officeDocument/2006/relationships" id="276" r:id="R425c8b1fa5794207"/>
    <p:sldId xmlns:r="http://schemas.openxmlformats.org/officeDocument/2006/relationships" id="277" r:id="R3d11522316294344"/>
    <p:sldId xmlns:r="http://schemas.openxmlformats.org/officeDocument/2006/relationships" id="278" r:id="Rdd42d8d2317e431d"/>
    <p:sldId xmlns:r="http://schemas.openxmlformats.org/officeDocument/2006/relationships" id="279" r:id="R4ce322d6806e4711"/>
    <p:sldId xmlns:r="http://schemas.openxmlformats.org/officeDocument/2006/relationships" id="280" r:id="R90752e55017148ae"/>
    <p:sldId xmlns:r="http://schemas.openxmlformats.org/officeDocument/2006/relationships" id="281" r:id="R20acb877a5aa4d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c1982c2f3348d2" /><Relationship Type="http://schemas.openxmlformats.org/officeDocument/2006/relationships/slideMaster" Target="/ppt/slideMasters/slideMaster1.xml" Id="R4504a09406b94f63" /><Relationship Type="http://schemas.openxmlformats.org/officeDocument/2006/relationships/notesMaster" Target="/ppt/notesMasters/notesMaster1.xml" Id="Rcc7447846e864cde" /><Relationship Type="http://schemas.openxmlformats.org/officeDocument/2006/relationships/presProps" Target="/ppt/presProps.xml" Id="R595958bcd2ef493e" /><Relationship Type="http://schemas.openxmlformats.org/officeDocument/2006/relationships/tableStyles" Target="/ppt/tableStyles.xml" Id="Rc3da98a76c9b4f75" /><Relationship Type="http://schemas.openxmlformats.org/officeDocument/2006/relationships/slide" Target="/ppt/slides/slide1.xml" Id="R19c26fd07ff44a67" /><Relationship Type="http://schemas.openxmlformats.org/officeDocument/2006/relationships/slide" Target="/ppt/slides/slide2.xml" Id="Rbd93d2883bf24394" /><Relationship Type="http://schemas.openxmlformats.org/officeDocument/2006/relationships/slide" Target="/ppt/slides/slide3.xml" Id="Ra12f3b9a06e048be" /><Relationship Type="http://schemas.openxmlformats.org/officeDocument/2006/relationships/slide" Target="/ppt/slides/slide4.xml" Id="Rb1a06fed7b4c4c34" /><Relationship Type="http://schemas.openxmlformats.org/officeDocument/2006/relationships/slide" Target="/ppt/slides/slide5.xml" Id="R33a96fe96b624cf9" /><Relationship Type="http://schemas.openxmlformats.org/officeDocument/2006/relationships/slide" Target="/ppt/slides/slide6.xml" Id="R6d2cd29e53cf4068" /><Relationship Type="http://schemas.openxmlformats.org/officeDocument/2006/relationships/slide" Target="/ppt/slides/slide7.xml" Id="R4b41a30aa60e446e" /><Relationship Type="http://schemas.openxmlformats.org/officeDocument/2006/relationships/slide" Target="/ppt/slides/slide8.xml" Id="R6f98bd31b1dd4114" /><Relationship Type="http://schemas.openxmlformats.org/officeDocument/2006/relationships/slide" Target="/ppt/slides/slide9.xml" Id="R1f9288faecee470a" /><Relationship Type="http://schemas.openxmlformats.org/officeDocument/2006/relationships/slide" Target="/ppt/slides/slide10.xml" Id="R431256e17fd941e0" /><Relationship Type="http://schemas.openxmlformats.org/officeDocument/2006/relationships/slide" Target="/ppt/slides/slide11.xml" Id="R05e56843b3c94069" /><Relationship Type="http://schemas.openxmlformats.org/officeDocument/2006/relationships/slide" Target="/ppt/slides/slide12.xml" Id="R3300b930af8c4a81" /><Relationship Type="http://schemas.openxmlformats.org/officeDocument/2006/relationships/slide" Target="/ppt/slides/slide13.xml" Id="R481cda2b31ce45fe" /><Relationship Type="http://schemas.openxmlformats.org/officeDocument/2006/relationships/slide" Target="/ppt/slides/slide14.xml" Id="R5d751b536f124da1" /><Relationship Type="http://schemas.openxmlformats.org/officeDocument/2006/relationships/slide" Target="/ppt/slides/slide15.xml" Id="R9a509536130b4a07" /><Relationship Type="http://schemas.openxmlformats.org/officeDocument/2006/relationships/slide" Target="/ppt/slides/slide16.xml" Id="R7e9fa5bdda894209" /><Relationship Type="http://schemas.openxmlformats.org/officeDocument/2006/relationships/slide" Target="/ppt/slides/slide17.xml" Id="R54e957f559e447ac" /><Relationship Type="http://schemas.openxmlformats.org/officeDocument/2006/relationships/slide" Target="/ppt/slides/slide18.xml" Id="R97a2c08c701d443d" /><Relationship Type="http://schemas.openxmlformats.org/officeDocument/2006/relationships/slide" Target="/ppt/slides/slide19.xml" Id="Raaeeb02484e24f11" /><Relationship Type="http://schemas.openxmlformats.org/officeDocument/2006/relationships/slide" Target="/ppt/slides/slide20.xml" Id="R965f310702e94eaf" /><Relationship Type="http://schemas.openxmlformats.org/officeDocument/2006/relationships/slide" Target="/ppt/slides/slide21.xml" Id="R425c8b1fa5794207" /><Relationship Type="http://schemas.openxmlformats.org/officeDocument/2006/relationships/slide" Target="/ppt/slides/slide22.xml" Id="R3d11522316294344" /><Relationship Type="http://schemas.openxmlformats.org/officeDocument/2006/relationships/slide" Target="/ppt/slides/slide23.xml" Id="Rdd42d8d2317e431d" /><Relationship Type="http://schemas.openxmlformats.org/officeDocument/2006/relationships/slide" Target="/ppt/slides/slide24.xml" Id="R4ce322d6806e4711" /><Relationship Type="http://schemas.openxmlformats.org/officeDocument/2006/relationships/slide" Target="/ppt/slides/slide25.xml" Id="R90752e55017148ae" /><Relationship Type="http://schemas.openxmlformats.org/officeDocument/2006/relationships/slide" Target="/ppt/slides/slide26.xml" Id="R20acb877a5aa4d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e1adc058264c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823d29d8aa473c" /><Relationship Type="http://schemas.openxmlformats.org/officeDocument/2006/relationships/notesMaster" Target="/ppt/notesMasters/notesMaster1.xml" Id="R61fb52a3bb1e49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c796221da54370" /><Relationship Type="http://schemas.openxmlformats.org/officeDocument/2006/relationships/notesMaster" Target="/ppt/notesMasters/notesMaster1.xml" Id="R173916435c8642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235303805e4fd3" /><Relationship Type="http://schemas.openxmlformats.org/officeDocument/2006/relationships/notesMaster" Target="/ppt/notesMasters/notesMaster1.xml" Id="R3f96b54a141c4c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67a5ee25c94c87" /><Relationship Type="http://schemas.openxmlformats.org/officeDocument/2006/relationships/notesMaster" Target="/ppt/notesMasters/notesMaster1.xml" Id="R2ea9580725ce4e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3793f126b64ce5" /><Relationship Type="http://schemas.openxmlformats.org/officeDocument/2006/relationships/notesMaster" Target="/ppt/notesMasters/notesMaster1.xml" Id="R487f288f430d43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bd1c2ee5f54372" /><Relationship Type="http://schemas.openxmlformats.org/officeDocument/2006/relationships/notesMaster" Target="/ppt/notesMasters/notesMaster1.xml" Id="R3e28bbf75b5343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7de4a594b24698" /><Relationship Type="http://schemas.openxmlformats.org/officeDocument/2006/relationships/notesMaster" Target="/ppt/notesMasters/notesMaster1.xml" Id="R442cfdb5070243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33b677f8bc4542" /><Relationship Type="http://schemas.openxmlformats.org/officeDocument/2006/relationships/notesMaster" Target="/ppt/notesMasters/notesMaster1.xml" Id="Rc93b67d866dd42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0408978a424a33" /><Relationship Type="http://schemas.openxmlformats.org/officeDocument/2006/relationships/notesMaster" Target="/ppt/notesMasters/notesMaster1.xml" Id="R37c71b9197d648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12a923b3e94706" /><Relationship Type="http://schemas.openxmlformats.org/officeDocument/2006/relationships/notesMaster" Target="/ppt/notesMasters/notesMaster1.xml" Id="R462f95f607fc4f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0f55e761314cef" /><Relationship Type="http://schemas.openxmlformats.org/officeDocument/2006/relationships/notesMaster" Target="/ppt/notesMasters/notesMaster1.xml" Id="R747b199ec16a42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af2a62d06349d4" /><Relationship Type="http://schemas.openxmlformats.org/officeDocument/2006/relationships/notesMaster" Target="/ppt/notesMasters/notesMaster1.xml" Id="Rd4effd0771e24b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1c3c233cbb45da" /><Relationship Type="http://schemas.openxmlformats.org/officeDocument/2006/relationships/notesMaster" Target="/ppt/notesMasters/notesMaster1.xml" Id="R4d3bb4bc159c40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76ebd34eb44f88" /><Relationship Type="http://schemas.openxmlformats.org/officeDocument/2006/relationships/notesMaster" Target="/ppt/notesMasters/notesMaster1.xml" Id="Radad41ccae5c4c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72290672bb4305" /><Relationship Type="http://schemas.openxmlformats.org/officeDocument/2006/relationships/notesMaster" Target="/ppt/notesMasters/notesMaster1.xml" Id="Rb4cf4e05964f4f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32e0d8e9ff4811" /><Relationship Type="http://schemas.openxmlformats.org/officeDocument/2006/relationships/notesMaster" Target="/ppt/notesMasters/notesMaster1.xml" Id="R110980d4c71144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842ffce9bc469d" /><Relationship Type="http://schemas.openxmlformats.org/officeDocument/2006/relationships/notesMaster" Target="/ppt/notesMasters/notesMaster1.xml" Id="Rbd974014a68c4b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afc2264dc145da" /><Relationship Type="http://schemas.openxmlformats.org/officeDocument/2006/relationships/notesMaster" Target="/ppt/notesMasters/notesMaster1.xml" Id="Ra5958a9b824344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6126369fe540c1" /><Relationship Type="http://schemas.openxmlformats.org/officeDocument/2006/relationships/notesMaster" Target="/ppt/notesMasters/notesMaster1.xml" Id="R70f8773249cb43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6a178b3aa04c16" /><Relationship Type="http://schemas.openxmlformats.org/officeDocument/2006/relationships/notesMaster" Target="/ppt/notesMasters/notesMaster1.xml" Id="Rb3e51e6a890e44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aaae86c65743bb" /><Relationship Type="http://schemas.openxmlformats.org/officeDocument/2006/relationships/notesMaster" Target="/ppt/notesMasters/notesMaster1.xml" Id="R407dc04c58b346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5f37320ce744a2" /><Relationship Type="http://schemas.openxmlformats.org/officeDocument/2006/relationships/notesMaster" Target="/ppt/notesMasters/notesMaster1.xml" Id="R9b71b4ea551247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01dc5684c14810" /><Relationship Type="http://schemas.openxmlformats.org/officeDocument/2006/relationships/notesMaster" Target="/ppt/notesMasters/notesMaster1.xml" Id="Rcdad32598ba94e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ac86f50f7a4a51" /><Relationship Type="http://schemas.openxmlformats.org/officeDocument/2006/relationships/notesMaster" Target="/ppt/notesMasters/notesMaster1.xml" Id="R86f5c801d69e46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bb66ae9013493d" /><Relationship Type="http://schemas.openxmlformats.org/officeDocument/2006/relationships/notesMaster" Target="/ppt/notesMasters/notesMaster1.xml" Id="R0e2285aca7e94d2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b8101b2972a49e2" /><Relationship Type="http://schemas.openxmlformats.org/officeDocument/2006/relationships/notesMaster" Target="/ppt/notesMasters/notesMaster1.xml" Id="R66b255732a1f4c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Rather than listing each team's results separately, start from shared observations and compare where the strategies diverge. Planned as 22 main slides plus a 4-slide appendix, about 20–25 minutes. Team A is described from its provided deck, Team B from its presentation notes (발표자료.md).</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is a syllable's first consonant, the medial is the vowel and the final is the bottom consonant. Obfuscation changes these parts but leaves a form a human can read from context. F1 is the competition score for correct restoration; higher is better. Team B's notes also state that paid LLM APIs are banned and that augmenting the provided data is allowed. Example from Team A deck, slide 2.</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 is exploratory data analysis: checking what kind of problem the data poses before choosing a model. A baseline is the starting point for judging whether later methods improve. Validation evaluates on sentences whose answers are known but were left out of training. This slide is a general explanation that organises both teams' actual experiment flow for beginners.</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findings come from the provided training data and are not claimed as universal rules for all real obfuscated text. Because the lengths match, it is clear which character of the answer must be predicted. Team A's output vocabulary is about 1,400 syllables. Team B also uses syllable classification, but its count is not stated in its source, so no single number is given for both teams. Sources: Team A deck slide 3, Team B notes sections 2–3.</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reasoning missing between the EDA and the classification model. Choose means, for example, classifying the first position's answer as 겨. Copy means keeping a space as in the input instead of predicting it. The design does not prevent every semantic error, but it prevents length errors. Sources: Team A deck slides 2–3, Team B notes section 3.</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lengths and the 1,965-char maximum are from Team A deck slide 3. The share of characters in reviews over 300 chars is from Team B notes section 4 and is a share of characters, not of sentences. Team A's stage 1 uses RoPE relative positions, so long test sentences are not cut; stage 2 reads in windows. So we do not claim every Team A model handles any length. Team A augmentation: deck slide 16; Team B overlapping inference: notes section 4. Statistics and each team's response are kept separate.</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Pretraining means using a model that has already learned from lots of normal text. Obfuscated characters are unfamiliar to such a model, so loading its weights alone does not guarantee improvement. Team A also uses a hybrid that borrows some upper context layers instead of the pretrained input layers. Team B gives the model something readable from the start via hints. Team A figures are validation values from deck slide 4; Team B's first hint is from notes section 3. Results from different validation setups are not merged into one table.</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 analysed its stage 1 single model before adding stage 2; Team B analysed the errors left after stage 2. Denominators, frequency bins and experiment stages differ, so 62% and 82% are not directly comparable. Non-word predictions suggest a lack of word knowledge but do not fully prove the cause; the actual gains from word models support the hypothesis. Team A also found that 56% of character errors are final-consonant errors. Sources: Team A deck slide 5, Team B notes section 5.</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sentence is marked as illustrative in Team A's deck, slide 18. Stage 1: jamo embeddings, 6-layer RoPE Transformer, top 6 layers of KoCharELECTRA-small, syllable classification head. Stage 2 combines KcELECTRA-base word representations with original and predicted jamo and corrects with 2 RoPE layers. In the talk, explain the problem each stage solves before the model names. Sources: Team A deck slides 6–7, 14–15, 18.</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OOF means out-of-fold: predictions from a model that excluded that sentence from training. For beginners: collect answers from students who did not memorise the answer key, and use them to teach the next student to fix mistakes. Team A's stage 1 uses 5 folds, and test predictions average the probabilities of the 5 models. Team B also uses K-fold OOF hints. Augmented copies must also be split by their source sentence. Sources: Team A deck slides 17–18, Team B notes sections 3, 6, 8.</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Arrows in the figures mean before → after. Team A's validation F1 and character counts are before and after adding masking and error replacement, and are separate from Team B's metrics. The goal is to change correctly, not to change more. The initial source bias of 5.0 and the searched inference copy margin are different settings. Iteration experiments gave validation F1 0.9892 (1 round), 0.9899 (2) and 0.9901 (3) under different conditions, so they are not chained with the masking figures as one experiment. Sources: Team A deck slides 15, 19–21.</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hint and the original have different roles: the hint is material for reading Korean context, and the original jamo is the evidence for fixing a wrong hint. Rare syllables can be helped by the initial/medial/final scores even when whole-syllable classification is weak. The word model is klue/roberta-large, with later runs such as xlm-roberta-large. This slide covers Team B's restoration models before candidate selection. Figures are OOF character accuracy, not Public F1. Source: Team B notes sections 3–5.</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of closed jamo groups: {ㄱㄲㅋ}, {ㅗㅛ}. With 0.003% exceptions, this is not claimed as a perfectly universal rule. The keep rate is the share of syllables left unchanged after obfuscation. 0.255, 0.125 and 0.127 are not accuracy or F1. The result shows the augmentation statistics got closer; it does not mean every real distribution is reproduced. Source: Team B notes section 4.</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ensemble combines predictions from several models. Analogy: averaging several people's answers cannot fix a mistake they all share. 81% and 79% are from Team B's own analysis and are not generalised to other experiments. That errors are passed on through hints is Team B's interpretation. Source: Team B notes section 7.</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Reranking means re-ordering candidates and choosing one. The language model does not freely generate the final review; it scores word candidates produced by existing runs. The candidate score also includes whether the word appears in training, its tokenizer piece count and which run chose it. Weights are evaluated on sentences not used for fitting them. Source: Team B notes section 8. Do not confuse using public model weights with using a paid API.</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Errors left with the best candidate is a diagnostic that assumes we know the answer and always pick the best candidate. It is not an achievable selector score, and it does not mean test answers were used. 7 runs adds 3 weaker runs from the older family; 8 adds a family retrained from stage 1 with a new seed; 9 adds a run that only swaps the word model on the same stage 1. The last addition had a small effect. Source: Team B notes sections 8–9.</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teams use multiple models and contextual knowledge. The difference is not which components they use, but the key decision in their late-stage improvements. Team A repeatedly applies the corrections of a two-stage model; Team B gathers disputed words as candidates and re-chooses. Team A also ensembles and Team B also restores in stages, so the two are not completely separate either-or approaches. Sources: Team A deck slides 7, 15, 21; Team B notes sections 7–9.</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Uses the seven values and labels in native chart3.xml from the source deck, slide 10, as they are. Each step may include several changes, so this is not read as a controlled single-factor experiment. The final 0.989 is the source's display precision. The majority-vote step is in the source results, but its target and algorithm are not described, so its detailed effect is not estimated. The 0.9819 reference is a past leaderboard value and is not presented as a current rank.</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Uses Public values from Team B notes sections 1, 6, 8–9 and the submission log. Some intermediate steps are omitted; the chart shows only the main turning points. Securing candidate diversity contributed more in the late stage than simply enlarging one model. Each score is a public leaderboard score. The second score is only presumed to be Private in the source, so it is not treated or compared as Private here.</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purpose of each improvement first, then name the technique. Team A's word dictionary swap is training augmentation, while Team B's dictionary information is part of the candidate-selection score. There is no same-condition comparison of which method is better, so these are read only as each team's experimental results. Sources: Team A deck slides 7, 16–21; Team B notes sections 3–9.</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B's 96-char stride result does not state its score type in the source, so it is not labelled Public or F1. Dictionary correction was reported as ranges across several experiments (185–1,368 words fixed, 449–3,016 broken), so no exact pair from one experiment is given. Team B's dictionary information hurt when forcing edits alone, but helped when choosing among model candidates. Sources: Team A deck slide 4, Team B notes section 10.</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conclusion compares problem-solving approaches, not winners. Both teams simplified the problem using the structure of the provided data and built next-stage inputs from OOF predictions. Team A focused its late improvements on how the correcting model behaves; Team B on making sure the answer is among the candidates. If asked, combining the two is a possible research direction, but it is a proposal without experimental results.</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explain each term when it first appears in the talk; use this slide for questions and review. The sources report F1 and OOF character accuracy separately, so they are kept separate. The source does not give F1's implementation details, so no formula is added.</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Team A deck slides 14–21. Stage 1: up to 50 epochs, early stopping after 7. Stage 2: up to 15 epochs, early stopping after 4. AdamW, layer-wise learning rates, warmup + cosine, fp16, EMA decay 0.96, label smoothing 0.1. Stage 2 validation: 1,126 sentences. Team A's source says the training syllable vocabulary was built once from all of train, so not every dictionary is claimed to be per-fold.</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are public pretrained weights. The character model's parameter count was counted directly; the others are approximate public sizes, as stated in Team B notes section 11. Exact model IDs: monologg/kocharelectra-base-discriminator, klue/roberta-large, xlm-roberta-large, beomi/KcELECTRA-base-v2022, EleutherAI/polyglot-ko-5.8b. Training used only train.csv and re-obfuscated copies.</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B notes section 13 lists adding a new family with a different seed and generating candidates directly from obfuscation rules as remaining room. The second submission score is only presumed to be Private, so it is not used as a confirmed value. The EDA reasoning in the main slides connects the source observations and experiments for beginners. The statistics were not re-verified by re-running the original data and training code. The provided deck also includes an older Team B summary, but this Team B description prioritises the notes.</a:t>
            </a:r>
          </a:p>
          <a:p xmlns:a="http://schemas.openxmlformats.org/drawingml/2006/main">
            <a:r>
              <a:t/>
            </a:r>
          </a:p>
          <a:p xmlns:a="http://schemas.openxmlformats.org/drawingml/2006/main">
            <a:r>
              <a:t>Source A: Team A deck (deop_presentation_v4.pptx)</a:t>
            </a:r>
          </a:p>
          <a:p xmlns:a="http://schemas.openxmlformats.org/drawingml/2006/main">
            <a:r>
              <a:t>Source B: Team B notes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a360245d8346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5b07922b394e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431f461db04a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15b93a5ec741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0090f768104c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0b39c1429a49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A7E7C-A762-4BF3-B015-64CD08EB8F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C5FC8A-7ED7-46DA-97CA-BE76F85E3F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E4537C-B606-4906-87E5-D0627A006C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BDC9D-4BD4-4313-ACAB-8FDFCF2242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94A6DB-52A1-4EF8-A312-D4A64B3E5D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63D9E2-08C2-4005-806B-57717921F6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A18B69-FEDC-4340-92F5-3B4A27A9C3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687D36-5EEA-4A47-A2DD-F11BADA000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C94589-FB0B-49FF-87D3-6CC4DC7B4C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80DB43-4478-44CD-94E0-3536F8D41E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d179395e464822" /><Relationship Type="http://schemas.openxmlformats.org/officeDocument/2006/relationships/slideLayout" Target="/ppt/slideLayouts/slideLayout1.xml" Id="R54df134472564b64" /><Relationship Type="http://schemas.openxmlformats.org/officeDocument/2006/relationships/slideLayout" Target="/ppt/slideLayouts/slideLayout2.xml" Id="R46b62b70e6a04590" /><Relationship Type="http://schemas.openxmlformats.org/officeDocument/2006/relationships/slideLayout" Target="/ppt/slideLayouts/slideLayout3.xml" Id="R71cbff80a09641a3" /><Relationship Type="http://schemas.openxmlformats.org/officeDocument/2006/relationships/slideLayout" Target="/ppt/slideLayouts/slideLayout4.xml" Id="Reab2fa01f41f4af0" /><Relationship Type="http://schemas.openxmlformats.org/officeDocument/2006/relationships/slideLayout" Target="/ppt/slideLayouts/slideLayout5.xml" Id="Rd9ba6d0f3cb64c19" /><Relationship Type="http://schemas.openxmlformats.org/officeDocument/2006/relationships/slideLayout" Target="/ppt/slideLayouts/slideLayout6.xml" Id="R929ace22bcf745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df134472564b64"/>
    <p:sldLayoutId xmlns:r="http://schemas.openxmlformats.org/officeDocument/2006/relationships" id="2147483650" r:id="R46b62b70e6a04590"/>
    <p:sldLayoutId xmlns:r="http://schemas.openxmlformats.org/officeDocument/2006/relationships" id="2147483651" r:id="R71cbff80a09641a3"/>
    <p:sldLayoutId xmlns:r="http://schemas.openxmlformats.org/officeDocument/2006/relationships" id="2147483652" r:id="Reab2fa01f41f4af0"/>
    <p:sldLayoutId xmlns:r="http://schemas.openxmlformats.org/officeDocument/2006/relationships" id="2147483653" r:id="Rd9ba6d0f3cb64c19"/>
    <p:sldLayoutId xmlns:r="http://schemas.openxmlformats.org/officeDocument/2006/relationships" id="2147483654" r:id="R929ace22bcf745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ef4400f95f4334" /><Relationship Type="http://schemas.openxmlformats.org/officeDocument/2006/relationships/notesSlide" Target="/ppt/notesSlides/notesSlide1.xml" Id="R0a4197fa751f47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ed3df8aa644dc2" /><Relationship Type="http://schemas.openxmlformats.org/officeDocument/2006/relationships/notesSlide" Target="/ppt/notesSlides/notesSlide2.xml" Id="Rc253e9f7c38d4c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dd2bf07af74d2e" /><Relationship Type="http://schemas.openxmlformats.org/officeDocument/2006/relationships/notesSlide" Target="/ppt/notesSlides/notesSlide3.xml" Id="Rd42db755cc7c40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cf51a5b7444f19" /><Relationship Type="http://schemas.openxmlformats.org/officeDocument/2006/relationships/notesSlide" Target="/ppt/notesSlides/notesSlide4.xml" Id="R410d5f0feb8844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d34f9fa81a48bd" /><Relationship Type="http://schemas.openxmlformats.org/officeDocument/2006/relationships/notesSlide" Target="/ppt/notesSlides/notesSlide5.xml" Id="R895323240c5644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f79c445cff46ba" /><Relationship Type="http://schemas.openxmlformats.org/officeDocument/2006/relationships/notesSlide" Target="/ppt/notesSlides/notesSlide6.xml" Id="R2bb33ea7721748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41b75e3b8d4fe7" /><Relationship Type="http://schemas.openxmlformats.org/officeDocument/2006/relationships/notesSlide" Target="/ppt/notesSlides/notesSlide7.xml" Id="R8359d0d4bd8048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8fe8e85f89411a" /><Relationship Type="http://schemas.openxmlformats.org/officeDocument/2006/relationships/notesSlide" Target="/ppt/notesSlides/notesSlide8.xml" Id="Rd92161c25a8c47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e4d9ec79664217" /><Relationship Type="http://schemas.openxmlformats.org/officeDocument/2006/relationships/notesSlide" Target="/ppt/notesSlides/notesSlide9.xml" Id="R5551d4bdc83d43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cb92cb17064542" /><Relationship Type="http://schemas.openxmlformats.org/officeDocument/2006/relationships/notesSlide" Target="/ppt/notesSlides/notesSlide10.xml" Id="R55a2c3967c6049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8535379e874f5b" /><Relationship Type="http://schemas.openxmlformats.org/officeDocument/2006/relationships/notesSlide" Target="/ppt/notesSlides/notesSlide11.xml" Id="R2139a8581cce41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0a2deb85884472" /><Relationship Type="http://schemas.openxmlformats.org/officeDocument/2006/relationships/notesSlide" Target="/ppt/notesSlides/notesSlide12.xml" Id="R9d11f7d7585040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785df9599a457c" /><Relationship Type="http://schemas.openxmlformats.org/officeDocument/2006/relationships/notesSlide" Target="/ppt/notesSlides/notesSlide13.xml" Id="Re03c93448de447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b7c7f569a994473" /><Relationship Type="http://schemas.openxmlformats.org/officeDocument/2006/relationships/notesSlide" Target="/ppt/notesSlides/notesSlide14.xml" Id="R5ba2a871d04a44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2e58c164db4334" /><Relationship Type="http://schemas.openxmlformats.org/officeDocument/2006/relationships/notesSlide" Target="/ppt/notesSlides/notesSlide15.xml" Id="Rf0bb6a8f1f6544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1449ab7c45416b" /><Relationship Type="http://schemas.openxmlformats.org/officeDocument/2006/relationships/notesSlide" Target="/ppt/notesSlides/notesSlide16.xml" Id="Rc8601c816c2d4f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7269a8899a748f4" /><Relationship Type="http://schemas.openxmlformats.org/officeDocument/2006/relationships/notesSlide" Target="/ppt/notesSlides/notesSlide17.xml" Id="R29e32424c25e43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cd0325f95504f95" /><Relationship Type="http://schemas.openxmlformats.org/officeDocument/2006/relationships/chart" Target="/ppt/slides/charts/chart1.xml" Id="R4bb7cfe51e96473e" /><Relationship Type="http://schemas.openxmlformats.org/officeDocument/2006/relationships/notesSlide" Target="/ppt/notesSlides/notesSlide18.xml" Id="Rfec01f00682f47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3f05aa1aeed4e50" /><Relationship Type="http://schemas.openxmlformats.org/officeDocument/2006/relationships/chart" Target="/ppt/slides/charts/chart2.xml" Id="Rad11e34683f44d89" /><Relationship Type="http://schemas.openxmlformats.org/officeDocument/2006/relationships/notesSlide" Target="/ppt/notesSlides/notesSlide19.xml" Id="R1ea1b130781742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590d77860564150" /><Relationship Type="http://schemas.openxmlformats.org/officeDocument/2006/relationships/notesSlide" Target="/ppt/notesSlides/notesSlide20.xml" Id="R297ce851b8e945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6e2f900cfb542d8" /><Relationship Type="http://schemas.openxmlformats.org/officeDocument/2006/relationships/notesSlide" Target="/ppt/notesSlides/notesSlide21.xml" Id="R5b08af07234143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9392b6a31464af2" /><Relationship Type="http://schemas.openxmlformats.org/officeDocument/2006/relationships/notesSlide" Target="/ppt/notesSlides/notesSlide22.xml" Id="Ra69bb2abf64a4e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ed35995ecdc4bde" /><Relationship Type="http://schemas.openxmlformats.org/officeDocument/2006/relationships/notesSlide" Target="/ppt/notesSlides/notesSlide23.xml" Id="Reaa3efb8a44848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3999c800d7c4235" /><Relationship Type="http://schemas.openxmlformats.org/officeDocument/2006/relationships/notesSlide" Target="/ppt/notesSlides/notesSlide24.xml" Id="Rcccc0cba9fb74a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9d8642a4da545bb" /><Relationship Type="http://schemas.openxmlformats.org/officeDocument/2006/relationships/notesSlide" Target="/ppt/notesSlides/notesSlide25.xml" Id="R627a46a764ec455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9badf20b6e34f13" /><Relationship Type="http://schemas.openxmlformats.org/officeDocument/2006/relationships/notesSlide" Target="/ppt/notesSlides/notesSlide26.xml" Id="Ra0c6386c5a8d48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Leaderboard F1</c:v>
          </c:tx>
          <c:spPr>
            <a:ln xmlns:a="http://schemas.openxmlformats.org/drawingml/2006/main" w="28575">
              <a:solidFill>
                <a:srgbClr val="C2410C"/>
              </a:solidFill>
            </a:ln>
          </c:spPr>
          <c:marker>
            <c:symbol val="circle"/>
            <c:size val="8"/>
            <c:spPr>
              <a:solidFill xmlns:a="http://schemas.openxmlformats.org/drawingml/2006/main">
                <a:srgbClr val="C2410C"/>
              </a:solidFill>
            </c:spPr>
          </c:marker>
          <c:cat>
            <c:strRef>
              <c:f>'Chart Data'!$A$2:$A$8</c:f>
              <c:strCache>
                <c:ptCount val="7"/>
                <c:pt idx="0">
                  <c:v>Augmentation</c:v>
                </c:pt>
                <c:pt idx="1">
                  <c:v>Hybrid</c:v>
                </c:pt>
                <c:pt idx="2">
                  <c:v>Stage 2</c:v>
                </c:pt>
                <c:pt idx="3">
                  <c:v>KcELECTRA</c:v>
                </c:pt>
                <c:pt idx="4">
                  <c:v>Iterative</c:v>
                </c:pt>
                <c:pt idx="5">
                  <c:v>Ensemble</c:v>
                </c:pt>
                <c:pt idx="6">
                  <c:v>Majority vote</c:v>
                </c:pt>
              </c:strCache>
            </c:strRef>
          </c:cat>
          <c:val>
            <c:numRef>
              <c:f>'Chart Data'!$B$2:$B$8</c:f>
              <c:numCache>
                <c:formatCode>0.000</c:formatCode>
                <c:ptCount val="7"/>
                <c:pt idx="0">
                  <c:v>0.977</c:v>
                </c:pt>
                <c:pt idx="1">
                  <c:v>0.98</c:v>
                </c:pt>
                <c:pt idx="2">
                  <c:v>0.98473</c:v>
                </c:pt>
                <c:pt idx="3">
                  <c:v>0.9863</c:v>
                </c:pt>
                <c:pt idx="4">
                  <c:v>0.987</c:v>
                </c:pt>
                <c:pt idx="5">
                  <c:v>0.98846</c:v>
                </c:pt>
                <c:pt idx="6">
                  <c:v>0.989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B2333"/>
                  </a:solidFill>
                  <a:latin typeface="Pretendard"/>
                  <a:ea typeface="Pretendard"/>
                  <a:cs typeface="Pretendard"/>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B2333"/>
                </a:solidFill>
                <a:latin typeface="Pretendard"/>
                <a:ea typeface="Pretendard"/>
                <a:cs typeface="Pretendard"/>
              </a:defRPr>
            </a:pPr>
          </a:p>
        </c:txPr>
        <c:crossAx val="48672768"/>
      </c:catAx>
      <c:valAx>
        <c:axId val="48672768"/>
        <c:scaling>
          <c:orientation val="minMax"/>
          <c:max val="0.994"/>
          <c:min val="0.974"/>
        </c:scaling>
        <c:delete val="0"/>
        <c:axPos val="l"/>
        <c:majorGridlines>
          <c:spPr>
            <a:ln xmlns:a="http://schemas.openxmlformats.org/drawingml/2006/main" w="9525">
              <a:solidFill>
                <a:srgbClr val="E1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Pretendard"/>
                <a:ea typeface="Pretendard"/>
                <a:cs typeface="Pretendard"/>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Leaderboard F1</c:v>
          </c:tx>
          <c:spPr>
            <a:ln xmlns:a="http://schemas.openxmlformats.org/drawingml/2006/main" w="28575">
              <a:solidFill>
                <a:srgbClr val="2563EB"/>
              </a:solidFill>
            </a:ln>
          </c:spPr>
          <c:marker>
            <c:symbol val="circle"/>
            <c:size val="8"/>
            <c:spPr>
              <a:solidFill xmlns:a="http://schemas.openxmlformats.org/drawingml/2006/main">
                <a:srgbClr val="2563EB"/>
              </a:solidFill>
            </c:spPr>
          </c:marker>
          <c:cat>
            <c:strRef>
              <c:f>'Chart Data'!$A$2:$A$8</c:f>
              <c:strCache>
                <c:ptCount val="7"/>
                <c:pt idx="0">
                  <c:v>First submission</c:v>
                </c:pt>
                <c:pt idx="1">
                  <c:v>Char stage 1</c:v>
                </c:pt>
                <c:pt idx="2">
                  <c:v>2 copies</c:v>
                </c:pt>
                <c:pt idx="3">
                  <c:v>6 copies</c:v>
                </c:pt>
                <c:pt idx="4">
                  <c:v>Model swap</c:v>
                </c:pt>
                <c:pt idx="5">
                  <c:v>4 candidates</c:v>
                </c:pt>
                <c:pt idx="6">
                  <c:v>9 candidates</c:v>
                </c:pt>
              </c:strCache>
            </c:strRef>
          </c:cat>
          <c:val>
            <c:numRef>
              <c:f>'Chart Data'!$B$2:$B$8</c:f>
              <c:numCache>
                <c:formatCode>0.000</c:formatCode>
                <c:ptCount val="7"/>
                <c:pt idx="0">
                  <c:v>0.96128</c:v>
                </c:pt>
                <c:pt idx="1">
                  <c:v>0.97418</c:v>
                </c:pt>
                <c:pt idx="2">
                  <c:v>0.98164</c:v>
                </c:pt>
                <c:pt idx="3">
                  <c:v>0.9831</c:v>
                </c:pt>
                <c:pt idx="4">
                  <c:v>0.98376</c:v>
                </c:pt>
                <c:pt idx="5">
                  <c:v>0.98481</c:v>
                </c:pt>
                <c:pt idx="6">
                  <c:v>0.98908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B2333"/>
                  </a:solidFill>
                  <a:latin typeface="Pretendard"/>
                  <a:ea typeface="Pretendard"/>
                  <a:cs typeface="Pretendard"/>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B2333"/>
                </a:solidFill>
                <a:latin typeface="Pretendard"/>
                <a:ea typeface="Pretendard"/>
                <a:cs typeface="Pretendard"/>
              </a:defRPr>
            </a:pPr>
          </a:p>
        </c:txPr>
        <c:crossAx val="48672768"/>
      </c:catAx>
      <c:valAx>
        <c:axId val="48672768"/>
        <c:scaling>
          <c:orientation val="minMax"/>
          <c:max val="0.994"/>
          <c:min val="0.955"/>
        </c:scaling>
        <c:delete val="0"/>
        <c:axPos val="l"/>
        <c:majorGridlines>
          <c:spPr>
            <a:ln xmlns:a="http://schemas.openxmlformats.org/drawingml/2006/main" w="9525">
              <a:solidFill>
                <a:srgbClr val="E1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Pretendard"/>
                <a:ea typeface="Pretendard"/>
                <a:cs typeface="Pretendard"/>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B23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F6C6CB-1CB2-44F6-BBF4-60D2EE52D950}"/>
              </a:ext>
            </a:extLst>
          </p:cNvPr>
          <p:cNvSpPr>
            <a:spLocks xmlns:a="http://schemas.openxmlformats.org/drawingml/2006/main" noGrp="1"/>
          </p:cNvSpPr>
          <p:nvPr/>
        </p:nvSpPr>
        <p:spPr>
          <a:xfrm xmlns:a="http://schemas.openxmlformats.org/drawingml/2006/main">
            <a:off x="685800" y="6858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7A267"/>
                </a:solidFill>
                <a:latin typeface="Pretendard"/>
                <a:ea typeface="Pretendard"/>
                <a:cs typeface="Pretendard"/>
              </a:defRPr>
            </a:defPPr>
          </a:lstStyle>
          <a:p xmlns:a="http://schemas.openxmlformats.org/drawingml/2006/main">
            <a:pPr>
              <a:defRPr sz="2100" b="1">
                <a:solidFill>
                  <a:srgbClr val="F7A267"/>
                </a:solidFill>
                <a:latin typeface="Pretendard"/>
                <a:ea typeface="Pretendard"/>
                <a:cs typeface="Pretendard"/>
              </a:defRPr>
            </a:pPr>
            <a:r>
              <a:rPr sz="2100" b="1">
                <a:solidFill>
                  <a:srgbClr val="F7A267"/>
                </a:solidFill>
                <a:latin typeface="Pretendard"/>
                <a:ea typeface="Pretendard"/>
                <a:cs typeface="Pretendard"/>
              </a:rPr>
              <a:t>Restoring Obfuscated Korean Reviews</a:t>
            </a:r>
          </a:p>
        </p:txBody>
      </p:sp>
      <p:sp>
        <p:nvSpPr>
          <p:cNvPr id="2" name="">
            <a:extLst xmlns:a="http://schemas.openxmlformats.org/drawingml/2006/main">
              <a:ext uri="{FF2B5EF4-FFF2-40B4-BE49-F238E27FC236}">
                <a16:creationId xmlns:a16="http://schemas.microsoft.com/office/drawing/2014/main" id="{32CCE357-F342-4030-91BB-D7B6CA49601F}"/>
              </a:ext>
            </a:extLst>
          </p:cNvPr>
          <p:cNvSpPr>
            <a:spLocks xmlns:a="http://schemas.openxmlformats.org/drawingml/2006/main" noGrp="1"/>
          </p:cNvSpPr>
          <p:nvPr/>
        </p:nvSpPr>
        <p:spPr>
          <a:xfrm xmlns:a="http://schemas.openxmlformats.org/drawingml/2006/main">
            <a:off x="685800" y="2000250"/>
            <a:ext cx="108204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Pretendard"/>
                <a:ea typeface="Pretendard"/>
                <a:cs typeface="Pretendard"/>
              </a:defRPr>
            </a:defPPr>
          </a:lstStyle>
          <a:p xmlns:a="http://schemas.openxmlformats.org/drawingml/2006/main">
            <a:pP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Same obfuscated reviews,</a:t>
            </a:r>
          </a:p>
          <a:p xmlns:a="http://schemas.openxmlformats.org/drawingml/2006/main">
            <a:pP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two restoration strategies</a:t>
            </a:r>
          </a:p>
        </p:txBody>
      </p:sp>
      <p:sp>
        <p:nvSpPr>
          <p:cNvPr id="3" name="">
            <a:extLst xmlns:a="http://schemas.openxmlformats.org/drawingml/2006/main">
              <a:ext uri="{FF2B5EF4-FFF2-40B4-BE49-F238E27FC236}">
                <a16:creationId xmlns:a16="http://schemas.microsoft.com/office/drawing/2014/main" id="{7C933066-2CAA-4CC1-A7E5-D4CB7B6EC6FC}"/>
              </a:ext>
            </a:extLst>
          </p:cNvPr>
          <p:cNvSpPr>
            <a:spLocks xmlns:a="http://schemas.openxmlformats.org/drawingml/2006/main" noGrp="1"/>
          </p:cNvSpPr>
          <p:nvPr/>
        </p:nvSpPr>
        <p:spPr>
          <a:xfrm xmlns:a="http://schemas.openxmlformats.org/drawingml/2006/main">
            <a:off x="685800" y="4000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7DFEB"/>
                </a:solidFill>
                <a:latin typeface="Pretendard"/>
                <a:ea typeface="Pretendard"/>
                <a:cs typeface="Pretendard"/>
              </a:defRPr>
            </a:defPPr>
          </a:lstStyle>
          <a:p xmlns:a="http://schemas.openxmlformats.org/drawingml/2006/main">
            <a:pPr>
              <a:defRPr sz="2550" b="0">
                <a:solidFill>
                  <a:srgbClr val="D7DFEB"/>
                </a:solidFill>
                <a:latin typeface="Pretendard"/>
                <a:ea typeface="Pretendard"/>
                <a:cs typeface="Pretendard"/>
              </a:defRPr>
            </a:pPr>
            <a:r>
              <a:rPr sz="2550" b="0">
                <a:solidFill>
                  <a:srgbClr val="D7DFEB"/>
                </a:solidFill>
                <a:latin typeface="Pretendard"/>
                <a:ea typeface="Pretendard"/>
                <a:cs typeface="Pretendard"/>
              </a:rPr>
              <a:t>Team A's iterative correction vs Team B's candidate selection</a:t>
            </a:r>
          </a:p>
        </p:txBody>
      </p:sp>
      <p:sp>
        <p:nvSpPr>
          <p:cNvPr id="4" name="">
            <a:extLst xmlns:a="http://schemas.openxmlformats.org/drawingml/2006/main">
              <a:ext uri="{FF2B5EF4-FFF2-40B4-BE49-F238E27FC236}">
                <a16:creationId xmlns:a16="http://schemas.microsoft.com/office/drawing/2014/main" id="{DF191C1C-305E-426F-89C1-81DE8CF5F0A2}"/>
              </a:ext>
            </a:extLst>
          </p:cNvPr>
          <p:cNvSpPr>
            <a:spLocks xmlns:a="http://schemas.openxmlformats.org/drawingml/2006/main" noGrp="1"/>
          </p:cNvSpPr>
          <p:nvPr/>
        </p:nvSpPr>
        <p:spPr>
          <a:xfrm xmlns:a="http://schemas.openxmlformats.org/drawingml/2006/main">
            <a:off x="685800" y="5562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Pretendard"/>
                <a:ea typeface="Pretendard"/>
                <a:cs typeface="Pretendard"/>
              </a:defRPr>
            </a:defPPr>
          </a:lstStyle>
          <a:p xmlns:a="http://schemas.openxmlformats.org/drawingml/2006/main">
            <a:pPr>
              <a:defRPr sz="1950" b="0">
                <a:solidFill>
                  <a:srgbClr val="FFFFFF"/>
                </a:solidFill>
                <a:latin typeface="Pretendard"/>
                <a:ea typeface="Pretendard"/>
                <a:cs typeface="Pretendard"/>
              </a:defRPr>
            </a:pPr>
            <a:r>
              <a:rPr sz="1950" b="0">
                <a:solidFill>
                  <a:srgbClr val="FFFFFF"/>
                </a:solidFill>
                <a:latin typeface="Pretendard"/>
                <a:ea typeface="Pretendard"/>
                <a:cs typeface="Pretendard"/>
              </a:rPr>
              <a:t>How problems found in the data changed the model design</a:t>
            </a:r>
          </a:p>
        </p:txBody>
      </p:sp>
    </p:spTree>
    <p:extLst>
      <p:ext uri="{BB962C8B-B14F-4D97-AF65-F5344CB8AC3E}">
        <p14:creationId xmlns:p14="http://schemas.microsoft.com/office/powerpoint/2010/main" val="5855969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8B1E55-30DC-43CA-9921-376838323D05}"/>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A1DCC63C-FAC7-4996-BD20-3FCE85A4F8A9}"/>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Task: restore hard-to-read reviews to the original text</a:t>
            </a:r>
          </a:p>
        </p:txBody>
      </p:sp>
      <p:graphicFrame>
        <p:nvGraphicFramePr>
          <p:cNvPr id="3" name="">
            <a:extLst xmlns:a="http://schemas.openxmlformats.org/drawingml/2006/main">
              <a:ext uri="{FF2B5EF4-FFF2-40B4-BE49-F238E27FC236}">
                <a16:creationId xmlns:a16="http://schemas.microsoft.com/office/drawing/2014/main" id="{97C2F844-9C1F-4881-88D4-6CB63103B582}"/>
              </a:ext>
            </a:extLst>
          </p:cNvPr>
          <p:cNvGraphicFramePr/>
          <p:nvPr/>
        </p:nvGraphicFramePr>
        <p:xfrm>
          <a:off xmlns:a="http://schemas.openxmlformats.org/drawingml/2006/main" x="685800" y="1619250"/>
          <a:ext xmlns:a="http://schemas.openxmlformats.org/drawingml/2006/main" cx="10820400" cy="2857500"/>
        </p:xfrm>
        <a:graphic xmlns:a="http://schemas.openxmlformats.org/drawingml/2006/main">
          <a:graphicData uri="http://schemas.openxmlformats.org/drawingml/2006/table">
            <a:tbl>
              <a:tblPr/>
              <a:tblGrid>
                <a:gridCol w="2286000"/>
                <a:gridCol w="8534400"/>
              </a:tblGrid>
              <a:tr h="952500">
                <a:tc>
                  <a:txBody>
                    <a:bodyPr/>
                    <a:lstStyle/>
                    <a:p>
                      <a:r>
                        <a:rPr sz="1800" b="1">
                          <a:solidFill>
                            <a:srgbClr val="FFFFFF"/>
                          </a:solidFill>
                          <a:latin typeface="Pretendard"/>
                          <a:ea typeface="Pretendard"/>
                          <a:cs typeface="Pretendard"/>
                        </a:rPr>
                        <a:t>Type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Sentence</a:t>
                      </a:r>
                    </a:p>
                  </a:txBody>
                  <a:tcPr marL="133350" marR="133350" marT="95250" marB="95250" anchor="ctr">
                    <a:solidFill>
                      <a:srgbClr val="1B2333"/>
                    </a:solidFill>
                  </a:tcPr>
                </a:tc>
              </a:tr>
              <a:tr h="952500">
                <a:tc>
                  <a:txBody>
                    <a:bodyPr/>
                    <a:lstStyle/>
                    <a:p>
                      <a:r>
                        <a:rPr sz="1800" b="0">
                          <a:solidFill>
                            <a:srgbClr val="1B2333"/>
                          </a:solidFill>
                          <a:latin typeface="Pretendard"/>
                          <a:ea typeface="Pretendard"/>
                          <a:cs typeface="Pretendard"/>
                        </a:rPr>
                        <a:t>Obfuscated input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꺼율위 쓱팍</a:t>
                      </a:r>
                    </a:p>
                  </a:txBody>
                  <a:tcPr marL="133350" marR="133350" marT="95250" marB="95250" anchor="ctr">
                    <a:solidFill>
                      <a:srgbClr val="F4F6F9"/>
                    </a:solidFill>
                  </a:tcPr>
                </a:tc>
              </a:tr>
              <a:tr h="952500">
                <a:tc>
                  <a:txBody>
                    <a:bodyPr/>
                    <a:lstStyle/>
                    <a:p>
                      <a:r>
                        <a:rPr sz="1800" b="0">
                          <a:solidFill>
                            <a:srgbClr val="1B2333"/>
                          </a:solidFill>
                          <a:latin typeface="Pretendard"/>
                          <a:ea typeface="Pretendard"/>
                          <a:cs typeface="Pretendard"/>
                        </a:rPr>
                        <a:t>Answer</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겨울의 스파 (winter spa)</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071D9EC-E21A-4994-B01E-8243C64A0BC1}"/>
              </a:ext>
            </a:extLst>
          </p:cNvPr>
          <p:cNvSpPr>
            <a:spLocks xmlns:a="http://schemas.openxmlformats.org/drawingml/2006/main" noGrp="1"/>
          </p:cNvSpPr>
          <p:nvPr/>
        </p:nvSpPr>
        <p:spPr>
          <a:xfrm xmlns:a="http://schemas.openxmlformats.org/drawingml/2006/main">
            <a:off x="685800" y="4686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Train 11,263 sentences / Test 1,689 sentences</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Scored by character-level F1. No external data; public pretrained weights allowed</a:t>
            </a:r>
          </a:p>
        </p:txBody>
      </p:sp>
      <p:sp>
        <p:nvSpPr>
          <p:cNvPr id="5" name="">
            <a:extLst xmlns:a="http://schemas.openxmlformats.org/drawingml/2006/main">
              <a:ext uri="{FF2B5EF4-FFF2-40B4-BE49-F238E27FC236}">
                <a16:creationId xmlns:a16="http://schemas.microsoft.com/office/drawing/2014/main" id="{5A7DC6C7-EFAE-487E-BF01-1FE78C431C6D}"/>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The model picks original characters from context and rules, as people do</a:t>
            </a:r>
          </a:p>
        </p:txBody>
      </p:sp>
      <p:sp>
        <p:nvSpPr>
          <p:cNvPr id="6" name="">
            <a:extLst xmlns:a="http://schemas.openxmlformats.org/drawingml/2006/main">
              <a:ext uri="{FF2B5EF4-FFF2-40B4-BE49-F238E27FC236}">
                <a16:creationId xmlns:a16="http://schemas.microsoft.com/office/drawing/2014/main" id="{AB58D648-786B-4411-92BC-822D633CCF3D}"/>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02</a:t>
            </a:r>
          </a:p>
        </p:txBody>
      </p:sp>
    </p:spTree>
    <p:extLst>
      <p:ext uri="{BB962C8B-B14F-4D97-AF65-F5344CB8AC3E}">
        <p14:creationId xmlns:p14="http://schemas.microsoft.com/office/powerpoint/2010/main" val="2814870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8A1894-73E0-4604-AB2B-DB37E3A82019}"/>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BA62DF19-1C52-4DA7-834A-D9BF427286D3}"/>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 typical data problem-solving process</a:t>
            </a:r>
          </a:p>
        </p:txBody>
      </p:sp>
      <p:sp>
        <p:nvSpPr>
          <p:cNvPr id="3" name="">
            <a:extLst xmlns:a="http://schemas.openxmlformats.org/drawingml/2006/main">
              <a:ext uri="{FF2B5EF4-FFF2-40B4-BE49-F238E27FC236}">
                <a16:creationId xmlns:a16="http://schemas.microsoft.com/office/drawing/2014/main" id="{6BF69141-7684-4D0D-869A-2B80B45EA921}"/>
              </a:ext>
            </a:extLst>
          </p:cNvPr>
          <p:cNvSpPr>
            <a:spLocks xmlns:a="http://schemas.openxmlformats.org/drawingml/2006/main" noGrp="1"/>
          </p:cNvSpPr>
          <p:nvPr/>
        </p:nvSpPr>
        <p:spPr>
          <a:xfrm xmlns:a="http://schemas.openxmlformats.org/drawingml/2006/main">
            <a:off x="685800" y="16954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01 Problem definition</a:t>
            </a:r>
          </a:p>
        </p:txBody>
      </p:sp>
      <p:sp>
        <p:nvSpPr>
          <p:cNvPr id="4" name="">
            <a:extLst xmlns:a="http://schemas.openxmlformats.org/drawingml/2006/main">
              <a:ext uri="{FF2B5EF4-FFF2-40B4-BE49-F238E27FC236}">
                <a16:creationId xmlns:a16="http://schemas.microsoft.com/office/drawing/2014/main" id="{3291859B-A88E-401D-A49A-CCDABB8914DE}"/>
              </a:ext>
            </a:extLst>
          </p:cNvPr>
          <p:cNvSpPr>
            <a:spLocks xmlns:a="http://schemas.openxmlformats.org/drawingml/2006/main" noGrp="1"/>
          </p:cNvSpPr>
          <p:nvPr/>
        </p:nvSpPr>
        <p:spPr>
          <a:xfrm xmlns:a="http://schemas.openxmlformats.org/drawingml/2006/main">
            <a:off x="3886200" y="16954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Decide what to predict and how it is scored</a:t>
            </a:r>
          </a:p>
        </p:txBody>
      </p:sp>
      <p:sp>
        <p:nvSpPr>
          <p:cNvPr id="5" name="">
            <a:extLst xmlns:a="http://schemas.openxmlformats.org/drawingml/2006/main">
              <a:ext uri="{FF2B5EF4-FFF2-40B4-BE49-F238E27FC236}">
                <a16:creationId xmlns:a16="http://schemas.microsoft.com/office/drawing/2014/main" id="{EEE5DE99-233A-459B-8B9F-288F032DB4EA}"/>
              </a:ext>
            </a:extLst>
          </p:cNvPr>
          <p:cNvSpPr>
            <a:spLocks xmlns:a="http://schemas.openxmlformats.org/drawingml/2006/main" noGrp="1"/>
          </p:cNvSpPr>
          <p:nvPr/>
        </p:nvSpPr>
        <p:spPr>
          <a:xfrm xmlns:a="http://schemas.openxmlformats.org/drawingml/2006/main">
            <a:off x="685800" y="24384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02 EDA</a:t>
            </a:r>
          </a:p>
        </p:txBody>
      </p:sp>
      <p:sp>
        <p:nvSpPr>
          <p:cNvPr id="6" name="">
            <a:extLst xmlns:a="http://schemas.openxmlformats.org/drawingml/2006/main">
              <a:ext uri="{FF2B5EF4-FFF2-40B4-BE49-F238E27FC236}">
                <a16:creationId xmlns:a16="http://schemas.microsoft.com/office/drawing/2014/main" id="{994FF809-04AA-4E65-B188-895EFFC09D12}"/>
              </a:ext>
            </a:extLst>
          </p:cNvPr>
          <p:cNvSpPr>
            <a:spLocks xmlns:a="http://schemas.openxmlformats.org/drawingml/2006/main" noGrp="1"/>
          </p:cNvSpPr>
          <p:nvPr/>
        </p:nvSpPr>
        <p:spPr>
          <a:xfrm xmlns:a="http://schemas.openxmlformats.org/drawingml/2006/main">
            <a:off x="3886200" y="24384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Look at examples, lengths and how characters change</a:t>
            </a:r>
          </a:p>
        </p:txBody>
      </p:sp>
      <p:sp>
        <p:nvSpPr>
          <p:cNvPr id="7" name="">
            <a:extLst xmlns:a="http://schemas.openxmlformats.org/drawingml/2006/main">
              <a:ext uri="{FF2B5EF4-FFF2-40B4-BE49-F238E27FC236}">
                <a16:creationId xmlns:a16="http://schemas.microsoft.com/office/drawing/2014/main" id="{3AA79D69-6419-4821-8DF2-164923EF6C5D}"/>
              </a:ext>
            </a:extLst>
          </p:cNvPr>
          <p:cNvSpPr>
            <a:spLocks xmlns:a="http://schemas.openxmlformats.org/drawingml/2006/main" noGrp="1"/>
          </p:cNvSpPr>
          <p:nvPr/>
        </p:nvSpPr>
        <p:spPr>
          <a:xfrm xmlns:a="http://schemas.openxmlformats.org/drawingml/2006/main">
            <a:off x="685800" y="31813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03 Baseline model</a:t>
            </a:r>
          </a:p>
        </p:txBody>
      </p:sp>
      <p:sp>
        <p:nvSpPr>
          <p:cNvPr id="8" name="">
            <a:extLst xmlns:a="http://schemas.openxmlformats.org/drawingml/2006/main">
              <a:ext uri="{FF2B5EF4-FFF2-40B4-BE49-F238E27FC236}">
                <a16:creationId xmlns:a16="http://schemas.microsoft.com/office/drawing/2014/main" id="{E50758E7-35B5-445A-917E-FD19BEFD07EF}"/>
              </a:ext>
            </a:extLst>
          </p:cNvPr>
          <p:cNvSpPr>
            <a:spLocks xmlns:a="http://schemas.openxmlformats.org/drawingml/2006/main" noGrp="1"/>
          </p:cNvSpPr>
          <p:nvPr/>
        </p:nvSpPr>
        <p:spPr>
          <a:xfrm xmlns:a="http://schemas.openxmlformats.org/drawingml/2006/main">
            <a:off x="3886200" y="31813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Build a simple model and keep its validation predictions</a:t>
            </a:r>
          </a:p>
        </p:txBody>
      </p:sp>
      <p:sp>
        <p:nvSpPr>
          <p:cNvPr id="9" name="">
            <a:extLst xmlns:a="http://schemas.openxmlformats.org/drawingml/2006/main">
              <a:ext uri="{FF2B5EF4-FFF2-40B4-BE49-F238E27FC236}">
                <a16:creationId xmlns:a16="http://schemas.microsoft.com/office/drawing/2014/main" id="{A5FD2892-6459-42C4-B731-356529F3CEAD}"/>
              </a:ext>
            </a:extLst>
          </p:cNvPr>
          <p:cNvSpPr>
            <a:spLocks xmlns:a="http://schemas.openxmlformats.org/drawingml/2006/main" noGrp="1"/>
          </p:cNvSpPr>
          <p:nvPr/>
        </p:nvSpPr>
        <p:spPr>
          <a:xfrm xmlns:a="http://schemas.openxmlformats.org/drawingml/2006/main">
            <a:off x="685800" y="39243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04 Error analysis</a:t>
            </a:r>
          </a:p>
        </p:txBody>
      </p:sp>
      <p:sp>
        <p:nvSpPr>
          <p:cNvPr id="10" name="">
            <a:extLst xmlns:a="http://schemas.openxmlformats.org/drawingml/2006/main">
              <a:ext uri="{FF2B5EF4-FFF2-40B4-BE49-F238E27FC236}">
                <a16:creationId xmlns:a16="http://schemas.microsoft.com/office/drawing/2014/main" id="{031C7718-665D-4F07-8D75-294393AABCA7}"/>
              </a:ext>
            </a:extLst>
          </p:cNvPr>
          <p:cNvSpPr>
            <a:spLocks xmlns:a="http://schemas.openxmlformats.org/drawingml/2006/main" noGrp="1"/>
          </p:cNvSpPr>
          <p:nvPr/>
        </p:nvSpPr>
        <p:spPr>
          <a:xfrm xmlns:a="http://schemas.openxmlformats.org/drawingml/2006/main">
            <a:off x="3886200" y="39243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Group the words and sentences it gets wrong</a:t>
            </a:r>
          </a:p>
        </p:txBody>
      </p:sp>
      <p:sp>
        <p:nvSpPr>
          <p:cNvPr id="11" name="">
            <a:extLst xmlns:a="http://schemas.openxmlformats.org/drawingml/2006/main">
              <a:ext uri="{FF2B5EF4-FFF2-40B4-BE49-F238E27FC236}">
                <a16:creationId xmlns:a16="http://schemas.microsoft.com/office/drawing/2014/main" id="{03002510-24E9-49E8-8CF5-87B521DE73B0}"/>
              </a:ext>
            </a:extLst>
          </p:cNvPr>
          <p:cNvSpPr>
            <a:spLocks xmlns:a="http://schemas.openxmlformats.org/drawingml/2006/main" noGrp="1"/>
          </p:cNvSpPr>
          <p:nvPr/>
        </p:nvSpPr>
        <p:spPr>
          <a:xfrm xmlns:a="http://schemas.openxmlformats.org/drawingml/2006/main">
            <a:off x="685800" y="46672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05 Improve and validate</a:t>
            </a:r>
          </a:p>
        </p:txBody>
      </p:sp>
      <p:sp>
        <p:nvSpPr>
          <p:cNvPr id="12" name="">
            <a:extLst xmlns:a="http://schemas.openxmlformats.org/drawingml/2006/main">
              <a:ext uri="{FF2B5EF4-FFF2-40B4-BE49-F238E27FC236}">
                <a16:creationId xmlns:a16="http://schemas.microsoft.com/office/drawing/2014/main" id="{757CA0EE-A698-4B79-9B03-FD5B50776DC6}"/>
              </a:ext>
            </a:extLst>
          </p:cNvPr>
          <p:cNvSpPr>
            <a:spLocks xmlns:a="http://schemas.openxmlformats.org/drawingml/2006/main" noGrp="1"/>
          </p:cNvSpPr>
          <p:nvPr/>
        </p:nvSpPr>
        <p:spPr>
          <a:xfrm xmlns:a="http://schemas.openxmlformats.org/drawingml/2006/main">
            <a:off x="3886200" y="46672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Change the method to fit the cause; check with the same yardstick</a:t>
            </a:r>
          </a:p>
        </p:txBody>
      </p:sp>
      <p:sp>
        <p:nvSpPr>
          <p:cNvPr id="13" name="">
            <a:extLst xmlns:a="http://schemas.openxmlformats.org/drawingml/2006/main">
              <a:ext uri="{FF2B5EF4-FFF2-40B4-BE49-F238E27FC236}">
                <a16:creationId xmlns:a16="http://schemas.microsoft.com/office/drawing/2014/main" id="{8642E461-E3BB-4E46-BF20-B58D73C6503E}"/>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When the score stalls, go back to error analysis to pick the next experiment</a:t>
            </a:r>
          </a:p>
        </p:txBody>
      </p:sp>
      <p:sp>
        <p:nvSpPr>
          <p:cNvPr id="14" name="">
            <a:extLst xmlns:a="http://schemas.openxmlformats.org/drawingml/2006/main">
              <a:ext uri="{FF2B5EF4-FFF2-40B4-BE49-F238E27FC236}">
                <a16:creationId xmlns:a16="http://schemas.microsoft.com/office/drawing/2014/main" id="{BD260E80-2FCA-4135-B2CF-16E69533035F}"/>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03</a:t>
            </a:r>
          </a:p>
        </p:txBody>
      </p:sp>
    </p:spTree>
    <p:extLst>
      <p:ext uri="{BB962C8B-B14F-4D97-AF65-F5344CB8AC3E}">
        <p14:creationId xmlns:p14="http://schemas.microsoft.com/office/powerpoint/2010/main" val="10727040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13D5E9-D77E-44B6-B8D1-70E7ABAE0DE8}"/>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1F8F3C46-78DE-4019-BB96-AB77C7DA3B09}"/>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Shared EDA: why each sentence is a per-character task</a:t>
            </a:r>
          </a:p>
        </p:txBody>
      </p:sp>
      <p:sp>
        <p:nvSpPr>
          <p:cNvPr id="3" name="">
            <a:extLst xmlns:a="http://schemas.openxmlformats.org/drawingml/2006/main">
              <a:ext uri="{FF2B5EF4-FFF2-40B4-BE49-F238E27FC236}">
                <a16:creationId xmlns:a16="http://schemas.microsoft.com/office/drawing/2014/main" id="{59F64B96-8F59-4206-AA2C-F3AF3FA738D1}"/>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Finding 1</a:t>
            </a:r>
          </a:p>
        </p:txBody>
      </p:sp>
      <p:sp>
        <p:nvSpPr>
          <p:cNvPr id="4" name="">
            <a:extLst xmlns:a="http://schemas.openxmlformats.org/drawingml/2006/main">
              <a:ext uri="{FF2B5EF4-FFF2-40B4-BE49-F238E27FC236}">
                <a16:creationId xmlns:a16="http://schemas.microsoft.com/office/drawing/2014/main" id="{78E7A20F-C64C-4E1D-AEDB-CC463D275863}"/>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Input and answer have the same number of characters</a:t>
            </a:r>
          </a:p>
        </p:txBody>
      </p:sp>
      <p:sp>
        <p:nvSpPr>
          <p:cNvPr id="5" name="">
            <a:extLst xmlns:a="http://schemas.openxmlformats.org/drawingml/2006/main">
              <a:ext uri="{FF2B5EF4-FFF2-40B4-BE49-F238E27FC236}">
                <a16:creationId xmlns:a16="http://schemas.microsoft.com/office/drawing/2014/main" id="{1212E758-84CD-42B1-9EAF-6EAA8B977C80}"/>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Finding 2</a:t>
            </a:r>
          </a:p>
        </p:txBody>
      </p:sp>
      <p:sp>
        <p:nvSpPr>
          <p:cNvPr id="6" name="">
            <a:extLst xmlns:a="http://schemas.openxmlformats.org/drawingml/2006/main">
              <a:ext uri="{FF2B5EF4-FFF2-40B4-BE49-F238E27FC236}">
                <a16:creationId xmlns:a16="http://schemas.microsoft.com/office/drawing/2014/main" id="{8B1ECE09-664A-4608-8B56-29565F07BC74}"/>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Spaces, digits and punctuation stay unchanged</a:t>
            </a:r>
          </a:p>
        </p:txBody>
      </p:sp>
      <p:sp>
        <p:nvSpPr>
          <p:cNvPr id="7" name="">
            <a:extLst xmlns:a="http://schemas.openxmlformats.org/drawingml/2006/main">
              <a:ext uri="{FF2B5EF4-FFF2-40B4-BE49-F238E27FC236}">
                <a16:creationId xmlns:a16="http://schemas.microsoft.com/office/drawing/2014/main" id="{333A2FC8-4315-49B5-BBB0-A4B0F2F34313}"/>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Finding 3</a:t>
            </a:r>
          </a:p>
        </p:txBody>
      </p:sp>
      <p:sp>
        <p:nvSpPr>
          <p:cNvPr id="8" name="">
            <a:extLst xmlns:a="http://schemas.openxmlformats.org/drawingml/2006/main">
              <a:ext uri="{FF2B5EF4-FFF2-40B4-BE49-F238E27FC236}">
                <a16:creationId xmlns:a16="http://schemas.microsoft.com/office/drawing/2014/main" id="{75C4DBAA-862A-4B68-85B7-E1ABF7B93941}"/>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Each Hangul syllable becomes another Hangul syllable</a:t>
            </a:r>
          </a:p>
        </p:txBody>
      </p:sp>
      <p:sp>
        <p:nvSpPr>
          <p:cNvPr id="9" name="">
            <a:extLst xmlns:a="http://schemas.openxmlformats.org/drawingml/2006/main">
              <a:ext uri="{FF2B5EF4-FFF2-40B4-BE49-F238E27FC236}">
                <a16:creationId xmlns:a16="http://schemas.microsoft.com/office/drawing/2014/main" id="{48ECBEB2-BC2C-439E-AD7B-5D457CE72DB0}"/>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So characters can be compared position by position.</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Pick the correct syllable for Hangul positions; copy everything else.</a:t>
            </a:r>
          </a:p>
        </p:txBody>
      </p:sp>
      <p:sp>
        <p:nvSpPr>
          <p:cNvPr id="10" name="">
            <a:extLst xmlns:a="http://schemas.openxmlformats.org/drawingml/2006/main">
              <a:ext uri="{FF2B5EF4-FFF2-40B4-BE49-F238E27FC236}">
                <a16:creationId xmlns:a16="http://schemas.microsoft.com/office/drawing/2014/main" id="{E87EF303-3B40-49B8-896A-FC88C0D30369}"/>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Length-preserving character classification fits the data structure</a:t>
            </a:r>
          </a:p>
        </p:txBody>
      </p:sp>
      <p:sp>
        <p:nvSpPr>
          <p:cNvPr id="11" name="">
            <a:extLst xmlns:a="http://schemas.openxmlformats.org/drawingml/2006/main">
              <a:ext uri="{FF2B5EF4-FFF2-40B4-BE49-F238E27FC236}">
                <a16:creationId xmlns:a16="http://schemas.microsoft.com/office/drawing/2014/main" id="{BC3B4B36-7F25-46B6-A1DF-C1D469014363}"/>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04</a:t>
            </a:r>
          </a:p>
        </p:txBody>
      </p:sp>
    </p:spTree>
    <p:extLst>
      <p:ext uri="{BB962C8B-B14F-4D97-AF65-F5344CB8AC3E}">
        <p14:creationId xmlns:p14="http://schemas.microsoft.com/office/powerpoint/2010/main" val="21160457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1FD6CC-3643-44E1-A85E-0FB4AA76529D}"/>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41CE37DD-0F0C-47C1-BADB-47B122DC25CB}"/>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Equal length keeps the design simple</a:t>
            </a:r>
          </a:p>
        </p:txBody>
      </p:sp>
      <p:graphicFrame>
        <p:nvGraphicFramePr>
          <p:cNvPr id="3" name="">
            <a:extLst xmlns:a="http://schemas.openxmlformats.org/drawingml/2006/main">
              <a:ext uri="{FF2B5EF4-FFF2-40B4-BE49-F238E27FC236}">
                <a16:creationId xmlns:a16="http://schemas.microsoft.com/office/drawing/2014/main" id="{E21617B5-2193-4501-9FC4-A99A8CC7D637}"/>
              </a:ext>
            </a:extLst>
          </p:cNvPr>
          <p:cNvGraphicFramePr/>
          <p:nvPr/>
        </p:nvGraphicFramePr>
        <p:xfrm>
          <a:off xmlns:a="http://schemas.openxmlformats.org/drawingml/2006/main" x="685800" y="1619250"/>
          <a:ext xmlns:a="http://schemas.openxmlformats.org/drawingml/2006/main" cx="10820400" cy="2857500"/>
        </p:xfrm>
        <a:graphic xmlns:a="http://schemas.openxmlformats.org/drawingml/2006/main">
          <a:graphicData uri="http://schemas.openxmlformats.org/drawingml/2006/table">
            <a:tbl>
              <a:tblPr/>
              <a:tblGrid>
                <a:gridCol w="1905000"/>
                <a:gridCol w="1485900"/>
                <a:gridCol w="1485900"/>
                <a:gridCol w="1485900"/>
                <a:gridCol w="1485900"/>
                <a:gridCol w="1485900"/>
                <a:gridCol w="1485900"/>
              </a:tblGrid>
              <a:tr h="714375">
                <a:tc>
                  <a:txBody>
                    <a:bodyPr/>
                    <a:lstStyle/>
                    <a:p>
                      <a:r>
                        <a:rPr sz="1800" b="1">
                          <a:solidFill>
                            <a:srgbClr val="FFFFFF"/>
                          </a:solidFill>
                          <a:latin typeface="Pretendard"/>
                          <a:ea typeface="Pretendard"/>
                          <a:cs typeface="Pretendard"/>
                        </a:rPr>
                        <a:t>Position</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1</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2</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3</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4</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5</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6</a:t>
                      </a:r>
                    </a:p>
                  </a:txBody>
                  <a:tcPr marL="133350" marR="133350" marT="95250" marB="95250" anchor="ctr">
                    <a:solidFill>
                      <a:srgbClr val="1B2333"/>
                    </a:solidFill>
                  </a:tcPr>
                </a:tc>
              </a:tr>
              <a:tr h="714375">
                <a:tc>
                  <a:txBody>
                    <a:bodyPr/>
                    <a:lstStyle/>
                    <a:p>
                      <a:r>
                        <a:rPr sz="1800" b="0">
                          <a:solidFill>
                            <a:srgbClr val="1B2333"/>
                          </a:solidFill>
                          <a:latin typeface="Pretendard"/>
                          <a:ea typeface="Pretendard"/>
                          <a:cs typeface="Pretendard"/>
                        </a:rPr>
                        <a:t>Input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꺼</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율</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위</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space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쓱</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팍</a:t>
                      </a:r>
                    </a:p>
                  </a:txBody>
                  <a:tcPr marL="133350" marR="133350" marT="95250" marB="95250" anchor="ctr">
                    <a:solidFill>
                      <a:srgbClr val="F4F6F9"/>
                    </a:solidFill>
                  </a:tcPr>
                </a:tc>
              </a:tr>
              <a:tr h="714375">
                <a:tc>
                  <a:txBody>
                    <a:bodyPr/>
                    <a:lstStyle/>
                    <a:p>
                      <a:r>
                        <a:rPr sz="1800" b="0">
                          <a:solidFill>
                            <a:srgbClr val="1B2333"/>
                          </a:solidFill>
                          <a:latin typeface="Pretendard"/>
                          <a:ea typeface="Pretendard"/>
                          <a:cs typeface="Pretendard"/>
                        </a:rPr>
                        <a:t>Answer</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겨</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울</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의</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space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스</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파</a:t>
                      </a:r>
                    </a:p>
                  </a:txBody>
                  <a:tcPr marL="133350" marR="133350" marT="95250" marB="95250" anchor="ctr">
                    <a:solidFill>
                      <a:srgbClr val="FFFFFF"/>
                    </a:solidFill>
                  </a:tcPr>
                </a:tc>
              </a:tr>
              <a:tr h="714375">
                <a:tc>
                  <a:txBody>
                    <a:bodyPr/>
                    <a:lstStyle/>
                    <a:p>
                      <a:r>
                        <a:rPr sz="1800" b="0">
                          <a:solidFill>
                            <a:srgbClr val="1B2333"/>
                          </a:solidFill>
                          <a:latin typeface="Pretendard"/>
                          <a:ea typeface="Pretendard"/>
                          <a:cs typeface="Pretendard"/>
                        </a:rPr>
                        <a:t>Action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Choose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Choose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Choose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Copy</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Choose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Choose</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0082EC1F-7D10-4813-A6B9-60CB39FC09AB}"/>
              </a:ext>
            </a:extLst>
          </p:cNvPr>
          <p:cNvSpPr>
            <a:spLocks xmlns:a="http://schemas.openxmlformats.org/drawingml/2006/main" noGrp="1"/>
          </p:cNvSpPr>
          <p:nvPr/>
        </p:nvSpPr>
        <p:spPr>
          <a:xfrm xmlns:a="http://schemas.openxmlformats.org/drawingml/2006/main">
            <a:off x="685800" y="4686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Choose the syllable at each position instead of rewriting the sentence.</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This structurally prevents dropped or extra characters.</a:t>
            </a:r>
          </a:p>
        </p:txBody>
      </p:sp>
      <p:sp>
        <p:nvSpPr>
          <p:cNvPr id="5" name="">
            <a:extLst xmlns:a="http://schemas.openxmlformats.org/drawingml/2006/main">
              <a:ext uri="{FF2B5EF4-FFF2-40B4-BE49-F238E27FC236}">
                <a16:creationId xmlns:a16="http://schemas.microsoft.com/office/drawing/2014/main" id="{4399D248-641F-4B52-A62C-7E4BFE2E32CC}"/>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First shared strategy: limit the model's freedom to match the data</a:t>
            </a:r>
          </a:p>
        </p:txBody>
      </p:sp>
      <p:sp>
        <p:nvSpPr>
          <p:cNvPr id="6" name="">
            <a:extLst xmlns:a="http://schemas.openxmlformats.org/drawingml/2006/main">
              <a:ext uri="{FF2B5EF4-FFF2-40B4-BE49-F238E27FC236}">
                <a16:creationId xmlns:a16="http://schemas.microsoft.com/office/drawing/2014/main" id="{D2EF590D-6645-4BF2-8641-2BBB1E707C84}"/>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05</a:t>
            </a:r>
          </a:p>
        </p:txBody>
      </p:sp>
    </p:spTree>
    <p:extLst>
      <p:ext uri="{BB962C8B-B14F-4D97-AF65-F5344CB8AC3E}">
        <p14:creationId xmlns:p14="http://schemas.microsoft.com/office/powerpoint/2010/main" val="112860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7CBE4C-B5C8-437B-A1AA-E009C5F1A2FB}"/>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59F7A4D0-449A-4D7D-96A4-A791D50539C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Different answers to the many long reviews</a:t>
            </a:r>
          </a:p>
        </p:txBody>
      </p:sp>
      <p:graphicFrame>
        <p:nvGraphicFramePr>
          <p:cNvPr id="3" name="">
            <a:extLst xmlns:a="http://schemas.openxmlformats.org/drawingml/2006/main">
              <a:ext uri="{FF2B5EF4-FFF2-40B4-BE49-F238E27FC236}">
                <a16:creationId xmlns:a16="http://schemas.microsoft.com/office/drawing/2014/main" id="{2A21B304-9098-4CD6-8A51-7A65ACF65CFF}"/>
              </a:ext>
            </a:extLst>
          </p:cNvPr>
          <p:cNvGraphicFramePr/>
          <p:nvPr/>
        </p:nvGraphicFramePr>
        <p:xfrm>
          <a:off xmlns:a="http://schemas.openxmlformats.org/drawingml/2006/main" x="685800" y="1619250"/>
          <a:ext xmlns:a="http://schemas.openxmlformats.org/drawingml/2006/main" cx="10820400" cy="2057400"/>
        </p:xfrm>
        <a:graphic xmlns:a="http://schemas.openxmlformats.org/drawingml/2006/main">
          <a:graphicData uri="http://schemas.openxmlformats.org/drawingml/2006/table">
            <a:tbl>
              <a:tblPr/>
              <a:tblGrid>
                <a:gridCol w="3771900"/>
                <a:gridCol w="3524250"/>
                <a:gridCol w="3524250"/>
              </a:tblGrid>
              <a:tr h="685800">
                <a:tc>
                  <a:txBody>
                    <a:bodyPr/>
                    <a:lstStyle/>
                    <a:p>
                      <a:r>
                        <a:rPr sz="1800" b="1">
                          <a:solidFill>
                            <a:srgbClr val="FFFFFF"/>
                          </a:solidFill>
                          <a:latin typeface="Pretendard"/>
                          <a:ea typeface="Pretendard"/>
                          <a:cs typeface="Pretendard"/>
                        </a:rPr>
                        <a:t>Found in the data</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A's response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B's response</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Test average 168 chars</a:t>
                      </a:r>
                    </a:p>
                    <a:p>
                      <a:r>
                        <a:rPr sz="1800" b="0">
                          <a:solidFill>
                            <a:srgbClr val="1B2333"/>
                          </a:solidFill>
                          <a:latin typeface="Pretendard"/>
                          <a:ea typeface="Pretendard"/>
                          <a:cs typeface="Pretendard"/>
                        </a:rPr>
                        <a:t>Train average 93 chars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Stage 1 position encoding</a:t>
                      </a:r>
                    </a:p>
                    <a:p>
                      <a:r>
                        <a:rPr sz="1800" b="0">
                          <a:solidFill>
                            <a:srgbClr val="1B2333"/>
                          </a:solidFill>
                          <a:latin typeface="Pretendard"/>
                          <a:ea typeface="Pretendard"/>
                          <a:cs typeface="Pretendard"/>
                        </a:rPr>
                        <a:t>that handles long sentences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Training chunks</a:t>
                      </a:r>
                    </a:p>
                    <a:p>
                      <a:r>
                        <a:rPr sz="1800" b="0">
                          <a:solidFill>
                            <a:srgbClr val="1B2333"/>
                          </a:solidFill>
                          <a:latin typeface="Pretendard"/>
                          <a:ea typeface="Pretendard"/>
                          <a:cs typeface="Pretendard"/>
                        </a:rPr>
                        <a:t>enlarged to 384 chars</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Team B: share of characters in</a:t>
                      </a:r>
                    </a:p>
                    <a:p>
                      <a:r>
                        <a:rPr sz="1800" b="0">
                          <a:solidFill>
                            <a:srgbClr val="1B2333"/>
                          </a:solidFill>
                          <a:latin typeface="Pretendard"/>
                          <a:ea typeface="Pretendard"/>
                          <a:cs typeface="Pretendard"/>
                        </a:rPr>
                        <a:t>reviews over 300 chars 19% / 57%</a:t>
                      </a:r>
                    </a:p>
                    <a:p>
                      <a:r>
                        <a:rPr sz="1800" b="0">
                          <a:solidFill>
                            <a:srgbClr val="1B2333"/>
                          </a:solidFill>
                          <a:latin typeface="Pretendard"/>
                          <a:ea typeface="Pretendard"/>
                          <a:cs typeface="Pretendard"/>
                        </a:rPr>
                        <a:t>(train / test)</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Concatenate sentences into</a:t>
                      </a:r>
                    </a:p>
                    <a:p>
                      <a:r>
                        <a:rPr sz="1800" b="0">
                          <a:solidFill>
                            <a:srgbClr val="1B2333"/>
                          </a:solidFill>
                          <a:latin typeface="Pretendard"/>
                          <a:ea typeface="Pretendard"/>
                          <a:cs typeface="Pretendard"/>
                        </a:rPr>
                        <a:t>400–1,600-char</a:t>
                      </a:r>
                    </a:p>
                    <a:p>
                      <a:r>
                        <a:rPr sz="1800" b="0">
                          <a:solidFill>
                            <a:srgbClr val="1B2333"/>
                          </a:solidFill>
                          <a:latin typeface="Pretendard"/>
                          <a:ea typeface="Pretendard"/>
                          <a:cs typeface="Pretendard"/>
                        </a:rPr>
                        <a:t>extra training examples</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Read in overlapping windows,</a:t>
                      </a:r>
                    </a:p>
                    <a:p>
                      <a:r>
                        <a:rPr sz="1800" b="0">
                          <a:solidFill>
                            <a:srgbClr val="1B2333"/>
                          </a:solidFill>
                          <a:latin typeface="Pretendard"/>
                          <a:ea typeface="Pretendard"/>
                          <a:cs typeface="Pretendard"/>
                        </a:rPr>
                        <a:t>infer with a 192-char stride and</a:t>
                      </a:r>
                    </a:p>
                    <a:p>
                      <a:r>
                        <a:rPr sz="1800" b="0">
                          <a:solidFill>
                            <a:srgbClr val="1B2333"/>
                          </a:solidFill>
                          <a:latin typeface="Pretendard"/>
                          <a:ea typeface="Pretendard"/>
                          <a:cs typeface="Pretendard"/>
                        </a:rPr>
                        <a:t>average the prediction scores</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6FE72CD-E0D6-4F46-8220-F5CC20ABC160}"/>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When training lengths differ from the lengths to solve, length handling is needed</a:t>
            </a:r>
          </a:p>
        </p:txBody>
      </p:sp>
      <p:sp>
        <p:nvSpPr>
          <p:cNvPr id="5" name="">
            <a:extLst xmlns:a="http://schemas.openxmlformats.org/drawingml/2006/main">
              <a:ext uri="{FF2B5EF4-FFF2-40B4-BE49-F238E27FC236}">
                <a16:creationId xmlns:a16="http://schemas.microsoft.com/office/drawing/2014/main" id="{B18BE3EB-D095-4ADF-AF04-48EBE1C50BE7}"/>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06</a:t>
            </a:r>
          </a:p>
        </p:txBody>
      </p:sp>
    </p:spTree>
    <p:extLst>
      <p:ext uri="{BB962C8B-B14F-4D97-AF65-F5344CB8AC3E}">
        <p14:creationId xmlns:p14="http://schemas.microsoft.com/office/powerpoint/2010/main" val="9858574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26702F-82A1-4D7B-90CC-202A0F5A0EDD}"/>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DD295DE3-FC11-4057-8D6B-44E6C8737081}"/>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Using pretrained knowledge required readable input</a:t>
            </a:r>
          </a:p>
        </p:txBody>
      </p:sp>
      <p:sp>
        <p:nvSpPr>
          <p:cNvPr id="3" name="">
            <a:extLst xmlns:a="http://schemas.openxmlformats.org/drawingml/2006/main">
              <a:ext uri="{FF2B5EF4-FFF2-40B4-BE49-F238E27FC236}">
                <a16:creationId xmlns:a16="http://schemas.microsoft.com/office/drawing/2014/main" id="{FB33912B-A7AD-43CC-BF26-0DE644739C5E}"/>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Team A</a:t>
            </a:r>
          </a:p>
        </p:txBody>
      </p:sp>
      <p:sp>
        <p:nvSpPr>
          <p:cNvPr id="4" name="">
            <a:extLst xmlns:a="http://schemas.openxmlformats.org/drawingml/2006/main">
              <a:ext uri="{FF2B5EF4-FFF2-40B4-BE49-F238E27FC236}">
                <a16:creationId xmlns:a16="http://schemas.microsoft.com/office/drawing/2014/main" id="{D9037ECD-4DFA-4311-ACF2-97AE6887A4A6}"/>
              </a:ext>
            </a:extLst>
          </p:cNvPr>
          <p:cNvSpPr>
            <a:spLocks xmlns:a="http://schemas.openxmlformats.org/drawingml/2006/main" noGrp="1"/>
          </p:cNvSpPr>
          <p:nvPr/>
        </p:nvSpPr>
        <p:spPr>
          <a:xfrm xmlns:a="http://schemas.openxmlformats.org/drawingml/2006/main">
            <a:off x="6858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Using a pretrained model directly lowered performance</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Validation 0.9807</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Model trained from scratch 0.9817</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Give the corrector the sentence restored in stage 1</a:t>
            </a:r>
          </a:p>
        </p:txBody>
      </p:sp>
      <p:sp>
        <p:nvSpPr>
          <p:cNvPr id="5" name="">
            <a:extLst xmlns:a="http://schemas.openxmlformats.org/drawingml/2006/main">
              <a:ext uri="{FF2B5EF4-FFF2-40B4-BE49-F238E27FC236}">
                <a16:creationId xmlns:a16="http://schemas.microsoft.com/office/drawing/2014/main" id="{348B4D5B-8797-4CCA-8075-C45BFA2C5B30}"/>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Team B</a:t>
            </a:r>
          </a:p>
        </p:txBody>
      </p:sp>
      <p:sp>
        <p:nvSpPr>
          <p:cNvPr id="6" name="">
            <a:extLst xmlns:a="http://schemas.openxmlformats.org/drawingml/2006/main">
              <a:ext uri="{FF2B5EF4-FFF2-40B4-BE49-F238E27FC236}">
                <a16:creationId xmlns:a16="http://schemas.microsoft.com/office/drawing/2014/main" id="{4EC21F6E-6407-4481-A25A-160312F7E439}"/>
              </a:ext>
            </a:extLst>
          </p:cNvPr>
          <p:cNvSpPr>
            <a:spLocks xmlns:a="http://schemas.openxmlformats.org/drawingml/2006/main" noGrp="1"/>
          </p:cNvSpPr>
          <p:nvPr/>
        </p:nvSpPr>
        <p:spPr>
          <a:xfrm xmlns:a="http://schemas.openxmlformats.org/drawingml/2006/main">
            <a:off x="62484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First hint from a character mapping table: accuracy ≈ 0.81</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Provide a near-normal Korean hint together with the original jamo</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Use each restoration as the hint for the next stage</a:t>
            </a:r>
          </a:p>
        </p:txBody>
      </p:sp>
      <p:sp>
        <p:nvSpPr>
          <p:cNvPr id="7" name="">
            <a:extLst xmlns:a="http://schemas.openxmlformats.org/drawingml/2006/main">
              <a:ext uri="{FF2B5EF4-FFF2-40B4-BE49-F238E27FC236}">
                <a16:creationId xmlns:a16="http://schemas.microsoft.com/office/drawing/2014/main" id="{FB37D7D7-5757-44EF-A8D1-E838B059F96B}"/>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To use learned Korean knowledge, the input had to be made readable first</a:t>
            </a:r>
          </a:p>
        </p:txBody>
      </p:sp>
      <p:sp>
        <p:nvSpPr>
          <p:cNvPr id="8" name="">
            <a:extLst xmlns:a="http://schemas.openxmlformats.org/drawingml/2006/main">
              <a:ext uri="{FF2B5EF4-FFF2-40B4-BE49-F238E27FC236}">
                <a16:creationId xmlns:a16="http://schemas.microsoft.com/office/drawing/2014/main" id="{3AFCCA1A-4E48-4CCF-BAE9-DA64BA2C2965}"/>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07</a:t>
            </a:r>
          </a:p>
        </p:txBody>
      </p:sp>
    </p:spTree>
    <p:extLst>
      <p:ext uri="{BB962C8B-B14F-4D97-AF65-F5344CB8AC3E}">
        <p14:creationId xmlns:p14="http://schemas.microsoft.com/office/powerpoint/2010/main" val="21308230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46346C-B388-42C8-8A32-7E8D83F37950}"/>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665BBA11-1D59-4C94-8092-28A47851127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Error analysis: errors cluster on rare and non-words</a:t>
            </a:r>
          </a:p>
        </p:txBody>
      </p:sp>
      <p:graphicFrame>
        <p:nvGraphicFramePr>
          <p:cNvPr id="3" name="">
            <a:extLst xmlns:a="http://schemas.openxmlformats.org/drawingml/2006/main">
              <a:ext uri="{FF2B5EF4-FFF2-40B4-BE49-F238E27FC236}">
                <a16:creationId xmlns:a16="http://schemas.microsoft.com/office/drawing/2014/main" id="{B17ADE67-1AC5-4864-8B1D-3C7F14B9F9DA}"/>
              </a:ext>
            </a:extLst>
          </p:cNvPr>
          <p:cNvGraphicFramePr/>
          <p:nvPr/>
        </p:nvGraphicFramePr>
        <p:xfrm>
          <a:off xmlns:a="http://schemas.openxmlformats.org/drawingml/2006/main" x="685800" y="1619250"/>
          <a:ext xmlns:a="http://schemas.openxmlformats.org/drawingml/2006/main" cx="10820400" cy="2743200"/>
        </p:xfrm>
        <a:graphic xmlns:a="http://schemas.openxmlformats.org/drawingml/2006/main">
          <a:graphicData uri="http://schemas.openxmlformats.org/drawingml/2006/table">
            <a:tbl>
              <a:tblPr/>
              <a:tblGrid>
                <a:gridCol w="2286000"/>
                <a:gridCol w="4267200"/>
                <a:gridCol w="4267200"/>
              </a:tblGrid>
              <a:tr h="685800">
                <a:tc>
                  <a:txBody>
                    <a:bodyPr/>
                    <a:lstStyle/>
                    <a:p>
                      <a:r>
                        <a:rPr sz="1800" b="1">
                          <a:solidFill>
                            <a:srgbClr val="FFFFFF"/>
                          </a:solidFill>
                          <a:latin typeface="Pretendard"/>
                          <a:ea typeface="Pretendard"/>
                          <a:cs typeface="Pretendard"/>
                        </a:rPr>
                        <a:t>Analysed</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A: stage 1 single model</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B: after stage 2</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Concentrated on rare words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62% of wrong words were</a:t>
                      </a:r>
                    </a:p>
                    <a:p>
                      <a:r>
                        <a:rPr sz="1800" b="0">
                          <a:solidFill>
                            <a:srgbClr val="1B2333"/>
                          </a:solidFill>
                          <a:latin typeface="Pretendard"/>
                          <a:ea typeface="Pretendard"/>
                          <a:cs typeface="Pretendard"/>
                        </a:rPr>
                        <a:t>never seen in training</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82% of errors were words</a:t>
                      </a:r>
                    </a:p>
                    <a:p>
                      <a:r>
                        <a:rPr sz="1800" b="0">
                          <a:solidFill>
                            <a:srgbClr val="1B2333"/>
                          </a:solidFill>
                          <a:latin typeface="Pretendard"/>
                          <a:ea typeface="Pretendard"/>
                          <a:cs typeface="Pretendard"/>
                        </a:rPr>
                        <a:t>seen 5 times or fewer in training</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Predicts non-words</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70% of wrong words</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75% of wrong words</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Error example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귀중품 → 기중품 (valuables)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케이블카 → 케이블가 (cable car)</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1B022CA9-5437-4440-A96F-6870DACC4654}"/>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Evidence that word knowledge can cover what character rules miss</a:t>
            </a:r>
          </a:p>
        </p:txBody>
      </p:sp>
      <p:sp>
        <p:nvSpPr>
          <p:cNvPr id="5" name="">
            <a:extLst xmlns:a="http://schemas.openxmlformats.org/drawingml/2006/main">
              <a:ext uri="{FF2B5EF4-FFF2-40B4-BE49-F238E27FC236}">
                <a16:creationId xmlns:a16="http://schemas.microsoft.com/office/drawing/2014/main" id="{1F38C2C7-3DAE-41D1-B8FC-5F2E6793F148}"/>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08</a:t>
            </a:r>
          </a:p>
        </p:txBody>
      </p:sp>
    </p:spTree>
    <p:extLst>
      <p:ext uri="{BB962C8B-B14F-4D97-AF65-F5344CB8AC3E}">
        <p14:creationId xmlns:p14="http://schemas.microsoft.com/office/powerpoint/2010/main" val="18626358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7B83C2-0D56-46EE-9472-0083352AB99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21268A4B-65B1-4956-8A87-64D476A84001}"/>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A: restore first, then a second model corrects</a:t>
            </a:r>
          </a:p>
        </p:txBody>
      </p:sp>
      <p:sp>
        <p:nvSpPr>
          <p:cNvPr id="3" name="">
            <a:extLst xmlns:a="http://schemas.openxmlformats.org/drawingml/2006/main">
              <a:ext uri="{FF2B5EF4-FFF2-40B4-BE49-F238E27FC236}">
                <a16:creationId xmlns:a16="http://schemas.microsoft.com/office/drawing/2014/main" id="{450829A9-3C41-4341-8020-9ADA8F87418B}"/>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Stage 1 restore</a:t>
            </a:r>
          </a:p>
        </p:txBody>
      </p:sp>
      <p:sp>
        <p:nvSpPr>
          <p:cNvPr id="4" name="">
            <a:extLst xmlns:a="http://schemas.openxmlformats.org/drawingml/2006/main">
              <a:ext uri="{FF2B5EF4-FFF2-40B4-BE49-F238E27FC236}">
                <a16:creationId xmlns:a16="http://schemas.microsoft.com/office/drawing/2014/main" id="{8B5413B5-1CE6-4487-A0A6-FD7ABAB75938}"/>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Choose syllables from obfuscated jamo and context</a:t>
            </a:r>
          </a:p>
        </p:txBody>
      </p:sp>
      <p:sp>
        <p:nvSpPr>
          <p:cNvPr id="5" name="">
            <a:extLst xmlns:a="http://schemas.openxmlformats.org/drawingml/2006/main">
              <a:ext uri="{FF2B5EF4-FFF2-40B4-BE49-F238E27FC236}">
                <a16:creationId xmlns:a16="http://schemas.microsoft.com/office/drawing/2014/main" id="{2F2AEF51-304D-496E-9AB1-E101A040EBA2}"/>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Stage 2 correct</a:t>
            </a:r>
          </a:p>
        </p:txBody>
      </p:sp>
      <p:sp>
        <p:nvSpPr>
          <p:cNvPr id="6" name="">
            <a:extLst xmlns:a="http://schemas.openxmlformats.org/drawingml/2006/main">
              <a:ext uri="{FF2B5EF4-FFF2-40B4-BE49-F238E27FC236}">
                <a16:creationId xmlns:a16="http://schemas.microsoft.com/office/drawing/2014/main" id="{0A63ACD4-6F91-4677-B5C6-9C3C9F8451AC}"/>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KcELECTRA reads the restored text as word pieces</a:t>
            </a:r>
          </a:p>
        </p:txBody>
      </p:sp>
      <p:sp>
        <p:nvSpPr>
          <p:cNvPr id="7" name="">
            <a:extLst xmlns:a="http://schemas.openxmlformats.org/drawingml/2006/main">
              <a:ext uri="{FF2B5EF4-FFF2-40B4-BE49-F238E27FC236}">
                <a16:creationId xmlns:a16="http://schemas.microsoft.com/office/drawing/2014/main" id="{DB4941D0-5537-4C6C-87E2-EF01A09CE5E9}"/>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Check original clues</a:t>
            </a:r>
          </a:p>
        </p:txBody>
      </p:sp>
      <p:sp>
        <p:nvSpPr>
          <p:cNvPr id="8" name="">
            <a:extLst xmlns:a="http://schemas.openxmlformats.org/drawingml/2006/main">
              <a:ext uri="{FF2B5EF4-FFF2-40B4-BE49-F238E27FC236}">
                <a16:creationId xmlns:a16="http://schemas.microsoft.com/office/drawing/2014/main" id="{D8F92A37-4D5C-4BE2-A241-E9FACDD65E27}"/>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Re-read the obfuscated jamo to justify each edit</a:t>
            </a:r>
          </a:p>
        </p:txBody>
      </p:sp>
      <p:sp>
        <p:nvSpPr>
          <p:cNvPr id="9" name="">
            <a:extLst xmlns:a="http://schemas.openxmlformats.org/drawingml/2006/main">
              <a:ext uri="{FF2B5EF4-FFF2-40B4-BE49-F238E27FC236}">
                <a16:creationId xmlns:a16="http://schemas.microsoft.com/office/drawing/2014/main" id="{D4A2F015-1130-4882-9C15-1DDBF2CF2129}"/>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Illustrative example: 귐중뿜 폽관위 얀 됩닏댜</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Stage 1: 기중품 보관이 안 됩니다</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Stage 2: 귀중품 보관이 안 됩니다</a:t>
            </a:r>
          </a:p>
        </p:txBody>
      </p:sp>
      <p:sp>
        <p:nvSpPr>
          <p:cNvPr id="10" name="">
            <a:extLst xmlns:a="http://schemas.openxmlformats.org/drawingml/2006/main">
              <a:ext uri="{FF2B5EF4-FFF2-40B4-BE49-F238E27FC236}">
                <a16:creationId xmlns:a16="http://schemas.microsoft.com/office/drawing/2014/main" id="{2CDF056D-7CC2-41B7-B89C-66EEFAD13ECF}"/>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Team A's core question: which characters of the restored sentence to fix?</a:t>
            </a:r>
          </a:p>
        </p:txBody>
      </p:sp>
      <p:sp>
        <p:nvSpPr>
          <p:cNvPr id="11" name="">
            <a:extLst xmlns:a="http://schemas.openxmlformats.org/drawingml/2006/main">
              <a:ext uri="{FF2B5EF4-FFF2-40B4-BE49-F238E27FC236}">
                <a16:creationId xmlns:a16="http://schemas.microsoft.com/office/drawing/2014/main" id="{EFD19CF9-8AA2-464C-9307-458A2D1807C1}"/>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09</a:t>
            </a:r>
          </a:p>
        </p:txBody>
      </p:sp>
    </p:spTree>
    <p:extLst>
      <p:ext uri="{BB962C8B-B14F-4D97-AF65-F5344CB8AC3E}">
        <p14:creationId xmlns:p14="http://schemas.microsoft.com/office/powerpoint/2010/main" val="9702638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8EC6B3-43C3-4CC7-A94F-0C355461BC5F}"/>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5B4FC5ED-26A9-4CF3-814D-519C628379CE}"/>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OOF: showing the next model realistic mistakes</a:t>
            </a:r>
          </a:p>
        </p:txBody>
      </p:sp>
      <p:sp>
        <p:nvSpPr>
          <p:cNvPr id="3" name="">
            <a:extLst xmlns:a="http://schemas.openxmlformats.org/drawingml/2006/main">
              <a:ext uri="{FF2B5EF4-FFF2-40B4-BE49-F238E27FC236}">
                <a16:creationId xmlns:a16="http://schemas.microsoft.com/office/drawing/2014/main" id="{BEF6EC9B-FDBB-4372-AF36-65A000B71CDD}"/>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Split into 5 folds</a:t>
            </a:r>
          </a:p>
        </p:txBody>
      </p:sp>
      <p:sp>
        <p:nvSpPr>
          <p:cNvPr id="4" name="">
            <a:extLst xmlns:a="http://schemas.openxmlformats.org/drawingml/2006/main">
              <a:ext uri="{FF2B5EF4-FFF2-40B4-BE49-F238E27FC236}">
                <a16:creationId xmlns:a16="http://schemas.microsoft.com/office/drawing/2014/main" id="{0CE59A1B-02D1-4BB7-9771-5F0D097389A1}"/>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Train on 4 folds, restore the remaining fold</a:t>
            </a:r>
          </a:p>
        </p:txBody>
      </p:sp>
      <p:sp>
        <p:nvSpPr>
          <p:cNvPr id="5" name="">
            <a:extLst xmlns:a="http://schemas.openxmlformats.org/drawingml/2006/main">
              <a:ext uri="{FF2B5EF4-FFF2-40B4-BE49-F238E27FC236}">
                <a16:creationId xmlns:a16="http://schemas.microsoft.com/office/drawing/2014/main" id="{525C9283-DA45-4AB8-A4D9-0B320381B3A5}"/>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Rotate the folds</a:t>
            </a:r>
          </a:p>
        </p:txBody>
      </p:sp>
      <p:sp>
        <p:nvSpPr>
          <p:cNvPr id="6" name="">
            <a:extLst xmlns:a="http://schemas.openxmlformats.org/drawingml/2006/main">
              <a:ext uri="{FF2B5EF4-FFF2-40B4-BE49-F238E27FC236}">
                <a16:creationId xmlns:a16="http://schemas.microsoft.com/office/drawing/2014/main" id="{E60F056F-5629-4F65-9B2D-95965CE8E401}"/>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Every sentence is predicted by a model that never trained on it</a:t>
            </a:r>
          </a:p>
        </p:txBody>
      </p:sp>
      <p:sp>
        <p:nvSpPr>
          <p:cNvPr id="7" name="">
            <a:extLst xmlns:a="http://schemas.openxmlformats.org/drawingml/2006/main">
              <a:ext uri="{FF2B5EF4-FFF2-40B4-BE49-F238E27FC236}">
                <a16:creationId xmlns:a16="http://schemas.microsoft.com/office/drawing/2014/main" id="{F9DB90C6-B98A-4942-BE47-E428E2C4EBCA}"/>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Train the corrector</a:t>
            </a:r>
          </a:p>
        </p:txBody>
      </p:sp>
      <p:sp>
        <p:nvSpPr>
          <p:cNvPr id="8" name="">
            <a:extLst xmlns:a="http://schemas.openxmlformats.org/drawingml/2006/main">
              <a:ext uri="{FF2B5EF4-FFF2-40B4-BE49-F238E27FC236}">
                <a16:creationId xmlns:a16="http://schemas.microsoft.com/office/drawing/2014/main" id="{40960140-A7C9-42CE-A6F0-B0D6A62FB664}"/>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The next model learns the mistakes made on truly unseen sentences</a:t>
            </a:r>
          </a:p>
        </p:txBody>
      </p:sp>
      <p:sp>
        <p:nvSpPr>
          <p:cNvPr id="9" name="">
            <a:extLst xmlns:a="http://schemas.openxmlformats.org/drawingml/2006/main">
              <a:ext uri="{FF2B5EF4-FFF2-40B4-BE49-F238E27FC236}">
                <a16:creationId xmlns:a16="http://schemas.microsoft.com/office/drawing/2014/main" id="{F0F5209D-9B2A-4735-8EDE-80054B4A397D}"/>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A model restoring its own training sentences is too accurate.</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Fed only those, a corrector learns to copy instead of fixing mistakes.</a:t>
            </a:r>
          </a:p>
        </p:txBody>
      </p:sp>
      <p:sp>
        <p:nvSpPr>
          <p:cNvPr id="10" name="">
            <a:extLst xmlns:a="http://schemas.openxmlformats.org/drawingml/2006/main">
              <a:ext uri="{FF2B5EF4-FFF2-40B4-BE49-F238E27FC236}">
                <a16:creationId xmlns:a16="http://schemas.microsoft.com/office/drawing/2014/main" id="{7A01EB83-57FD-470B-844D-62D54230CCAB}"/>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Both teams built next-stage inputs from out-of-fold predictions</a:t>
            </a:r>
          </a:p>
        </p:txBody>
      </p:sp>
      <p:sp>
        <p:nvSpPr>
          <p:cNvPr id="11" name="">
            <a:extLst xmlns:a="http://schemas.openxmlformats.org/drawingml/2006/main">
              <a:ext uri="{FF2B5EF4-FFF2-40B4-BE49-F238E27FC236}">
                <a16:creationId xmlns:a16="http://schemas.microsoft.com/office/drawing/2014/main" id="{E2E8BCA4-0044-4479-B02B-35E717D29F9B}"/>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10</a:t>
            </a:r>
          </a:p>
        </p:txBody>
      </p:sp>
    </p:spTree>
    <p:extLst>
      <p:ext uri="{BB962C8B-B14F-4D97-AF65-F5344CB8AC3E}">
        <p14:creationId xmlns:p14="http://schemas.microsoft.com/office/powerpoint/2010/main" val="7315182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7DC552-4CC2-4F68-806F-33943E3A41E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C67947EF-208A-4045-8C44-3C6642EB9E49}"/>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A: correcting without breaking correct characters</a:t>
            </a:r>
          </a:p>
        </p:txBody>
      </p:sp>
      <p:sp>
        <p:nvSpPr>
          <p:cNvPr id="3" name="">
            <a:extLst xmlns:a="http://schemas.openxmlformats.org/drawingml/2006/main">
              <a:ext uri="{FF2B5EF4-FFF2-40B4-BE49-F238E27FC236}">
                <a16:creationId xmlns:a16="http://schemas.microsoft.com/office/drawing/2014/main" id="{916BF66C-BAED-4EA8-BAEA-5AC15845590F}"/>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Show more examples to fix</a:t>
            </a:r>
          </a:p>
        </p:txBody>
      </p:sp>
      <p:sp>
        <p:nvSpPr>
          <p:cNvPr id="4" name="">
            <a:extLst xmlns:a="http://schemas.openxmlformats.org/drawingml/2006/main">
              <a:ext uri="{FF2B5EF4-FFF2-40B4-BE49-F238E27FC236}">
                <a16:creationId xmlns:a16="http://schemas.microsoft.com/office/drawing/2014/main" id="{447F4090-B59E-4FDB-BCC5-4A04CE62915B}"/>
              </a:ext>
            </a:extLst>
          </p:cNvPr>
          <p:cNvSpPr>
            <a:spLocks xmlns:a="http://schemas.openxmlformats.org/drawingml/2006/main" noGrp="1"/>
          </p:cNvSpPr>
          <p:nvPr/>
        </p:nvSpPr>
        <p:spPr>
          <a:xfrm xmlns:a="http://schemas.openxmlformats.org/drawingml/2006/main">
            <a:off x="6858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Mask 5% of predicted characters in training</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Replace 3% with real stage 1 errors</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Validation F1 0.9866 → 0.9875</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Fixed chars 600 → 862</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Broken chars 181 → 321</a:t>
            </a:r>
          </a:p>
        </p:txBody>
      </p:sp>
      <p:sp>
        <p:nvSpPr>
          <p:cNvPr id="5" name="">
            <a:extLst xmlns:a="http://schemas.openxmlformats.org/drawingml/2006/main">
              <a:ext uri="{FF2B5EF4-FFF2-40B4-BE49-F238E27FC236}">
                <a16:creationId xmlns:a16="http://schemas.microsoft.com/office/drawing/2014/main" id="{F2107AB0-6134-4F74-ABC2-D09BD3336446}"/>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Tune the confidence needed to edit</a:t>
            </a:r>
          </a:p>
        </p:txBody>
      </p:sp>
      <p:sp>
        <p:nvSpPr>
          <p:cNvPr id="6" name="">
            <a:extLst xmlns:a="http://schemas.openxmlformats.org/drawingml/2006/main">
              <a:ext uri="{FF2B5EF4-FFF2-40B4-BE49-F238E27FC236}">
                <a16:creationId xmlns:a16="http://schemas.microsoft.com/office/drawing/2014/main" id="{9F70E158-0308-4126-87AE-12B6DFB6102A}"/>
              </a:ext>
            </a:extLst>
          </p:cNvPr>
          <p:cNvSpPr>
            <a:spLocks xmlns:a="http://schemas.openxmlformats.org/drawingml/2006/main" noGrp="1"/>
          </p:cNvSpPr>
          <p:nvPr/>
        </p:nvSpPr>
        <p:spPr>
          <a:xfrm xmlns:a="http://schemas.openxmlformats.org/drawingml/2006/main">
            <a:off x="62484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Boost the current prediction to favour copying</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Change only when the edit score is high enough</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Pick copy margin and iteration count on validation</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Apply up to 3 times by re-reading the corrected text</a:t>
            </a:r>
          </a:p>
        </p:txBody>
      </p:sp>
      <p:sp>
        <p:nvSpPr>
          <p:cNvPr id="7" name="">
            <a:extLst xmlns:a="http://schemas.openxmlformats.org/drawingml/2006/main">
              <a:ext uri="{FF2B5EF4-FFF2-40B4-BE49-F238E27FC236}">
                <a16:creationId xmlns:a16="http://schemas.microsoft.com/office/drawing/2014/main" id="{E8F5D930-47BB-44DF-B3BD-22D729D0C19B}"/>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Weighed the gain from more fixes against the cost of new errors</a:t>
            </a:r>
          </a:p>
        </p:txBody>
      </p:sp>
      <p:sp>
        <p:nvSpPr>
          <p:cNvPr id="8" name="">
            <a:extLst xmlns:a="http://schemas.openxmlformats.org/drawingml/2006/main">
              <a:ext uri="{FF2B5EF4-FFF2-40B4-BE49-F238E27FC236}">
                <a16:creationId xmlns:a16="http://schemas.microsoft.com/office/drawing/2014/main" id="{120AF5C3-A9BA-4248-84FA-841402CD1A62}"/>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11</a:t>
            </a:r>
          </a:p>
        </p:txBody>
      </p:sp>
    </p:spTree>
    <p:extLst>
      <p:ext uri="{BB962C8B-B14F-4D97-AF65-F5344CB8AC3E}">
        <p14:creationId xmlns:p14="http://schemas.microsoft.com/office/powerpoint/2010/main" val="356369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7B0DC1-4ECF-4291-B486-A220E2E21543}"/>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C7F13CE0-803D-4310-8F61-6BCC8BC72C37}"/>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B: read hint and original together, and stack stages</a:t>
            </a:r>
          </a:p>
        </p:txBody>
      </p:sp>
      <p:sp>
        <p:nvSpPr>
          <p:cNvPr id="3" name="">
            <a:extLst xmlns:a="http://schemas.openxmlformats.org/drawingml/2006/main">
              <a:ext uri="{FF2B5EF4-FFF2-40B4-BE49-F238E27FC236}">
                <a16:creationId xmlns:a16="http://schemas.microsoft.com/office/drawing/2014/main" id="{4C6747B6-CE4B-4055-9795-0CA621820F55}"/>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Character model</a:t>
            </a:r>
          </a:p>
        </p:txBody>
      </p:sp>
      <p:sp>
        <p:nvSpPr>
          <p:cNvPr id="4" name="">
            <a:extLst xmlns:a="http://schemas.openxmlformats.org/drawingml/2006/main">
              <a:ext uri="{FF2B5EF4-FFF2-40B4-BE49-F238E27FC236}">
                <a16:creationId xmlns:a16="http://schemas.microsoft.com/office/drawing/2014/main" id="{6F930C57-E516-40F8-BA55-81980C3BF4F0}"/>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KoCharELECTRA-base gets hint characters plus original jamo</a:t>
            </a:r>
          </a:p>
        </p:txBody>
      </p:sp>
      <p:sp>
        <p:nvSpPr>
          <p:cNvPr id="5" name="">
            <a:extLst xmlns:a="http://schemas.openxmlformats.org/drawingml/2006/main">
              <a:ext uri="{FF2B5EF4-FFF2-40B4-BE49-F238E27FC236}">
                <a16:creationId xmlns:a16="http://schemas.microsoft.com/office/drawing/2014/main" id="{CB26E088-20EF-457F-9104-1EF462EB5FB9}"/>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Syllable and jamo scores</a:t>
            </a:r>
          </a:p>
        </p:txBody>
      </p:sp>
      <p:sp>
        <p:nvSpPr>
          <p:cNvPr id="6" name="">
            <a:extLst xmlns:a="http://schemas.openxmlformats.org/drawingml/2006/main">
              <a:ext uri="{FF2B5EF4-FFF2-40B4-BE49-F238E27FC236}">
                <a16:creationId xmlns:a16="http://schemas.microsoft.com/office/drawing/2014/main" id="{F4965F5E-BB67-410D-9AB0-C5FE02076970}"/>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Sum the whole-syllable score and the initial/medial/final scores</a:t>
            </a:r>
          </a:p>
        </p:txBody>
      </p:sp>
      <p:sp>
        <p:nvSpPr>
          <p:cNvPr id="7" name="">
            <a:extLst xmlns:a="http://schemas.openxmlformats.org/drawingml/2006/main">
              <a:ext uri="{FF2B5EF4-FFF2-40B4-BE49-F238E27FC236}">
                <a16:creationId xmlns:a16="http://schemas.microsoft.com/office/drawing/2014/main" id="{7F4DCB1C-23A8-4BEB-9A9E-23A5A0A1BBCF}"/>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Word model support</a:t>
            </a:r>
          </a:p>
        </p:txBody>
      </p:sp>
      <p:sp>
        <p:nvSpPr>
          <p:cNvPr id="8" name="">
            <a:extLst xmlns:a="http://schemas.openxmlformats.org/drawingml/2006/main">
              <a:ext uri="{FF2B5EF4-FFF2-40B4-BE49-F238E27FC236}">
                <a16:creationId xmlns:a16="http://schemas.microsoft.com/office/drawing/2014/main" id="{5802D1D4-5BB7-4C2A-8463-B4A6FDEDED20}"/>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A large word model reads the restored text; its scores are added per character</a:t>
            </a:r>
          </a:p>
        </p:txBody>
      </p:sp>
      <p:sp>
        <p:nvSpPr>
          <p:cNvPr id="9" name="">
            <a:extLst xmlns:a="http://schemas.openxmlformats.org/drawingml/2006/main">
              <a:ext uri="{FF2B5EF4-FFF2-40B4-BE49-F238E27FC236}">
                <a16:creationId xmlns:a16="http://schemas.microsoft.com/office/drawing/2014/main" id="{71857799-3917-45E8-99B6-131077645BC2}"/>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Use each restoration as the hint for the next stage</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OOF char accuracy 0.9756 / 0.9773 / 0.9793 with word model</a:t>
            </a:r>
          </a:p>
        </p:txBody>
      </p:sp>
      <p:sp>
        <p:nvSpPr>
          <p:cNvPr id="10" name="">
            <a:extLst xmlns:a="http://schemas.openxmlformats.org/drawingml/2006/main">
              <a:ext uri="{FF2B5EF4-FFF2-40B4-BE49-F238E27FC236}">
                <a16:creationId xmlns:a16="http://schemas.microsoft.com/office/drawing/2014/main" id="{567F8C27-2F29-4748-A29E-3205260F4BAA}"/>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Team B also built a readable sentence first, then used word knowledge</a:t>
            </a:r>
          </a:p>
        </p:txBody>
      </p:sp>
      <p:sp>
        <p:nvSpPr>
          <p:cNvPr id="11" name="">
            <a:extLst xmlns:a="http://schemas.openxmlformats.org/drawingml/2006/main">
              <a:ext uri="{FF2B5EF4-FFF2-40B4-BE49-F238E27FC236}">
                <a16:creationId xmlns:a16="http://schemas.microsoft.com/office/drawing/2014/main" id="{588BA706-6F08-4988-BC49-B9C344505B3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12</a:t>
            </a:r>
          </a:p>
        </p:txBody>
      </p:sp>
    </p:spTree>
    <p:extLst>
      <p:ext uri="{BB962C8B-B14F-4D97-AF65-F5344CB8AC3E}">
        <p14:creationId xmlns:p14="http://schemas.microsoft.com/office/powerpoint/2010/main" val="2060473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3FF2D8-F3BF-4A81-B1D7-46A8656A1F3C}"/>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28BF81B8-7B4E-47A7-BDF6-FD718C829FF4}"/>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B EDA: rules refine candidates and training data</a:t>
            </a:r>
          </a:p>
        </p:txBody>
      </p:sp>
      <p:graphicFrame>
        <p:nvGraphicFramePr>
          <p:cNvPr id="3" name="">
            <a:extLst xmlns:a="http://schemas.openxmlformats.org/drawingml/2006/main">
              <a:ext uri="{FF2B5EF4-FFF2-40B4-BE49-F238E27FC236}">
                <a16:creationId xmlns:a16="http://schemas.microsoft.com/office/drawing/2014/main" id="{D5D77E77-E9E2-43C5-AE73-7C5C434022A3}"/>
              </a:ext>
            </a:extLst>
          </p:cNvPr>
          <p:cNvGraphicFramePr/>
          <p:nvPr/>
        </p:nvGraphicFramePr>
        <p:xfrm>
          <a:off xmlns:a="http://schemas.openxmlformats.org/drawingml/2006/main" x="685800" y="1619250"/>
          <a:ext xmlns:a="http://schemas.openxmlformats.org/drawingml/2006/main" cx="10820400" cy="2743200"/>
        </p:xfrm>
        <a:graphic xmlns:a="http://schemas.openxmlformats.org/drawingml/2006/main">
          <a:graphicData uri="http://schemas.openxmlformats.org/drawingml/2006/table">
            <a:tbl>
              <a:tblPr/>
              <a:tblGrid>
                <a:gridCol w="3790950"/>
                <a:gridCol w="3238500"/>
                <a:gridCol w="3790950"/>
              </a:tblGrid>
              <a:tr h="685800">
                <a:tc>
                  <a:txBody>
                    <a:bodyPr/>
                    <a:lstStyle/>
                    <a:p>
                      <a:r>
                        <a:rPr sz="1800" b="1">
                          <a:solidFill>
                            <a:srgbClr val="FFFFFF"/>
                          </a:solidFill>
                          <a:latin typeface="Pretendard"/>
                          <a:ea typeface="Pretendard"/>
                          <a:cs typeface="Pretendard"/>
                        </a:rPr>
                        <a:t>Finding</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Inference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Design choice</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Changes stay within jamo groups;</a:t>
                      </a:r>
                    </a:p>
                    <a:p>
                      <a:r>
                        <a:rPr sz="1800" b="0">
                          <a:solidFill>
                            <a:srgbClr val="1B2333"/>
                          </a:solidFill>
                          <a:latin typeface="Pretendard"/>
                          <a:ea typeface="Pretendard"/>
                          <a:cs typeface="Pretendard"/>
                        </a:rPr>
                        <a:t>exceptions 0.003%</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Some syllables can hardly</a:t>
                      </a:r>
                    </a:p>
                    <a:p>
                      <a:r>
                        <a:rPr sz="1800" b="0">
                          <a:solidFill>
                            <a:srgbClr val="1B2333"/>
                          </a:solidFill>
                          <a:latin typeface="Pretendard"/>
                          <a:ea typeface="Pretendard"/>
                          <a:cs typeface="Pretendard"/>
                        </a:rPr>
                        <a:t>come from a given input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Remove impossible candidates:</a:t>
                      </a:r>
                    </a:p>
                    <a:p>
                      <a:r>
                        <a:rPr sz="1800" b="0">
                          <a:solidFill>
                            <a:srgbClr val="1B2333"/>
                          </a:solidFill>
                          <a:latin typeface="Pretendard"/>
                          <a:ea typeface="Pretendard"/>
                          <a:cs typeface="Pretendard"/>
                        </a:rPr>
                        <a:t>constrained decoding</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Change probabilities, e.g. 51%</a:t>
                      </a:r>
                    </a:p>
                    <a:p>
                      <a:r>
                        <a:rPr sz="1800" b="0">
                          <a:solidFill>
                            <a:srgbClr val="1B2333"/>
                          </a:solidFill>
                          <a:latin typeface="Pretendard"/>
                          <a:ea typeface="Pretendard"/>
                          <a:cs typeface="Pretendard"/>
                        </a:rPr>
                        <a:t>added final consonant, can be estimated</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One answer can produce</a:t>
                      </a:r>
                    </a:p>
                    <a:p>
                      <a:r>
                        <a:rPr sz="1800" b="0">
                          <a:solidFill>
                            <a:srgbClr val="1B2333"/>
                          </a:solidFill>
                          <a:latin typeface="Pretendard"/>
                          <a:ea typeface="Pretendard"/>
                          <a:cs typeface="Pretendard"/>
                        </a:rPr>
                        <a:t>many obfuscated inputs</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Re-obfuscate the answers:</a:t>
                      </a:r>
                    </a:p>
                    <a:p>
                      <a:r>
                        <a:rPr sz="1800" b="0">
                          <a:solidFill>
                            <a:srgbClr val="1B2333"/>
                          </a:solidFill>
                          <a:latin typeface="Pretendard"/>
                          <a:ea typeface="Pretendard"/>
                          <a:cs typeface="Pretendard"/>
                        </a:rPr>
                        <a:t>training data augmentation</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Independent sampling keeps 0.255</a:t>
                      </a:r>
                    </a:p>
                    <a:p>
                      <a:r>
                        <a:rPr sz="1800" b="0">
                          <a:solidFill>
                            <a:srgbClr val="1B2333"/>
                          </a:solidFill>
                          <a:latin typeface="Pretendard"/>
                          <a:ea typeface="Pretendard"/>
                          <a:cs typeface="Pretendard"/>
                        </a:rPr>
                        <a:t>vs 0.125 in the real data</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Neighbouring characters'</a:t>
                      </a:r>
                    </a:p>
                    <a:p>
                      <a:r>
                        <a:rPr sz="1800" b="0">
                          <a:solidFill>
                            <a:srgbClr val="1B2333"/>
                          </a:solidFill>
                          <a:latin typeface="Pretendard"/>
                          <a:ea typeface="Pretendard"/>
                          <a:cs typeface="Pretendard"/>
                        </a:rPr>
                        <a:t>influence must be included</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Context-aware sampling</a:t>
                      </a:r>
                    </a:p>
                    <a:p>
                      <a:r>
                        <a:rPr sz="1800" b="0">
                          <a:solidFill>
                            <a:srgbClr val="1B2333"/>
                          </a:solidFill>
                          <a:latin typeface="Pretendard"/>
                          <a:ea typeface="Pretendard"/>
                          <a:cs typeface="Pretendard"/>
                        </a:rPr>
                        <a:t>brings it to 0.127</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E94C9EA7-1B09-4076-AC4A-6B8EF7F70638}"/>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Used the rules found, and checked the generated data resembles the real data</a:t>
            </a:r>
          </a:p>
        </p:txBody>
      </p:sp>
      <p:sp>
        <p:nvSpPr>
          <p:cNvPr id="5" name="">
            <a:extLst xmlns:a="http://schemas.openxmlformats.org/drawingml/2006/main">
              <a:ext uri="{FF2B5EF4-FFF2-40B4-BE49-F238E27FC236}">
                <a16:creationId xmlns:a16="http://schemas.microsoft.com/office/drawing/2014/main" id="{8D4B1CD6-5712-4C11-BF15-4866A38F3013}"/>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13</a:t>
            </a:r>
          </a:p>
        </p:txBody>
      </p:sp>
    </p:spTree>
    <p:extLst>
      <p:ext uri="{BB962C8B-B14F-4D97-AF65-F5344CB8AC3E}">
        <p14:creationId xmlns:p14="http://schemas.microsoft.com/office/powerpoint/2010/main" val="1661995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E08E0F-941D-47E5-B5E4-4CEA4864CA94}"/>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B109F2C2-4E6E-48F8-A8E1-A2B11C08A114}"/>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B: when runs share mistakes, ensembling stalls</a:t>
            </a:r>
          </a:p>
        </p:txBody>
      </p:sp>
      <p:sp>
        <p:nvSpPr>
          <p:cNvPr id="3" name="">
            <a:extLst xmlns:a="http://schemas.openxmlformats.org/drawingml/2006/main">
              <a:ext uri="{FF2B5EF4-FFF2-40B4-BE49-F238E27FC236}">
                <a16:creationId xmlns:a16="http://schemas.microsoft.com/office/drawing/2014/main" id="{AF3B749F-D4A8-4159-A1C4-EFD27940A8A4}"/>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Structure of the remaining errors</a:t>
            </a:r>
          </a:p>
        </p:txBody>
      </p:sp>
      <p:sp>
        <p:nvSpPr>
          <p:cNvPr id="4" name="">
            <a:extLst xmlns:a="http://schemas.openxmlformats.org/drawingml/2006/main">
              <a:ext uri="{FF2B5EF4-FFF2-40B4-BE49-F238E27FC236}">
                <a16:creationId xmlns:a16="http://schemas.microsoft.com/office/drawing/2014/main" id="{F8DBBFC9-AD47-460B-840A-DB2AC4B7E4FD}"/>
              </a:ext>
            </a:extLst>
          </p:cNvPr>
          <p:cNvSpPr>
            <a:spLocks xmlns:a="http://schemas.openxmlformats.org/drawingml/2006/main" noGrp="1"/>
          </p:cNvSpPr>
          <p:nvPr/>
        </p:nvSpPr>
        <p:spPr>
          <a:xfrm xmlns:a="http://schemas.openxmlformats.org/drawingml/2006/main">
            <a:off x="6858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Characters all four runs got wrong:</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81% of all errors</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79% of those are still non-words</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Combining runs of the same family:</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gain ≤ +0.0002</a:t>
            </a:r>
          </a:p>
        </p:txBody>
      </p:sp>
      <p:sp>
        <p:nvSpPr>
          <p:cNvPr id="5" name="">
            <a:extLst xmlns:a="http://schemas.openxmlformats.org/drawingml/2006/main">
              <a:ext uri="{FF2B5EF4-FFF2-40B4-BE49-F238E27FC236}">
                <a16:creationId xmlns:a16="http://schemas.microsoft.com/office/drawing/2014/main" id="{D12DC507-A487-40CB-B1B8-ADD37A63F539}"/>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Why errors are inherited</a:t>
            </a:r>
          </a:p>
        </p:txBody>
      </p:sp>
      <p:sp>
        <p:nvSpPr>
          <p:cNvPr id="6" name="">
            <a:extLst xmlns:a="http://schemas.openxmlformats.org/drawingml/2006/main">
              <a:ext uri="{FF2B5EF4-FFF2-40B4-BE49-F238E27FC236}">
                <a16:creationId xmlns:a16="http://schemas.microsoft.com/office/drawing/2014/main" id="{808A43AD-3DF9-4C52-8AFA-A590EC9DD41A}"/>
              </a:ext>
            </a:extLst>
          </p:cNvPr>
          <p:cNvSpPr>
            <a:spLocks xmlns:a="http://schemas.openxmlformats.org/drawingml/2006/main" noGrp="1"/>
          </p:cNvSpPr>
          <p:nvPr/>
        </p:nvSpPr>
        <p:spPr>
          <a:xfrm xmlns:a="http://schemas.openxmlformats.org/drawingml/2006/main">
            <a:off x="62484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Later models use earlier models' hints</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Starting from similar hints,</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similar hard words can remain</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More training and averaging alone</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struggle to fix shared errors</a:t>
            </a:r>
          </a:p>
        </p:txBody>
      </p:sp>
      <p:sp>
        <p:nvSpPr>
          <p:cNvPr id="7" name="">
            <a:extLst xmlns:a="http://schemas.openxmlformats.org/drawingml/2006/main">
              <a:ext uri="{FF2B5EF4-FFF2-40B4-BE49-F238E27FC236}">
                <a16:creationId xmlns:a16="http://schemas.microsoft.com/office/drawing/2014/main" id="{1DBE23E1-3A63-464E-95E5-51FA390B5A4F}"/>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Team B split the work: generate candidates, then select</a:t>
            </a:r>
          </a:p>
        </p:txBody>
      </p:sp>
      <p:sp>
        <p:nvSpPr>
          <p:cNvPr id="8" name="">
            <a:extLst xmlns:a="http://schemas.openxmlformats.org/drawingml/2006/main">
              <a:ext uri="{FF2B5EF4-FFF2-40B4-BE49-F238E27FC236}">
                <a16:creationId xmlns:a16="http://schemas.microsoft.com/office/drawing/2014/main" id="{1A828376-5B93-4494-BE54-BB02131520AA}"/>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14</a:t>
            </a:r>
          </a:p>
        </p:txBody>
      </p:sp>
    </p:spTree>
    <p:extLst>
      <p:ext uri="{BB962C8B-B14F-4D97-AF65-F5344CB8AC3E}">
        <p14:creationId xmlns:p14="http://schemas.microsoft.com/office/powerpoint/2010/main" val="3688796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281A70-9DD1-4E07-BAA9-A8BF9BD8EC9A}"/>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8ADB9FED-54FF-4962-BFF3-AE973613EA60}"/>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B: re-pick only disputed words by context</a:t>
            </a:r>
          </a:p>
        </p:txBody>
      </p:sp>
      <p:sp>
        <p:nvSpPr>
          <p:cNvPr id="3" name="">
            <a:extLst xmlns:a="http://schemas.openxmlformats.org/drawingml/2006/main">
              <a:ext uri="{FF2B5EF4-FFF2-40B4-BE49-F238E27FC236}">
                <a16:creationId xmlns:a16="http://schemas.microsoft.com/office/drawing/2014/main" id="{0633BB1A-9D72-4C60-83AA-CB4551E73638}"/>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Collect candidates</a:t>
            </a:r>
          </a:p>
        </p:txBody>
      </p:sp>
      <p:sp>
        <p:nvSpPr>
          <p:cNvPr id="4" name="">
            <a:extLst xmlns:a="http://schemas.openxmlformats.org/drawingml/2006/main">
              <a:ext uri="{FF2B5EF4-FFF2-40B4-BE49-F238E27FC236}">
                <a16:creationId xmlns:a16="http://schemas.microsoft.com/office/drawing/2014/main" id="{4F878982-1420-4D60-AD97-0299B6B69CB1}"/>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Gather words that differ across runs' restorations</a:t>
            </a:r>
          </a:p>
        </p:txBody>
      </p:sp>
      <p:sp>
        <p:nvSpPr>
          <p:cNvPr id="5" name="">
            <a:extLst xmlns:a="http://schemas.openxmlformats.org/drawingml/2006/main">
              <a:ext uri="{FF2B5EF4-FFF2-40B4-BE49-F238E27FC236}">
                <a16:creationId xmlns:a16="http://schemas.microsoft.com/office/drawing/2014/main" id="{4CB20529-5163-42A1-985B-A09F24931F9B}"/>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Score context</a:t>
            </a:r>
          </a:p>
        </p:txBody>
      </p:sp>
      <p:sp>
        <p:nvSpPr>
          <p:cNvPr id="6" name="">
            <a:extLst xmlns:a="http://schemas.openxmlformats.org/drawingml/2006/main">
              <a:ext uri="{FF2B5EF4-FFF2-40B4-BE49-F238E27FC236}">
                <a16:creationId xmlns:a16="http://schemas.microsoft.com/office/drawing/2014/main" id="{AC4898EE-FD9E-4511-BA53-C24EED169B59}"/>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A public language model rates how natural each candidate is in context</a:t>
            </a:r>
          </a:p>
        </p:txBody>
      </p:sp>
      <p:sp>
        <p:nvSpPr>
          <p:cNvPr id="7" name="">
            <a:extLst xmlns:a="http://schemas.openxmlformats.org/drawingml/2006/main">
              <a:ext uri="{FF2B5EF4-FFF2-40B4-BE49-F238E27FC236}">
                <a16:creationId xmlns:a16="http://schemas.microsoft.com/office/drawing/2014/main" id="{FE7C474E-1453-43AB-8CDF-176E58D9ECA0}"/>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Combine and choose</a:t>
            </a:r>
          </a:p>
        </p:txBody>
      </p:sp>
      <p:sp>
        <p:nvSpPr>
          <p:cNvPr id="8" name="">
            <a:extLst xmlns:a="http://schemas.openxmlformats.org/drawingml/2006/main">
              <a:ext uri="{FF2B5EF4-FFF2-40B4-BE49-F238E27FC236}">
                <a16:creationId xmlns:a16="http://schemas.microsoft.com/office/drawing/2014/main" id="{54520669-4183-4200-89CD-694944FCAF92}"/>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Add dictionary and run information; weights set on OOF</a:t>
            </a:r>
          </a:p>
        </p:txBody>
      </p:sp>
      <p:sp>
        <p:nvSpPr>
          <p:cNvPr id="9" name="">
            <a:extLst xmlns:a="http://schemas.openxmlformats.org/drawingml/2006/main">
              <a:ext uri="{FF2B5EF4-FFF2-40B4-BE49-F238E27FC236}">
                <a16:creationId xmlns:a16="http://schemas.microsoft.com/office/drawing/2014/main" id="{F6868BEC-B3C5-49CA-82C7-1EC863F2B5CD}"/>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Language model polyglot-ko-5.8b only scores, with no training</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Selection can only fix a word if the answer is among the candidates.</a:t>
            </a:r>
          </a:p>
        </p:txBody>
      </p:sp>
      <p:sp>
        <p:nvSpPr>
          <p:cNvPr id="10" name="">
            <a:extLst xmlns:a="http://schemas.openxmlformats.org/drawingml/2006/main">
              <a:ext uri="{FF2B5EF4-FFF2-40B4-BE49-F238E27FC236}">
                <a16:creationId xmlns:a16="http://schemas.microsoft.com/office/drawing/2014/main" id="{F6562B8E-A916-470D-9067-DE0934D165F2}"/>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Team B's core question: which of the models' words fits the context?</a:t>
            </a:r>
          </a:p>
        </p:txBody>
      </p:sp>
      <p:sp>
        <p:nvSpPr>
          <p:cNvPr id="11" name="">
            <a:extLst xmlns:a="http://schemas.openxmlformats.org/drawingml/2006/main">
              <a:ext uri="{FF2B5EF4-FFF2-40B4-BE49-F238E27FC236}">
                <a16:creationId xmlns:a16="http://schemas.microsoft.com/office/drawing/2014/main" id="{7C8CF5A8-BEF7-4DF5-B2BD-00E4619E0B8D}"/>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15</a:t>
            </a:r>
          </a:p>
        </p:txBody>
      </p:sp>
    </p:spTree>
    <p:extLst>
      <p:ext uri="{BB962C8B-B14F-4D97-AF65-F5344CB8AC3E}">
        <p14:creationId xmlns:p14="http://schemas.microsoft.com/office/powerpoint/2010/main" val="18526753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3E4365-6968-4877-A584-9A8399F56EE8}"/>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31F87DED-2BD7-4A1A-995C-80A4A57BFA62}"/>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B: candidate diversity beat selector size</a:t>
            </a:r>
          </a:p>
        </p:txBody>
      </p:sp>
      <p:graphicFrame>
        <p:nvGraphicFramePr>
          <p:cNvPr id="3" name="">
            <a:extLst xmlns:a="http://schemas.openxmlformats.org/drawingml/2006/main">
              <a:ext uri="{FF2B5EF4-FFF2-40B4-BE49-F238E27FC236}">
                <a16:creationId xmlns:a16="http://schemas.microsoft.com/office/drawing/2014/main" id="{BF42B1D0-8E20-4DBB-AFE0-C25E7D7A4A36}"/>
              </a:ext>
            </a:extLst>
          </p:cNvPr>
          <p:cNvGraphicFramePr/>
          <p:nvPr/>
        </p:nvGraphicFramePr>
        <p:xfrm>
          <a:off xmlns:a="http://schemas.openxmlformats.org/drawingml/2006/main" x="685800" y="1619250"/>
          <a:ext xmlns:a="http://schemas.openxmlformats.org/drawingml/2006/main" cx="10820400" cy="3257550"/>
        </p:xfrm>
        <a:graphic xmlns:a="http://schemas.openxmlformats.org/drawingml/2006/main">
          <a:graphicData uri="http://schemas.openxmlformats.org/drawingml/2006/table">
            <a:tbl>
              <a:tblPr/>
              <a:tblGrid>
                <a:gridCol w="2286000"/>
                <a:gridCol w="3486150"/>
                <a:gridCol w="2533650"/>
                <a:gridCol w="2514600"/>
              </a:tblGrid>
              <a:tr h="651510">
                <a:tc>
                  <a:txBody>
                    <a:bodyPr/>
                    <a:lstStyle/>
                    <a:p>
                      <a:r>
                        <a:rPr sz="1800" b="1">
                          <a:solidFill>
                            <a:srgbClr val="FFFFFF"/>
                          </a:solidFill>
                          <a:latin typeface="Pretendard"/>
                          <a:ea typeface="Pretendard"/>
                          <a:cs typeface="Pretendard"/>
                        </a:rPr>
                        <a:t>Candidate runs</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Errors left with best candidate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OOF char accuracy</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Public F1</a:t>
                      </a:r>
                    </a:p>
                  </a:txBody>
                  <a:tcPr marL="133350" marR="133350" marT="95250" marB="95250" anchor="ctr">
                    <a:solidFill>
                      <a:srgbClr val="1B2333"/>
                    </a:solidFill>
                  </a:tcPr>
                </a:tc>
              </a:tr>
              <a:tr h="651510">
                <a:tc>
                  <a:txBody>
                    <a:bodyPr/>
                    <a:lstStyle/>
                    <a:p>
                      <a:r>
                        <a:rPr sz="1800" b="0">
                          <a:solidFill>
                            <a:srgbClr val="1B2333"/>
                          </a:solidFill>
                          <a:latin typeface="Pretendard"/>
                          <a:ea typeface="Pretendard"/>
                          <a:cs typeface="Pretendard"/>
                        </a:rPr>
                        <a:t>4</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7,540 chars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0.98628</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0.98481</a:t>
                      </a:r>
                    </a:p>
                  </a:txBody>
                  <a:tcPr marL="133350" marR="133350" marT="95250" marB="95250" anchor="ctr">
                    <a:solidFill>
                      <a:srgbClr val="F4F6F9"/>
                    </a:solidFill>
                  </a:tcPr>
                </a:tc>
              </a:tr>
              <a:tr h="651510">
                <a:tc>
                  <a:txBody>
                    <a:bodyPr/>
                    <a:lstStyle/>
                    <a:p>
                      <a:r>
                        <a:rPr sz="1800" b="0">
                          <a:solidFill>
                            <a:srgbClr val="1B2333"/>
                          </a:solidFill>
                          <a:latin typeface="Pretendard"/>
                          <a:ea typeface="Pretendard"/>
                          <a:cs typeface="Pretendard"/>
                        </a:rPr>
                        <a:t>7</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6,708 chars</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0.98948</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0.98704</a:t>
                      </a:r>
                    </a:p>
                  </a:txBody>
                  <a:tcPr marL="133350" marR="133350" marT="95250" marB="95250" anchor="ctr">
                    <a:solidFill>
                      <a:srgbClr val="FFFFFF"/>
                    </a:solidFill>
                  </a:tcPr>
                </a:tc>
              </a:tr>
              <a:tr h="651510">
                <a:tc>
                  <a:txBody>
                    <a:bodyPr/>
                    <a:lstStyle/>
                    <a:p>
                      <a:r>
                        <a:rPr sz="1800" b="0">
                          <a:solidFill>
                            <a:srgbClr val="1B2333"/>
                          </a:solidFill>
                          <a:latin typeface="Pretendard"/>
                          <a:ea typeface="Pretendard"/>
                          <a:cs typeface="Pretendard"/>
                        </a:rPr>
                        <a:t>8</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5,662 chars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0.99108</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0.98887</a:t>
                      </a:r>
                    </a:p>
                  </a:txBody>
                  <a:tcPr marL="133350" marR="133350" marT="95250" marB="95250" anchor="ctr">
                    <a:solidFill>
                      <a:srgbClr val="F4F6F9"/>
                    </a:solidFill>
                  </a:tcPr>
                </a:tc>
              </a:tr>
              <a:tr h="651510">
                <a:tc>
                  <a:txBody>
                    <a:bodyPr/>
                    <a:lstStyle/>
                    <a:p>
                      <a:r>
                        <a:rPr sz="1800" b="0">
                          <a:solidFill>
                            <a:srgbClr val="1B2333"/>
                          </a:solidFill>
                          <a:latin typeface="Pretendard"/>
                          <a:ea typeface="Pretendard"/>
                          <a:cs typeface="Pretendard"/>
                        </a:rPr>
                        <a:t>9</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5,441 chars</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0.99146</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0.98908</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6667DF9-A256-4D7B-96B3-1933AD11F9F6}"/>
              </a:ext>
            </a:extLst>
          </p:cNvPr>
          <p:cNvSpPr>
            <a:spLocks xmlns:a="http://schemas.openxmlformats.org/drawingml/2006/main" noGrp="1"/>
          </p:cNvSpPr>
          <p:nvPr/>
        </p:nvSpPr>
        <p:spPr>
          <a:xfrm xmlns:a="http://schemas.openxmlformats.org/drawingml/2006/main">
            <a:off x="685800" y="50863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Extra runs helped even with lower solo accuracy (0.979–0.983).</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Growing the language model from 1.3b to 5.8b gave only OOF +0.00006.</a:t>
            </a:r>
          </a:p>
        </p:txBody>
      </p:sp>
      <p:sp>
        <p:nvSpPr>
          <p:cNvPr id="5" name="">
            <a:extLst xmlns:a="http://schemas.openxmlformats.org/drawingml/2006/main">
              <a:ext uri="{FF2B5EF4-FFF2-40B4-BE49-F238E27FC236}">
                <a16:creationId xmlns:a16="http://schemas.microsoft.com/office/drawing/2014/main" id="{AE4F075A-8D99-499F-8405-21F0668C806C}"/>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Models that are right in different places supplied more correct candidates</a:t>
            </a:r>
          </a:p>
        </p:txBody>
      </p:sp>
      <p:sp>
        <p:nvSpPr>
          <p:cNvPr id="6" name="">
            <a:extLst xmlns:a="http://schemas.openxmlformats.org/drawingml/2006/main">
              <a:ext uri="{FF2B5EF4-FFF2-40B4-BE49-F238E27FC236}">
                <a16:creationId xmlns:a16="http://schemas.microsoft.com/office/drawing/2014/main" id="{6D6EE7BB-EBEC-4293-831B-9ABF389D4BAB}"/>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16</a:t>
            </a:r>
          </a:p>
        </p:txBody>
      </p:sp>
    </p:spTree>
    <p:extLst>
      <p:ext uri="{BB962C8B-B14F-4D97-AF65-F5344CB8AC3E}">
        <p14:creationId xmlns:p14="http://schemas.microsoft.com/office/powerpoint/2010/main" val="3620588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2E7B2B-C94E-4BD9-B6EC-D1B9D0041AB7}"/>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4A11F05A-80BA-46B9-8BFA-14183FE89167}"/>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Character correction vs word candidate selection</a:t>
            </a:r>
          </a:p>
        </p:txBody>
      </p:sp>
      <p:graphicFrame>
        <p:nvGraphicFramePr>
          <p:cNvPr id="3" name="">
            <a:extLst xmlns:a="http://schemas.openxmlformats.org/drawingml/2006/main">
              <a:ext uri="{FF2B5EF4-FFF2-40B4-BE49-F238E27FC236}">
                <a16:creationId xmlns:a16="http://schemas.microsoft.com/office/drawing/2014/main" id="{FFE044AF-A130-4E51-B19E-D515EB773F8A}"/>
              </a:ext>
            </a:extLst>
          </p:cNvPr>
          <p:cNvGraphicFramePr/>
          <p:nvPr/>
        </p:nvGraphicFramePr>
        <p:xfrm>
          <a:off xmlns:a="http://schemas.openxmlformats.org/drawingml/2006/main" x="685800" y="1619250"/>
          <a:ext xmlns:a="http://schemas.openxmlformats.org/drawingml/2006/main" cx="10820400" cy="2743200"/>
        </p:xfrm>
        <a:graphic xmlns:a="http://schemas.openxmlformats.org/drawingml/2006/main">
          <a:graphicData uri="http://schemas.openxmlformats.org/drawingml/2006/table">
            <a:tbl>
              <a:tblPr/>
              <a:tblGrid>
                <a:gridCol w="2667000"/>
                <a:gridCol w="4076700"/>
                <a:gridCol w="4076700"/>
              </a:tblGrid>
              <a:tr h="685800">
                <a:tc>
                  <a:txBody>
                    <a:bodyPr/>
                    <a:lstStyle/>
                    <a:p>
                      <a:r>
                        <a:rPr sz="1800" b="1">
                          <a:solidFill>
                            <a:srgbClr val="FFFFFF"/>
                          </a:solidFill>
                          <a:latin typeface="Pretendard"/>
                          <a:ea typeface="Pretendard"/>
                          <a:cs typeface="Pretendard"/>
                        </a:rPr>
                        <a:t>Criterion</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A: iterative correction</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B: candidate selection</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Final decision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Which character of the current</a:t>
                      </a:r>
                    </a:p>
                    <a:p>
                      <a:r>
                        <a:rPr sz="1800" b="0">
                          <a:solidFill>
                            <a:srgbClr val="1B2333"/>
                          </a:solidFill>
                          <a:latin typeface="Pretendard"/>
                          <a:ea typeface="Pretendard"/>
                          <a:cs typeface="Pretendard"/>
                        </a:rPr>
                        <a:t>restoration to edit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Which word to pick among</a:t>
                      </a:r>
                    </a:p>
                    <a:p>
                      <a:r>
                        <a:rPr sz="1800" b="0">
                          <a:solidFill>
                            <a:srgbClr val="1B2333"/>
                          </a:solidFill>
                          <a:latin typeface="Pretendard"/>
                          <a:ea typeface="Pretendard"/>
                          <a:cs typeface="Pretendard"/>
                        </a:rPr>
                        <a:t>the runs' candidates</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Main evidence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Restored context and original jamo,</a:t>
                      </a:r>
                    </a:p>
                    <a:p>
                      <a:r>
                        <a:rPr sz="1800" b="0">
                          <a:solidFill>
                            <a:srgbClr val="1B2333"/>
                          </a:solidFill>
                          <a:latin typeface="Pretendard"/>
                          <a:ea typeface="Pretendard"/>
                          <a:cs typeface="Pretendard"/>
                        </a:rPr>
                        <a:t>a bias toward keeping the current character</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Language-model context score,</a:t>
                      </a:r>
                    </a:p>
                    <a:p>
                      <a:r>
                        <a:rPr sz="1800" b="0">
                          <a:solidFill>
                            <a:srgbClr val="1B2333"/>
                          </a:solidFill>
                          <a:latin typeface="Pretendard"/>
                          <a:ea typeface="Pretendard"/>
                          <a:cs typeface="Pretendard"/>
                        </a:rPr>
                        <a:t>dictionary and run information</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Remaining limit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Edits can create new errors, so</a:t>
                      </a:r>
                    </a:p>
                    <a:p>
                      <a:r>
                        <a:rPr sz="1800" b="0">
                          <a:solidFill>
                            <a:srgbClr val="1B2333"/>
                          </a:solidFill>
                          <a:latin typeface="Pretendard"/>
                          <a:ea typeface="Pretendard"/>
                          <a:cs typeface="Pretendard"/>
                        </a:rPr>
                        <a:t>strength and iterations need validation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If every run has the same error,</a:t>
                      </a:r>
                    </a:p>
                    <a:p>
                      <a:r>
                        <a:rPr sz="1800" b="0">
                          <a:solidFill>
                            <a:srgbClr val="1B2333"/>
                          </a:solidFill>
                          <a:latin typeface="Pretendard"/>
                          <a:ea typeface="Pretendard"/>
                          <a:cs typeface="Pretendard"/>
                        </a:rPr>
                        <a:t>the answer is not a candidate</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16F5D290-6DAD-4934-83EF-262A41DD981E}"/>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Team A focused on edit reliability; Team B on securing the right candidate</a:t>
            </a:r>
          </a:p>
        </p:txBody>
      </p:sp>
      <p:sp>
        <p:nvSpPr>
          <p:cNvPr id="5" name="">
            <a:extLst xmlns:a="http://schemas.openxmlformats.org/drawingml/2006/main">
              <a:ext uri="{FF2B5EF4-FFF2-40B4-BE49-F238E27FC236}">
                <a16:creationId xmlns:a16="http://schemas.microsoft.com/office/drawing/2014/main" id="{869DA890-3211-43AE-9B60-73F4C9FDFDB1}"/>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17</a:t>
            </a:r>
          </a:p>
        </p:txBody>
      </p:sp>
    </p:spTree>
    <p:extLst>
      <p:ext uri="{BB962C8B-B14F-4D97-AF65-F5344CB8AC3E}">
        <p14:creationId xmlns:p14="http://schemas.microsoft.com/office/powerpoint/2010/main" val="3110497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59DBC7-AD6C-4E7A-959D-4DB8A97280EF}"/>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17A1D29D-5521-49AE-8ADC-EE25F821BEBC}"/>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A results: stage 2 correction was the biggest jump</a:t>
            </a:r>
          </a:p>
        </p:txBody>
      </p:sp>
      <p:graphicFrame>
        <p:nvGraphicFramePr>
          <p:cNvPr id="3" name="Chart">
            <a:extLst xmlns:a="http://schemas.openxmlformats.org/drawingml/2006/main">
              <a:ext uri="{FF2B5EF4-FFF2-40B4-BE49-F238E27FC236}">
                <a16:creationId xmlns:a16="http://schemas.microsoft.com/office/drawing/2014/main" id="{F5177800-4300-407A-BFFF-8928EAD3AD90}"/>
              </a:ext>
            </a:extLst>
          </p:cNvPr>
          <p:cNvGraphicFramePr/>
          <p:nvPr/>
        </p:nvGraphicFramePr>
        <p:xfrm>
          <a:off xmlns:a="http://schemas.openxmlformats.org/drawingml/2006/main" x="685800" y="1657350"/>
          <a:ext xmlns:a="http://schemas.openxmlformats.org/drawingml/2006/main" cx="10820400" cy="3238500"/>
        </p:xfrm>
        <a:graphic xmlns:a="http://schemas.openxmlformats.org/drawingml/2006/main">
          <a:graphicData uri="http://schemas.openxmlformats.org/drawingml/2006/chart">
            <c:chart xmlns:r="http://schemas.openxmlformats.org/officeDocument/2006/relationships" xmlns:c="http://schemas.openxmlformats.org/drawingml/2006/chart" r:id="R4bb7cfe51e96473e"/>
          </a:graphicData>
        </a:graphic>
      </p:graphicFrame>
      <p:sp>
        <p:nvSpPr>
          <p:cNvPr id="4" name="">
            <a:extLst xmlns:a="http://schemas.openxmlformats.org/drawingml/2006/main">
              <a:ext uri="{FF2B5EF4-FFF2-40B4-BE49-F238E27FC236}">
                <a16:creationId xmlns:a16="http://schemas.microsoft.com/office/drawing/2014/main" id="{D1BFFABB-85E4-468E-8783-715EDEECD77D}"/>
              </a:ext>
            </a:extLst>
          </p:cNvPr>
          <p:cNvSpPr>
            <a:spLocks xmlns:a="http://schemas.openxmlformats.org/drawingml/2006/main" noGrp="1"/>
          </p:cNvSpPr>
          <p:nvPr/>
        </p:nvSpPr>
        <p:spPr>
          <a:xfrm xmlns:a="http://schemas.openxmlformats.org/drawingml/2006/main">
            <a:off x="685800" y="516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Leaderboard F1. The rise from 0.980 to 0.98473 came with stage 2 correction</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Source deck shows the final value as 0.989</a:t>
            </a:r>
          </a:p>
        </p:txBody>
      </p:sp>
      <p:sp>
        <p:nvSpPr>
          <p:cNvPr id="5" name="">
            <a:extLst xmlns:a="http://schemas.openxmlformats.org/drawingml/2006/main">
              <a:ext uri="{FF2B5EF4-FFF2-40B4-BE49-F238E27FC236}">
                <a16:creationId xmlns:a16="http://schemas.microsoft.com/office/drawing/2014/main" id="{C3C5E11D-6533-41FD-8EAE-3522763EDF35}"/>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Team A cut major errors by re-reading the restored text</a:t>
            </a:r>
          </a:p>
        </p:txBody>
      </p:sp>
      <p:sp>
        <p:nvSpPr>
          <p:cNvPr id="6" name="">
            <a:extLst xmlns:a="http://schemas.openxmlformats.org/drawingml/2006/main">
              <a:ext uri="{FF2B5EF4-FFF2-40B4-BE49-F238E27FC236}">
                <a16:creationId xmlns:a16="http://schemas.microsoft.com/office/drawing/2014/main" id="{C96175A7-005F-4169-A083-BD888EA1E44F}"/>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18</a:t>
            </a:r>
          </a:p>
        </p:txBody>
      </p:sp>
    </p:spTree>
    <p:extLst>
      <p:ext uri="{BB962C8B-B14F-4D97-AF65-F5344CB8AC3E}">
        <p14:creationId xmlns:p14="http://schemas.microsoft.com/office/powerpoint/2010/main" val="14232014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8F23C5-DE82-46FC-A51E-FB91A1288E34}"/>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4C857F72-E52D-437E-8365-52821ED4955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Team B results: jump after diversifying candidates</a:t>
            </a:r>
          </a:p>
        </p:txBody>
      </p:sp>
      <p:graphicFrame>
        <p:nvGraphicFramePr>
          <p:cNvPr id="3" name="Chart">
            <a:extLst xmlns:a="http://schemas.openxmlformats.org/drawingml/2006/main">
              <a:ext uri="{FF2B5EF4-FFF2-40B4-BE49-F238E27FC236}">
                <a16:creationId xmlns:a16="http://schemas.microsoft.com/office/drawing/2014/main" id="{11976A84-7E41-4D15-9DD9-07BA995428CD}"/>
              </a:ext>
            </a:extLst>
          </p:cNvPr>
          <p:cNvGraphicFramePr/>
          <p:nvPr/>
        </p:nvGraphicFramePr>
        <p:xfrm>
          <a:off xmlns:a="http://schemas.openxmlformats.org/drawingml/2006/main" x="685800" y="1657350"/>
          <a:ext xmlns:a="http://schemas.openxmlformats.org/drawingml/2006/main" cx="10820400" cy="3238500"/>
        </p:xfrm>
        <a:graphic xmlns:a="http://schemas.openxmlformats.org/drawingml/2006/main">
          <a:graphicData uri="http://schemas.openxmlformats.org/drawingml/2006/chart">
            <c:chart xmlns:r="http://schemas.openxmlformats.org/officeDocument/2006/relationships" xmlns:c="http://schemas.openxmlformats.org/drawingml/2006/chart" r:id="Rad11e34683f44d89"/>
          </a:graphicData>
        </a:graphic>
      </p:graphicFrame>
      <p:sp>
        <p:nvSpPr>
          <p:cNvPr id="4" name="">
            <a:extLst xmlns:a="http://schemas.openxmlformats.org/drawingml/2006/main">
              <a:ext uri="{FF2B5EF4-FFF2-40B4-BE49-F238E27FC236}">
                <a16:creationId xmlns:a16="http://schemas.microsoft.com/office/drawing/2014/main" id="{B91C1896-5460-40D8-B0A6-95ED2ECECBA5}"/>
              </a:ext>
            </a:extLst>
          </p:cNvPr>
          <p:cNvSpPr>
            <a:spLocks xmlns:a="http://schemas.openxmlformats.org/drawingml/2006/main" noGrp="1"/>
          </p:cNvSpPr>
          <p:nvPr/>
        </p:nvSpPr>
        <p:spPr>
          <a:xfrm xmlns:a="http://schemas.openxmlformats.org/drawingml/2006/main">
            <a:off x="685800" y="516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Public F1. Expanding from 4 to 9 candidate runs: 0.98481 to 0.98908</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Practice submissions made after the competition closed</a:t>
            </a:r>
          </a:p>
        </p:txBody>
      </p:sp>
      <p:sp>
        <p:nvSpPr>
          <p:cNvPr id="5" name="">
            <a:extLst xmlns:a="http://schemas.openxmlformats.org/drawingml/2006/main">
              <a:ext uri="{FF2B5EF4-FFF2-40B4-BE49-F238E27FC236}">
                <a16:creationId xmlns:a16="http://schemas.microsoft.com/office/drawing/2014/main" id="{6B057EB0-111E-4E22-AE81-0F9AD2B83B13}"/>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Team B then cut remaining errors with candidate selection and diversity</a:t>
            </a:r>
          </a:p>
        </p:txBody>
      </p:sp>
      <p:sp>
        <p:nvSpPr>
          <p:cNvPr id="6" name="">
            <a:extLst xmlns:a="http://schemas.openxmlformats.org/drawingml/2006/main">
              <a:ext uri="{FF2B5EF4-FFF2-40B4-BE49-F238E27FC236}">
                <a16:creationId xmlns:a16="http://schemas.microsoft.com/office/drawing/2014/main" id="{43BF4513-1675-4380-9073-A4E6E7419AE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19</a:t>
            </a:r>
          </a:p>
        </p:txBody>
      </p:sp>
    </p:spTree>
    <p:extLst>
      <p:ext uri="{BB962C8B-B14F-4D97-AF65-F5344CB8AC3E}">
        <p14:creationId xmlns:p14="http://schemas.microsoft.com/office/powerpoint/2010/main" val="21463740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A709C0-E088-4083-A16C-AB5560B0188C}"/>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9C3FFD47-A27A-4F63-B0E8-A3721117F065}"/>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Improvement methods compared by purpose</a:t>
            </a:r>
          </a:p>
        </p:txBody>
      </p:sp>
      <p:graphicFrame>
        <p:nvGraphicFramePr>
          <p:cNvPr id="3" name="">
            <a:extLst xmlns:a="http://schemas.openxmlformats.org/drawingml/2006/main">
              <a:ext uri="{FF2B5EF4-FFF2-40B4-BE49-F238E27FC236}">
                <a16:creationId xmlns:a16="http://schemas.microsoft.com/office/drawing/2014/main" id="{B8C6CE60-E9F2-458A-85F1-D9AEFCEA8C0F}"/>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2667000"/>
                <a:gridCol w="4076700"/>
                <a:gridCol w="4076700"/>
              </a:tblGrid>
              <a:tr h="685800">
                <a:tc>
                  <a:txBody>
                    <a:bodyPr/>
                    <a:lstStyle/>
                    <a:p>
                      <a:r>
                        <a:rPr sz="1800" b="1">
                          <a:solidFill>
                            <a:srgbClr val="FFFFFF"/>
                          </a:solidFill>
                          <a:latin typeface="Pretendard"/>
                          <a:ea typeface="Pretendard"/>
                          <a:cs typeface="Pretendard"/>
                        </a:rPr>
                        <a:t>Purpose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A</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Team B</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New variants, long text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Partial restore, dictionary swaps,</a:t>
                      </a:r>
                    </a:p>
                    <a:p>
                      <a:r>
                        <a:rPr sz="1800" b="0">
                          <a:solidFill>
                            <a:srgbClr val="1B2333"/>
                          </a:solidFill>
                          <a:latin typeface="Pretendard"/>
                          <a:ea typeface="Pretendard"/>
                          <a:cs typeface="Pretendard"/>
                        </a:rPr>
                        <a:t>re-obfuscation, concatenation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More re-obfuscated copies,</a:t>
                      </a:r>
                    </a:p>
                    <a:p>
                      <a:r>
                        <a:rPr sz="1800" b="0">
                          <a:solidFill>
                            <a:srgbClr val="1B2333"/>
                          </a:solidFill>
                          <a:latin typeface="Pretendard"/>
                          <a:ea typeface="Pretendard"/>
                          <a:cs typeface="Pretendard"/>
                        </a:rPr>
                        <a:t>longer chunks, overlap inference</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Word knowledge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KcELECTRA corrector</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Word model + character model</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Fewer remaining errors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Copy bias, corruption training,</a:t>
                      </a:r>
                    </a:p>
                    <a:p>
                      <a:r>
                        <a:rPr sz="1800" b="0">
                          <a:solidFill>
                            <a:srgbClr val="1B2333"/>
                          </a:solidFill>
                          <a:latin typeface="Pretendard"/>
                          <a:ea typeface="Pretendard"/>
                          <a:cs typeface="Pretendard"/>
                        </a:rPr>
                        <a:t>iterative correction, ensemble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Constrained decoding, re-selection,</a:t>
                      </a:r>
                    </a:p>
                    <a:p>
                      <a:r>
                        <a:rPr sz="1800" b="0">
                          <a:solidFill>
                            <a:srgbClr val="1B2333"/>
                          </a:solidFill>
                          <a:latin typeface="Pretendard"/>
                          <a:ea typeface="Pretendard"/>
                          <a:cs typeface="Pretendard"/>
                        </a:rPr>
                        <a:t>runs from other families</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Avoid over-estimation</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OOF predictions, split by source,</a:t>
                      </a:r>
                    </a:p>
                    <a:p>
                      <a:r>
                        <a:rPr sz="1800" b="0">
                          <a:solidFill>
                            <a:srgbClr val="1B2333"/>
                          </a:solidFill>
                          <a:latin typeface="Pretendard"/>
                          <a:ea typeface="Pretendard"/>
                          <a:cs typeface="Pretendard"/>
                        </a:rPr>
                        <a:t>margin/rounds picked on validation</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OOF hints and score weights,</a:t>
                      </a:r>
                    </a:p>
                    <a:p>
                      <a:r>
                        <a:rPr sz="1800" b="0">
                          <a:solidFill>
                            <a:srgbClr val="1B2333"/>
                          </a:solidFill>
                          <a:latin typeface="Pretendard"/>
                          <a:ea typeface="Pretendard"/>
                          <a:cs typeface="Pretendard"/>
                        </a:rPr>
                        <a:t>scored on unseen sentences</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6F6A145-9F92-4BB4-8BBC-D6AD7FA44002}"/>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Shared: error analysis. Different: how the last errors are reduced</a:t>
            </a:r>
          </a:p>
        </p:txBody>
      </p:sp>
      <p:sp>
        <p:nvSpPr>
          <p:cNvPr id="5" name="">
            <a:extLst xmlns:a="http://schemas.openxmlformats.org/drawingml/2006/main">
              <a:ext uri="{FF2B5EF4-FFF2-40B4-BE49-F238E27FC236}">
                <a16:creationId xmlns:a16="http://schemas.microsoft.com/office/drawing/2014/main" id="{D70F76DC-57D5-4C8C-A5A8-C6418D43F907}"/>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20</a:t>
            </a:r>
          </a:p>
        </p:txBody>
      </p:sp>
    </p:spTree>
    <p:extLst>
      <p:ext uri="{BB962C8B-B14F-4D97-AF65-F5344CB8AC3E}">
        <p14:creationId xmlns:p14="http://schemas.microsoft.com/office/powerpoint/2010/main" val="16307329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0F98B-317F-48FA-9198-57077DA9C22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6126A51A-0DE2-4E5C-9818-7841A06B44DE}"/>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Attempts with small or negative effect</a:t>
            </a:r>
          </a:p>
        </p:txBody>
      </p:sp>
      <p:graphicFrame>
        <p:nvGraphicFramePr>
          <p:cNvPr id="3" name="">
            <a:extLst xmlns:a="http://schemas.openxmlformats.org/drawingml/2006/main">
              <a:ext uri="{FF2B5EF4-FFF2-40B4-BE49-F238E27FC236}">
                <a16:creationId xmlns:a16="http://schemas.microsoft.com/office/drawing/2014/main" id="{67325433-6998-4B4A-8565-76D7AA372C5C}"/>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3143250"/>
                <a:gridCol w="3352800"/>
                <a:gridCol w="4324350"/>
              </a:tblGrid>
              <a:tr h="685800">
                <a:tc>
                  <a:txBody>
                    <a:bodyPr/>
                    <a:lstStyle/>
                    <a:p>
                      <a:r>
                        <a:rPr sz="1800" b="1">
                          <a:solidFill>
                            <a:srgbClr val="FFFFFF"/>
                          </a:solidFill>
                          <a:latin typeface="Pretendard"/>
                          <a:ea typeface="Pretendard"/>
                          <a:cs typeface="Pretendard"/>
                        </a:rPr>
                        <a:t>Attempt</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Observed result</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Interpretation</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Team A: pretrained model only</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Validation 0.9807 &lt; 0.9817</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Unfamiliar input must first</a:t>
                      </a:r>
                    </a:p>
                    <a:p>
                      <a:r>
                        <a:rPr sz="1800" b="0">
                          <a:solidFill>
                            <a:srgbClr val="1B2333"/>
                          </a:solidFill>
                          <a:latin typeface="Pretendard"/>
                          <a:ea typeface="Pretendard"/>
                          <a:cs typeface="Pretendard"/>
                        </a:rPr>
                        <a:t>be made readable</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Team B: majority vote within one family</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OOF 0.98265 to</a:t>
                      </a:r>
                    </a:p>
                    <a:p>
                      <a:r>
                        <a:rPr sz="1800" b="0">
                          <a:solidFill>
                            <a:srgbClr val="1B2333"/>
                          </a:solidFill>
                          <a:latin typeface="Pretendard"/>
                          <a:ea typeface="Pretendard"/>
                          <a:cs typeface="Pretendard"/>
                        </a:rPr>
                        <a:t>0.98265~0.98268</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Combining similar errors</a:t>
                      </a:r>
                    </a:p>
                    <a:p>
                      <a:r>
                        <a:rPr sz="1800" b="0">
                          <a:solidFill>
                            <a:srgbClr val="1B2333"/>
                          </a:solidFill>
                          <a:latin typeface="Pretendard"/>
                          <a:ea typeface="Pretendard"/>
                          <a:cs typeface="Pretendard"/>
                        </a:rPr>
                        <a:t>leaves little room to improve</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Team B: forced dictionary correction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Broke more words</a:t>
                      </a:r>
                    </a:p>
                    <a:p>
                      <a:r>
                        <a:rPr sz="1800" b="0">
                          <a:solidFill>
                            <a:srgbClr val="1B2333"/>
                          </a:solidFill>
                          <a:latin typeface="Pretendard"/>
                          <a:ea typeface="Pretendard"/>
                          <a:cs typeface="Pretendard"/>
                        </a:rPr>
                        <a:t>than it fixed</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A familiar word is not</a:t>
                      </a:r>
                    </a:p>
                    <a:p>
                      <a:r>
                        <a:rPr sz="1800" b="0">
                          <a:solidFill>
                            <a:srgbClr val="1B2333"/>
                          </a:solidFill>
                          <a:latin typeface="Pretendard"/>
                          <a:ea typeface="Pretendard"/>
                          <a:cs typeface="Pretendard"/>
                        </a:rPr>
                        <a:t>necessarily right in context</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Team B: 96-char inference stride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0.9823 to 0.9822</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More overlap alone does not</a:t>
                      </a:r>
                    </a:p>
                    <a:p>
                      <a:r>
                        <a:rPr sz="1800" b="0">
                          <a:solidFill>
                            <a:srgbClr val="1B2333"/>
                          </a:solidFill>
                          <a:latin typeface="Pretendard"/>
                          <a:ea typeface="Pretendard"/>
                          <a:cs typeface="Pretendard"/>
                        </a:rPr>
                        <a:t>guarantee further gains</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1AA9EC8-FC6C-4EEA-9963-03FB6FF030FC}"/>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Bigger models, more iterations and more edits must pass validation</a:t>
            </a:r>
          </a:p>
        </p:txBody>
      </p:sp>
      <p:sp>
        <p:nvSpPr>
          <p:cNvPr id="5" name="">
            <a:extLst xmlns:a="http://schemas.openxmlformats.org/drawingml/2006/main">
              <a:ext uri="{FF2B5EF4-FFF2-40B4-BE49-F238E27FC236}">
                <a16:creationId xmlns:a16="http://schemas.microsoft.com/office/drawing/2014/main" id="{F7BA8753-6869-4533-BD7B-B8D4348377BC}"/>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21</a:t>
            </a:r>
          </a:p>
        </p:txBody>
      </p:sp>
    </p:spTree>
    <p:extLst>
      <p:ext uri="{BB962C8B-B14F-4D97-AF65-F5344CB8AC3E}">
        <p14:creationId xmlns:p14="http://schemas.microsoft.com/office/powerpoint/2010/main" val="8191470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D647F4-B5F2-43A1-AEB1-3FD9E98755AC}"/>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Team A vs Team B: Problem-Solving Comparison</a:t>
            </a:r>
          </a:p>
        </p:txBody>
      </p:sp>
      <p:sp>
        <p:nvSpPr>
          <p:cNvPr id="2" name="">
            <a:extLst xmlns:a="http://schemas.openxmlformats.org/drawingml/2006/main">
              <a:ext uri="{FF2B5EF4-FFF2-40B4-BE49-F238E27FC236}">
                <a16:creationId xmlns:a16="http://schemas.microsoft.com/office/drawing/2014/main" id="{90CDF341-E6DB-49C8-BE16-39B72046795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Lessons from two teams on the same problem</a:t>
            </a:r>
          </a:p>
        </p:txBody>
      </p:sp>
      <p:sp>
        <p:nvSpPr>
          <p:cNvPr id="3" name="">
            <a:extLst xmlns:a="http://schemas.openxmlformats.org/drawingml/2006/main">
              <a:ext uri="{FF2B5EF4-FFF2-40B4-BE49-F238E27FC236}">
                <a16:creationId xmlns:a16="http://schemas.microsoft.com/office/drawing/2014/main" id="{64A9BC42-0580-422C-B6B1-836702E4E01A}"/>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Team A: accurate edits</a:t>
            </a:r>
          </a:p>
        </p:txBody>
      </p:sp>
      <p:sp>
        <p:nvSpPr>
          <p:cNvPr id="4" name="">
            <a:extLst xmlns:a="http://schemas.openxmlformats.org/drawingml/2006/main">
              <a:ext uri="{FF2B5EF4-FFF2-40B4-BE49-F238E27FC236}">
                <a16:creationId xmlns:a16="http://schemas.microsoft.com/office/drawing/2014/main" id="{C94679D0-6AD7-4A4B-A895-F88F8879A3BF}"/>
              </a:ext>
            </a:extLst>
          </p:cNvPr>
          <p:cNvSpPr>
            <a:spLocks xmlns:a="http://schemas.openxmlformats.org/drawingml/2006/main" noGrp="1"/>
          </p:cNvSpPr>
          <p:nvPr/>
        </p:nvSpPr>
        <p:spPr>
          <a:xfrm xmlns:a="http://schemas.openxmlformats.org/drawingml/2006/main">
            <a:off x="685800" y="2400300"/>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Restore a readable sentence first</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Learn correction from real mistakes</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Keep correct characters while</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iteratively reducing remaining errors</a:t>
            </a:r>
          </a:p>
        </p:txBody>
      </p:sp>
      <p:sp>
        <p:nvSpPr>
          <p:cNvPr id="5" name="">
            <a:extLst xmlns:a="http://schemas.openxmlformats.org/drawingml/2006/main">
              <a:ext uri="{FF2B5EF4-FFF2-40B4-BE49-F238E27FC236}">
                <a16:creationId xmlns:a16="http://schemas.microsoft.com/office/drawing/2014/main" id="{E17D93BA-E538-4181-A7C4-EDE3F6119870}"/>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Team B: diverse candidates</a:t>
            </a:r>
          </a:p>
        </p:txBody>
      </p:sp>
      <p:sp>
        <p:nvSpPr>
          <p:cNvPr id="6" name="">
            <a:extLst xmlns:a="http://schemas.openxmlformats.org/drawingml/2006/main">
              <a:ext uri="{FF2B5EF4-FFF2-40B4-BE49-F238E27FC236}">
                <a16:creationId xmlns:a16="http://schemas.microsoft.com/office/drawing/2014/main" id="{969582B1-6631-4D79-B609-116D1B206EC0}"/>
              </a:ext>
            </a:extLst>
          </p:cNvPr>
          <p:cNvSpPr>
            <a:spLocks xmlns:a="http://schemas.openxmlformats.org/drawingml/2006/main" noGrp="1"/>
          </p:cNvSpPr>
          <p:nvPr/>
        </p:nvSpPr>
        <p:spPr>
          <a:xfrm xmlns:a="http://schemas.openxmlformats.org/drawingml/2006/main">
            <a:off x="6248400" y="2400300"/>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Restore with character and word knowledge</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Identify errors shared by the models</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Gather candidates from other families</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and re-select by context score</a:t>
            </a:r>
          </a:p>
        </p:txBody>
      </p:sp>
      <p:sp>
        <p:nvSpPr>
          <p:cNvPr id="7" name="">
            <a:extLst xmlns:a="http://schemas.openxmlformats.org/drawingml/2006/main">
              <a:ext uri="{FF2B5EF4-FFF2-40B4-BE49-F238E27FC236}">
                <a16:creationId xmlns:a16="http://schemas.microsoft.com/office/drawing/2014/main" id="{017D994D-7465-4831-8EDC-759C50E6A859}"/>
              </a:ext>
            </a:extLst>
          </p:cNvPr>
          <p:cNvSpPr>
            <a:spLocks xmlns:a="http://schemas.openxmlformats.org/drawingml/2006/main" noGrp="1"/>
          </p:cNvSpPr>
          <p:nvPr/>
        </p:nvSpPr>
        <p:spPr>
          <a:xfrm xmlns:a="http://schemas.openxmlformats.org/drawingml/2006/main">
            <a:off x="685800" y="5276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078"/>
                </a:solidFill>
                <a:latin typeface="Pretendard"/>
                <a:ea typeface="Pretendard"/>
                <a:cs typeface="Pretendard"/>
              </a:defRPr>
            </a:defPPr>
          </a:lstStyle>
          <a:p xmlns:a="http://schemas.openxmlformats.org/drawingml/2006/main">
            <a:pPr>
              <a:defRPr sz="1800" b="0">
                <a:solidFill>
                  <a:srgbClr val="526078"/>
                </a:solidFill>
                <a:latin typeface="Pretendard"/>
                <a:ea typeface="Pretendard"/>
                <a:cs typeface="Pretendard"/>
              </a:defRPr>
            </a:pPr>
            <a:r>
              <a:rPr sz="1800" b="0">
                <a:solidFill>
                  <a:srgbClr val="526078"/>
                </a:solidFill>
                <a:latin typeface="Pretendard"/>
                <a:ea typeface="Pretendard"/>
                <a:cs typeface="Pretendard"/>
              </a:rPr>
              <a:t>Team A leaderboard 0.989 / Team B Public 0.98908</a:t>
            </a:r>
          </a:p>
          <a:p xmlns:a="http://schemas.openxmlformats.org/drawingml/2006/main">
            <a:pPr>
              <a:defRPr sz="1800" b="0">
                <a:solidFill>
                  <a:srgbClr val="526078"/>
                </a:solidFill>
                <a:latin typeface="Pretendard"/>
                <a:ea typeface="Pretendard"/>
                <a:cs typeface="Pretendard"/>
              </a:defRPr>
            </a:pPr>
            <a:r>
              <a:rPr sz="1800" b="0">
                <a:solidFill>
                  <a:srgbClr val="526078"/>
                </a:solidFill>
                <a:latin typeface="Pretendard"/>
                <a:ea typeface="Pretendard"/>
                <a:cs typeface="Pretendard"/>
              </a:rPr>
              <a:t>Different display precision and conditions: the score gap alone cannot rank them.</a:t>
            </a:r>
          </a:p>
        </p:txBody>
      </p:sp>
      <p:sp>
        <p:nvSpPr>
          <p:cNvPr id="8" name="">
            <a:extLst xmlns:a="http://schemas.openxmlformats.org/drawingml/2006/main">
              <a:ext uri="{FF2B5EF4-FFF2-40B4-BE49-F238E27FC236}">
                <a16:creationId xmlns:a16="http://schemas.microsoft.com/office/drawing/2014/main" id="{4FD910E3-43AE-4FE1-AC2F-97A6E3A4E8EE}"/>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Data observation and error analysis decide the next design</a:t>
            </a:r>
          </a:p>
        </p:txBody>
      </p:sp>
      <p:sp>
        <p:nvSpPr>
          <p:cNvPr id="9" name="">
            <a:extLst xmlns:a="http://schemas.openxmlformats.org/drawingml/2006/main">
              <a:ext uri="{FF2B5EF4-FFF2-40B4-BE49-F238E27FC236}">
                <a16:creationId xmlns:a16="http://schemas.microsoft.com/office/drawing/2014/main" id="{35DB5B42-D03D-464C-B5AF-B8A998F9B800}"/>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22</a:t>
            </a:r>
          </a:p>
        </p:txBody>
      </p:sp>
    </p:spTree>
    <p:extLst>
      <p:ext uri="{BB962C8B-B14F-4D97-AF65-F5344CB8AC3E}">
        <p14:creationId xmlns:p14="http://schemas.microsoft.com/office/powerpoint/2010/main" val="15939868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D75146-8C13-49CD-A504-2BD50DBDDD57}"/>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Appendix</a:t>
            </a:r>
          </a:p>
        </p:txBody>
      </p:sp>
      <p:sp>
        <p:nvSpPr>
          <p:cNvPr id="2" name="">
            <a:extLst xmlns:a="http://schemas.openxmlformats.org/drawingml/2006/main">
              <a:ext uri="{FF2B5EF4-FFF2-40B4-BE49-F238E27FC236}">
                <a16:creationId xmlns:a16="http://schemas.microsoft.com/office/drawing/2014/main" id="{846EACF3-C6D4-4B0E-873C-316C2B31AB9E}"/>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Appendix: glossary for beginners</a:t>
            </a:r>
          </a:p>
        </p:txBody>
      </p:sp>
      <p:graphicFrame>
        <p:nvGraphicFramePr>
          <p:cNvPr id="3" name="">
            <a:extLst xmlns:a="http://schemas.openxmlformats.org/drawingml/2006/main">
              <a:ext uri="{FF2B5EF4-FFF2-40B4-BE49-F238E27FC236}">
                <a16:creationId xmlns:a16="http://schemas.microsoft.com/office/drawing/2014/main" id="{5B88F4F7-2067-49F2-A3F0-ACAB64FBB91A}"/>
              </a:ext>
            </a:extLst>
          </p:cNvPr>
          <p:cNvGraphicFramePr/>
          <p:nvPr/>
        </p:nvGraphicFramePr>
        <p:xfrm>
          <a:off xmlns:a="http://schemas.openxmlformats.org/drawingml/2006/main" x="685800" y="1619250"/>
          <a:ext xmlns:a="http://schemas.openxmlformats.org/drawingml/2006/main" cx="10820400" cy="4171950"/>
        </p:xfrm>
        <a:graphic xmlns:a="http://schemas.openxmlformats.org/drawingml/2006/main">
          <a:graphicData uri="http://schemas.openxmlformats.org/drawingml/2006/table">
            <a:tbl>
              <a:tblPr/>
              <a:tblGrid>
                <a:gridCol w="2952750"/>
                <a:gridCol w="7867650"/>
              </a:tblGrid>
              <a:tr h="595993">
                <a:tc>
                  <a:txBody>
                    <a:bodyPr/>
                    <a:lstStyle/>
                    <a:p>
                      <a:r>
                        <a:rPr sz="1800" b="1">
                          <a:solidFill>
                            <a:srgbClr val="FFFFFF"/>
                          </a:solidFill>
                          <a:latin typeface="Pretendard"/>
                          <a:ea typeface="Pretendard"/>
                          <a:cs typeface="Pretendard"/>
                        </a:rPr>
                        <a:t>Term</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Plain explanation</a:t>
                      </a:r>
                    </a:p>
                  </a:txBody>
                  <a:tcPr marL="133350" marR="133350" marT="95250" marB="95250" anchor="ctr">
                    <a:solidFill>
                      <a:srgbClr val="1B2333"/>
                    </a:solidFill>
                  </a:tcPr>
                </a:tc>
              </a:tr>
              <a:tr h="595993">
                <a:tc>
                  <a:txBody>
                    <a:bodyPr/>
                    <a:lstStyle/>
                    <a:p>
                      <a:r>
                        <a:rPr sz="1800" b="0">
                          <a:solidFill>
                            <a:srgbClr val="1B2333"/>
                          </a:solidFill>
                          <a:latin typeface="Pretendard"/>
                          <a:ea typeface="Pretendard"/>
                          <a:cs typeface="Pretendard"/>
                        </a:rPr>
                        <a:t>EDA</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Exploring data to find patterns and problems</a:t>
                      </a:r>
                    </a:p>
                  </a:txBody>
                  <a:tcPr marL="133350" marR="133350" marT="95250" marB="95250" anchor="ctr">
                    <a:solidFill>
                      <a:srgbClr val="F4F6F9"/>
                    </a:solidFill>
                  </a:tcPr>
                </a:tc>
              </a:tr>
              <a:tr h="595993">
                <a:tc>
                  <a:txBody>
                    <a:bodyPr/>
                    <a:lstStyle/>
                    <a:p>
                      <a:r>
                        <a:rPr sz="1800" b="0">
                          <a:solidFill>
                            <a:srgbClr val="1B2333"/>
                          </a:solidFill>
                          <a:latin typeface="Pretendard"/>
                          <a:ea typeface="Pretendard"/>
                          <a:cs typeface="Pretendard"/>
                        </a:rPr>
                        <a:t>Jamo / syllable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Initial, medial, final letters / one Hangul character made of them</a:t>
                      </a:r>
                    </a:p>
                  </a:txBody>
                  <a:tcPr marL="133350" marR="133350" marT="95250" marB="95250" anchor="ctr">
                    <a:solidFill>
                      <a:srgbClr val="FFFFFF"/>
                    </a:solidFill>
                  </a:tcPr>
                </a:tc>
              </a:tr>
              <a:tr h="595993">
                <a:tc>
                  <a:txBody>
                    <a:bodyPr/>
                    <a:lstStyle/>
                    <a:p>
                      <a:r>
                        <a:rPr sz="1800" b="0">
                          <a:solidFill>
                            <a:srgbClr val="1B2333"/>
                          </a:solidFill>
                          <a:latin typeface="Pretendard"/>
                          <a:ea typeface="Pretendard"/>
                          <a:cs typeface="Pretendard"/>
                        </a:rPr>
                        <a:t>OOF / fold</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Prediction by a model that never saw that sentence / one data split</a:t>
                      </a:r>
                    </a:p>
                  </a:txBody>
                  <a:tcPr marL="133350" marR="133350" marT="95250" marB="95250" anchor="ctr">
                    <a:solidFill>
                      <a:srgbClr val="F4F6F9"/>
                    </a:solidFill>
                  </a:tcPr>
                </a:tc>
              </a:tr>
              <a:tr h="595993">
                <a:tc>
                  <a:txBody>
                    <a:bodyPr/>
                    <a:lstStyle/>
                    <a:p>
                      <a:r>
                        <a:rPr sz="1800" b="0">
                          <a:solidFill>
                            <a:srgbClr val="1B2333"/>
                          </a:solidFill>
                          <a:latin typeface="Pretendard"/>
                          <a:ea typeface="Pretendard"/>
                          <a:cs typeface="Pretendard"/>
                        </a:rPr>
                        <a:t>Augmentation / ensemble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Extra examples from the given data / combining model predictions</a:t>
                      </a:r>
                    </a:p>
                  </a:txBody>
                  <a:tcPr marL="133350" marR="133350" marT="95250" marB="95250" anchor="ctr">
                    <a:solidFill>
                      <a:srgbClr val="FFFFFF"/>
                    </a:solidFill>
                  </a:tcPr>
                </a:tc>
              </a:tr>
              <a:tr h="595993">
                <a:tc>
                  <a:txBody>
                    <a:bodyPr/>
                    <a:lstStyle/>
                    <a:p>
                      <a:r>
                        <a:rPr sz="1800" b="0">
                          <a:solidFill>
                            <a:srgbClr val="1B2333"/>
                          </a:solidFill>
                          <a:latin typeface="Pretendard"/>
                          <a:ea typeface="Pretendard"/>
                          <a:cs typeface="Pretendard"/>
                        </a:rPr>
                        <a:t>Reranking / Public</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Re-scoring candidates to choose / public leaderboard score</a:t>
                      </a:r>
                    </a:p>
                  </a:txBody>
                  <a:tcPr marL="133350" marR="133350" marT="95250" marB="95250" anchor="ctr">
                    <a:solidFill>
                      <a:srgbClr val="F4F6F9"/>
                    </a:solidFill>
                  </a:tcPr>
                </a:tc>
              </a:tr>
              <a:tr h="595993">
                <a:tc>
                  <a:txBody>
                    <a:bodyPr/>
                    <a:lstStyle/>
                    <a:p>
                      <a:r>
                        <a:rPr sz="1800" b="0">
                          <a:solidFill>
                            <a:srgbClr val="1B2333"/>
                          </a:solidFill>
                          <a:latin typeface="Pretendard"/>
                          <a:ea typeface="Pretendard"/>
                          <a:cs typeface="Pretendard"/>
                        </a:rPr>
                        <a:t>F1 / char accuracy</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Competition metric / share of correct chars. Kept separate</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7562F2-B663-4030-ADE3-5D66EAB2FA4A}"/>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Understand which problem a technique solves before its name</a:t>
            </a:r>
          </a:p>
        </p:txBody>
      </p:sp>
      <p:sp>
        <p:nvSpPr>
          <p:cNvPr id="5" name="">
            <a:extLst xmlns:a="http://schemas.openxmlformats.org/drawingml/2006/main">
              <a:ext uri="{FF2B5EF4-FFF2-40B4-BE49-F238E27FC236}">
                <a16:creationId xmlns:a16="http://schemas.microsoft.com/office/drawing/2014/main" id="{06702AAF-F2E3-4D36-B876-F9BA8BB8C160}"/>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23</a:t>
            </a:r>
          </a:p>
        </p:txBody>
      </p:sp>
    </p:spTree>
    <p:extLst>
      <p:ext uri="{BB962C8B-B14F-4D97-AF65-F5344CB8AC3E}">
        <p14:creationId xmlns:p14="http://schemas.microsoft.com/office/powerpoint/2010/main" val="16931445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0A1D49-64AF-4C11-BB60-91E0C2D13BD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Appendix</a:t>
            </a:r>
          </a:p>
        </p:txBody>
      </p:sp>
      <p:sp>
        <p:nvSpPr>
          <p:cNvPr id="2" name="">
            <a:extLst xmlns:a="http://schemas.openxmlformats.org/drawingml/2006/main">
              <a:ext uri="{FF2B5EF4-FFF2-40B4-BE49-F238E27FC236}">
                <a16:creationId xmlns:a16="http://schemas.microsoft.com/office/drawing/2014/main" id="{9262A8AC-BC6F-45CE-BB46-BFD31A76EC4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Appendix: Team A model and training settings</a:t>
            </a:r>
          </a:p>
        </p:txBody>
      </p:sp>
      <p:graphicFrame>
        <p:nvGraphicFramePr>
          <p:cNvPr id="3" name="">
            <a:extLst xmlns:a="http://schemas.openxmlformats.org/drawingml/2006/main">
              <a:ext uri="{FF2B5EF4-FFF2-40B4-BE49-F238E27FC236}">
                <a16:creationId xmlns:a16="http://schemas.microsoft.com/office/drawing/2014/main" id="{90F597AA-2679-4C37-80C7-71676DB9A960}"/>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2381250"/>
                <a:gridCol w="8439150"/>
              </a:tblGrid>
              <a:tr h="685800">
                <a:tc>
                  <a:txBody>
                    <a:bodyPr/>
                    <a:lstStyle/>
                    <a:p>
                      <a:r>
                        <a:rPr sz="1800" b="1">
                          <a:solidFill>
                            <a:srgbClr val="FFFFFF"/>
                          </a:solidFill>
                          <a:latin typeface="Pretendard"/>
                          <a:ea typeface="Pretendard"/>
                          <a:cs typeface="Pretendard"/>
                        </a:rPr>
                        <a:t>Stage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Components and settings</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Stage 1 restore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Jamo embeddings, 6 RoPE layers (256-dim),</a:t>
                      </a:r>
                    </a:p>
                    <a:p>
                      <a:r>
                        <a:rPr sz="1800" b="0">
                          <a:solidFill>
                            <a:srgbClr val="1B2333"/>
                          </a:solidFill>
                          <a:latin typeface="Pretendard"/>
                          <a:ea typeface="Pretendard"/>
                          <a:cs typeface="Pretendard"/>
                        </a:rPr>
                        <a:t>top 6 layers of KoCharELECTRA-small, syllable classifier</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Stage 2 correct</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KcELECTRA-base, original and predicted jamo,</a:t>
                      </a:r>
                    </a:p>
                    <a:p>
                      <a:r>
                        <a:rPr sz="1800" b="0">
                          <a:solidFill>
                            <a:srgbClr val="1B2333"/>
                          </a:solidFill>
                          <a:latin typeface="Pretendard"/>
                          <a:ea typeface="Pretendard"/>
                          <a:cs typeface="Pretendard"/>
                        </a:rPr>
                        <a:t>2 RoPE layers (384-dim). About 130M parameters</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Data split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Stage 1: 5-fold OOF. Augmentation rules estimated on the training split</a:t>
                      </a:r>
                    </a:p>
                    <a:p>
                      <a:r>
                        <a:rPr sz="1800" b="0">
                          <a:solidFill>
                            <a:srgbClr val="1B2333"/>
                          </a:solidFill>
                          <a:latin typeface="Pretendard"/>
                          <a:ea typeface="Pretendard"/>
                          <a:cs typeface="Pretendard"/>
                        </a:rPr>
                        <a:t>Stage 2 validation sentences and their variants excluded from training</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Inference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Stage 2 training windows 510 chars, 128-char overlap</a:t>
                      </a:r>
                    </a:p>
                    <a:p>
                      <a:r>
                        <a:rPr sz="1800" b="0">
                          <a:solidFill>
                            <a:srgbClr val="1B2333"/>
                          </a:solidFill>
                          <a:latin typeface="Pretendard"/>
                          <a:ea typeface="Pretendard"/>
                          <a:cs typeface="Pretendard"/>
                        </a:rPr>
                        <a:t>copy margin and correction rounds chosen on validation</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CBD031A-ACD6-4EA8-BAF7-18DFD2103E9D}"/>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Combine word representations with original clues; set edit strength on validation</a:t>
            </a:r>
          </a:p>
        </p:txBody>
      </p:sp>
      <p:sp>
        <p:nvSpPr>
          <p:cNvPr id="5" name="">
            <a:extLst xmlns:a="http://schemas.openxmlformats.org/drawingml/2006/main">
              <a:ext uri="{FF2B5EF4-FFF2-40B4-BE49-F238E27FC236}">
                <a16:creationId xmlns:a16="http://schemas.microsoft.com/office/drawing/2014/main" id="{2DAF890B-2E40-4420-AA94-CB9D0EA997F1}"/>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24</a:t>
            </a:r>
          </a:p>
        </p:txBody>
      </p:sp>
    </p:spTree>
    <p:extLst>
      <p:ext uri="{BB962C8B-B14F-4D97-AF65-F5344CB8AC3E}">
        <p14:creationId xmlns:p14="http://schemas.microsoft.com/office/powerpoint/2010/main" val="6721853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CA1066-16BD-4CCB-A498-7E740CB94539}"/>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Appendix</a:t>
            </a:r>
          </a:p>
        </p:txBody>
      </p:sp>
      <p:sp>
        <p:nvSpPr>
          <p:cNvPr id="2" name="">
            <a:extLst xmlns:a="http://schemas.openxmlformats.org/drawingml/2006/main">
              <a:ext uri="{FF2B5EF4-FFF2-40B4-BE49-F238E27FC236}">
                <a16:creationId xmlns:a16="http://schemas.microsoft.com/office/drawing/2014/main" id="{105E9B52-7BBA-486C-8B0A-B0421A6D6768}"/>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Appendix: Team B model roles</a:t>
            </a:r>
          </a:p>
        </p:txBody>
      </p:sp>
      <p:graphicFrame>
        <p:nvGraphicFramePr>
          <p:cNvPr id="3" name="">
            <a:extLst xmlns:a="http://schemas.openxmlformats.org/drawingml/2006/main">
              <a:ext uri="{FF2B5EF4-FFF2-40B4-BE49-F238E27FC236}">
                <a16:creationId xmlns:a16="http://schemas.microsoft.com/office/drawing/2014/main" id="{00E5BFE4-5FB6-48DA-92EF-89F130F3CF9E}"/>
              </a:ext>
            </a:extLst>
          </p:cNvPr>
          <p:cNvGraphicFramePr/>
          <p:nvPr/>
        </p:nvGraphicFramePr>
        <p:xfrm>
          <a:off xmlns:a="http://schemas.openxmlformats.org/drawingml/2006/main" x="685800" y="1619250"/>
          <a:ext xmlns:a="http://schemas.openxmlformats.org/drawingml/2006/main" cx="10820400" cy="4114800"/>
        </p:xfrm>
        <a:graphic xmlns:a="http://schemas.openxmlformats.org/drawingml/2006/main">
          <a:graphicData uri="http://schemas.openxmlformats.org/drawingml/2006/table">
            <a:tbl>
              <a:tblPr/>
              <a:tblGrid>
                <a:gridCol w="4305300"/>
                <a:gridCol w="4038600"/>
                <a:gridCol w="2476500"/>
              </a:tblGrid>
              <a:tr h="685800">
                <a:tc>
                  <a:txBody>
                    <a:bodyPr/>
                    <a:lstStyle/>
                    <a:p>
                      <a:r>
                        <a:rPr sz="1800" b="1">
                          <a:solidFill>
                            <a:srgbClr val="FFFFFF"/>
                          </a:solidFill>
                          <a:latin typeface="Pretendard"/>
                          <a:ea typeface="Pretendard"/>
                          <a:cs typeface="Pretendard"/>
                        </a:rPr>
                        <a:t>Model</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Role</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Size</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KoCharELECTRA-base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Per-character syllable classification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 94M</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klue/roberta-large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Word representation support</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 340M</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xlm-roberta-large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Alternative word model run</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 560M</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KcELECTRA-base-v2022</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Word model and vocabulary information</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 120M</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polyglot-ko-5.8b</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Context scoring of candidates,</a:t>
                      </a:r>
                    </a:p>
                    <a:p>
                      <a:r>
                        <a:rPr sz="1800" b="0">
                          <a:solidFill>
                            <a:srgbClr val="1B2333"/>
                          </a:solidFill>
                          <a:latin typeface="Pretendard"/>
                          <a:ea typeface="Pretendard"/>
                          <a:cs typeface="Pretendard"/>
                        </a:rPr>
                        <a:t>used without extra training</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 5.8B</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97EFD611-BE55-4CDB-991C-59EE062400F5}"/>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The restoration models and the candidate selector play different roles</a:t>
            </a:r>
          </a:p>
        </p:txBody>
      </p:sp>
      <p:sp>
        <p:nvSpPr>
          <p:cNvPr id="5" name="">
            <a:extLst xmlns:a="http://schemas.openxmlformats.org/drawingml/2006/main">
              <a:ext uri="{FF2B5EF4-FFF2-40B4-BE49-F238E27FC236}">
                <a16:creationId xmlns:a16="http://schemas.microsoft.com/office/drawing/2014/main" id="{B6F2357C-9B6F-4830-AD0D-7899A1EA20E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25</a:t>
            </a:r>
          </a:p>
        </p:txBody>
      </p:sp>
    </p:spTree>
    <p:extLst>
      <p:ext uri="{BB962C8B-B14F-4D97-AF65-F5344CB8AC3E}">
        <p14:creationId xmlns:p14="http://schemas.microsoft.com/office/powerpoint/2010/main" val="14349059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6F4A8A-FD0F-441A-B9E5-00883CC29C64}"/>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Appendix</a:t>
            </a:r>
          </a:p>
        </p:txBody>
      </p:sp>
      <p:sp>
        <p:nvSpPr>
          <p:cNvPr id="2" name="">
            <a:extLst xmlns:a="http://schemas.openxmlformats.org/drawingml/2006/main">
              <a:ext uri="{FF2B5EF4-FFF2-40B4-BE49-F238E27FC236}">
                <a16:creationId xmlns:a16="http://schemas.microsoft.com/office/drawing/2014/main" id="{DDF2F2C2-9A9A-4903-BD50-984A3E9B716C}"/>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Appendix: reading the numbers and remaining directions</a:t>
            </a:r>
          </a:p>
        </p:txBody>
      </p:sp>
      <p:graphicFrame>
        <p:nvGraphicFramePr>
          <p:cNvPr id="3" name="">
            <a:extLst xmlns:a="http://schemas.openxmlformats.org/drawingml/2006/main">
              <a:ext uri="{FF2B5EF4-FFF2-40B4-BE49-F238E27FC236}">
                <a16:creationId xmlns:a16="http://schemas.microsoft.com/office/drawing/2014/main" id="{BCBC0295-6E94-47D2-817C-F8ABEC5BA16D}"/>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2667000"/>
                <a:gridCol w="8153400"/>
              </a:tblGrid>
              <a:tr h="685800">
                <a:tc>
                  <a:txBody>
                    <a:bodyPr/>
                    <a:lstStyle/>
                    <a:p>
                      <a:r>
                        <a:rPr sz="1800" b="1">
                          <a:solidFill>
                            <a:srgbClr val="FFFFFF"/>
                          </a:solidFill>
                          <a:latin typeface="Pretendard"/>
                          <a:ea typeface="Pretendard"/>
                          <a:cs typeface="Pretendard"/>
                        </a:rPr>
                        <a:t>Point to check</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What the sources support</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Different validation metrics</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Team A validation F1, Team B OOF char accuracy and Public kept separate</a:t>
                      </a:r>
                    </a:p>
                    <a:p>
                      <a:r>
                        <a:rPr sz="1800" b="0">
                          <a:solidFill>
                            <a:srgbClr val="1B2333"/>
                          </a:solidFill>
                          <a:latin typeface="Pretendard"/>
                          <a:ea typeface="Pretendard"/>
                          <a:cs typeface="Pretendard"/>
                        </a:rPr>
                        <a:t>No experiment compares them on the same split and conditions</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Team A final result</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The original leaderboard chart shows 0.989</a:t>
                      </a:r>
                    </a:p>
                    <a:p>
                      <a:r>
                        <a:rPr sz="1800" b="0">
                          <a:solidFill>
                            <a:srgbClr val="1B2333"/>
                          </a:solidFill>
                          <a:latin typeface="Pretendard"/>
                          <a:ea typeface="Pretendard"/>
                          <a:cs typeface="Pretendard"/>
                        </a:rPr>
                        <a:t>The final majority-vote method is not fully described in the source</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Team B candidate limit</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Always picking the best candidate gives OOF ≈ 0.9934</a:t>
                      </a:r>
                    </a:p>
                    <a:p>
                      <a:r>
                        <a:rPr sz="1800" b="0">
                          <a:solidFill>
                            <a:srgbClr val="1B2333"/>
                          </a:solidFill>
                          <a:latin typeface="Pretendard"/>
                          <a:ea typeface="Pretendard"/>
                          <a:cs typeface="Pretendard"/>
                        </a:rPr>
                        <a:t>Currently ≈ 0.9915. Shared errors cannot be fixed by selection alone</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Follow-up idea</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Add Team A's corrections as Team B candidates, or generate candidates by rules</a:t>
                      </a:r>
                    </a:p>
                    <a:p>
                      <a:r>
                        <a:rPr sz="1800" b="0">
                          <a:solidFill>
                            <a:srgbClr val="1B2333"/>
                          </a:solidFill>
                          <a:latin typeface="Pretendard"/>
                          <a:ea typeface="Pretendard"/>
                          <a:cs typeface="Pretendard"/>
                        </a:rPr>
                        <a:t>Gains from combining the teams are an untested proposal</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C4EE07A-E925-4825-962B-D457C0DFDAC4}"/>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Sources: Team A deck / Team B notes (발표자료.md). Observations and proposals kept separate</a:t>
            </a:r>
          </a:p>
        </p:txBody>
      </p:sp>
      <p:sp>
        <p:nvSpPr>
          <p:cNvPr id="5" name="">
            <a:extLst xmlns:a="http://schemas.openxmlformats.org/drawingml/2006/main">
              <a:ext uri="{FF2B5EF4-FFF2-40B4-BE49-F238E27FC236}">
                <a16:creationId xmlns:a16="http://schemas.microsoft.com/office/drawing/2014/main" id="{D8B305E0-F546-44BC-9A91-410D4E8CBB8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26</a:t>
            </a:r>
          </a:p>
        </p:txBody>
      </p:sp>
    </p:spTree>
    <p:extLst>
      <p:ext uri="{BB962C8B-B14F-4D97-AF65-F5344CB8AC3E}">
        <p14:creationId xmlns:p14="http://schemas.microsoft.com/office/powerpoint/2010/main" val="2051668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2026-10-12T03:15:45.2690000Z</dcterms:created>
  <dcterms:modified xsi:type="dcterms:W3CDTF">2026-10-12T03:15:45.2690000Z</dcterms:modified>
</coreProperties>
</file>