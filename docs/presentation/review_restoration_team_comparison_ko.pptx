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dbc7777e7fb4c7d" /><Relationship Type="http://schemas.openxmlformats.org/officeDocument/2006/relationships/extended-properties" Target="/docProps/app.xml" Id="R7a63894153eb4b88" /><Relationship Type="http://schemas.openxmlformats.org/officeDocument/2006/relationships/officeDocument" Target="/ppt/presentation.xml" Id="R97c6287ef3e94338" /></Relationships>
</file>

<file path=ppt/presentation.xml><?xml version="1.0" encoding="utf-8"?>
<p:presentation xmlns:p="http://schemas.openxmlformats.org/presentationml/2006/main">
  <p:sldMasterIdLst>
    <p:sldMasterId xmlns:r="http://schemas.openxmlformats.org/officeDocument/2006/relationships" id="2147483648" r:id="R4504a09406b94f63"/>
  </p:sldMasterIdLst>
  <p:notesMasterIdLst>
    <p:notesMasterId xmlns:r="http://schemas.openxmlformats.org/officeDocument/2006/relationships" r:id="Rcc7447846e864cde"/>
  </p:notesMasterIdLst>
  <p:sldIdLst>
    <p:sldId xmlns:r="http://schemas.openxmlformats.org/officeDocument/2006/relationships" id="256" r:id="R19c26fd07ff44a67"/>
    <p:sldId xmlns:r="http://schemas.openxmlformats.org/officeDocument/2006/relationships" id="257" r:id="Rbd93d2883bf24394"/>
    <p:sldId xmlns:r="http://schemas.openxmlformats.org/officeDocument/2006/relationships" id="258" r:id="Ra12f3b9a06e048be"/>
    <p:sldId xmlns:r="http://schemas.openxmlformats.org/officeDocument/2006/relationships" id="259" r:id="Rb1a06fed7b4c4c34"/>
    <p:sldId xmlns:r="http://schemas.openxmlformats.org/officeDocument/2006/relationships" id="260" r:id="R33a96fe96b624cf9"/>
    <p:sldId xmlns:r="http://schemas.openxmlformats.org/officeDocument/2006/relationships" id="261" r:id="R6d2cd29e53cf4068"/>
    <p:sldId xmlns:r="http://schemas.openxmlformats.org/officeDocument/2006/relationships" id="262" r:id="R4b41a30aa60e446e"/>
    <p:sldId xmlns:r="http://schemas.openxmlformats.org/officeDocument/2006/relationships" id="263" r:id="R6f98bd31b1dd4114"/>
    <p:sldId xmlns:r="http://schemas.openxmlformats.org/officeDocument/2006/relationships" id="264" r:id="R1f9288faecee470a"/>
    <p:sldId xmlns:r="http://schemas.openxmlformats.org/officeDocument/2006/relationships" id="265" r:id="R431256e17fd941e0"/>
    <p:sldId xmlns:r="http://schemas.openxmlformats.org/officeDocument/2006/relationships" id="266" r:id="R05e56843b3c94069"/>
    <p:sldId xmlns:r="http://schemas.openxmlformats.org/officeDocument/2006/relationships" id="267" r:id="R3300b930af8c4a81"/>
    <p:sldId xmlns:r="http://schemas.openxmlformats.org/officeDocument/2006/relationships" id="268" r:id="R481cda2b31ce45fe"/>
    <p:sldId xmlns:r="http://schemas.openxmlformats.org/officeDocument/2006/relationships" id="269" r:id="R5d751b536f124da1"/>
    <p:sldId xmlns:r="http://schemas.openxmlformats.org/officeDocument/2006/relationships" id="270" r:id="R9a509536130b4a07"/>
    <p:sldId xmlns:r="http://schemas.openxmlformats.org/officeDocument/2006/relationships" id="271" r:id="R7e9fa5bdda894209"/>
    <p:sldId xmlns:r="http://schemas.openxmlformats.org/officeDocument/2006/relationships" id="272" r:id="R54e957f559e447ac"/>
    <p:sldId xmlns:r="http://schemas.openxmlformats.org/officeDocument/2006/relationships" id="273" r:id="R97a2c08c701d443d"/>
    <p:sldId xmlns:r="http://schemas.openxmlformats.org/officeDocument/2006/relationships" id="274" r:id="Raaeeb02484e24f11"/>
    <p:sldId xmlns:r="http://schemas.openxmlformats.org/officeDocument/2006/relationships" id="275" r:id="R965f310702e94eaf"/>
    <p:sldId xmlns:r="http://schemas.openxmlformats.org/officeDocument/2006/relationships" id="276" r:id="R425c8b1fa5794207"/>
    <p:sldId xmlns:r="http://schemas.openxmlformats.org/officeDocument/2006/relationships" id="277" r:id="R3d11522316294344"/>
    <p:sldId xmlns:r="http://schemas.openxmlformats.org/officeDocument/2006/relationships" id="278" r:id="Rdd42d8d2317e431d"/>
    <p:sldId xmlns:r="http://schemas.openxmlformats.org/officeDocument/2006/relationships" id="279" r:id="R4ce322d6806e4711"/>
    <p:sldId xmlns:r="http://schemas.openxmlformats.org/officeDocument/2006/relationships" id="280" r:id="R90752e55017148ae"/>
    <p:sldId xmlns:r="http://schemas.openxmlformats.org/officeDocument/2006/relationships" id="281" r:id="R20acb877a5aa4d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c1982c2f3348d2" /><Relationship Type="http://schemas.openxmlformats.org/officeDocument/2006/relationships/slideMaster" Target="/ppt/slideMasters/slideMaster1.xml" Id="R4504a09406b94f63" /><Relationship Type="http://schemas.openxmlformats.org/officeDocument/2006/relationships/notesMaster" Target="/ppt/notesMasters/notesMaster1.xml" Id="Rcc7447846e864cde" /><Relationship Type="http://schemas.openxmlformats.org/officeDocument/2006/relationships/presProps" Target="/ppt/presProps.xml" Id="R595958bcd2ef493e" /><Relationship Type="http://schemas.openxmlformats.org/officeDocument/2006/relationships/tableStyles" Target="/ppt/tableStyles.xml" Id="Rc3da98a76c9b4f75" /><Relationship Type="http://schemas.openxmlformats.org/officeDocument/2006/relationships/slide" Target="/ppt/slides/slide1.xml" Id="R19c26fd07ff44a67" /><Relationship Type="http://schemas.openxmlformats.org/officeDocument/2006/relationships/slide" Target="/ppt/slides/slide2.xml" Id="Rbd93d2883bf24394" /><Relationship Type="http://schemas.openxmlformats.org/officeDocument/2006/relationships/slide" Target="/ppt/slides/slide3.xml" Id="Ra12f3b9a06e048be" /><Relationship Type="http://schemas.openxmlformats.org/officeDocument/2006/relationships/slide" Target="/ppt/slides/slide4.xml" Id="Rb1a06fed7b4c4c34" /><Relationship Type="http://schemas.openxmlformats.org/officeDocument/2006/relationships/slide" Target="/ppt/slides/slide5.xml" Id="R33a96fe96b624cf9" /><Relationship Type="http://schemas.openxmlformats.org/officeDocument/2006/relationships/slide" Target="/ppt/slides/slide6.xml" Id="R6d2cd29e53cf4068" /><Relationship Type="http://schemas.openxmlformats.org/officeDocument/2006/relationships/slide" Target="/ppt/slides/slide7.xml" Id="R4b41a30aa60e446e" /><Relationship Type="http://schemas.openxmlformats.org/officeDocument/2006/relationships/slide" Target="/ppt/slides/slide8.xml" Id="R6f98bd31b1dd4114" /><Relationship Type="http://schemas.openxmlformats.org/officeDocument/2006/relationships/slide" Target="/ppt/slides/slide9.xml" Id="R1f9288faecee470a" /><Relationship Type="http://schemas.openxmlformats.org/officeDocument/2006/relationships/slide" Target="/ppt/slides/slide10.xml" Id="R431256e17fd941e0" /><Relationship Type="http://schemas.openxmlformats.org/officeDocument/2006/relationships/slide" Target="/ppt/slides/slide11.xml" Id="R05e56843b3c94069" /><Relationship Type="http://schemas.openxmlformats.org/officeDocument/2006/relationships/slide" Target="/ppt/slides/slide12.xml" Id="R3300b930af8c4a81" /><Relationship Type="http://schemas.openxmlformats.org/officeDocument/2006/relationships/slide" Target="/ppt/slides/slide13.xml" Id="R481cda2b31ce45fe" /><Relationship Type="http://schemas.openxmlformats.org/officeDocument/2006/relationships/slide" Target="/ppt/slides/slide14.xml" Id="R5d751b536f124da1" /><Relationship Type="http://schemas.openxmlformats.org/officeDocument/2006/relationships/slide" Target="/ppt/slides/slide15.xml" Id="R9a509536130b4a07" /><Relationship Type="http://schemas.openxmlformats.org/officeDocument/2006/relationships/slide" Target="/ppt/slides/slide16.xml" Id="R7e9fa5bdda894209" /><Relationship Type="http://schemas.openxmlformats.org/officeDocument/2006/relationships/slide" Target="/ppt/slides/slide17.xml" Id="R54e957f559e447ac" /><Relationship Type="http://schemas.openxmlformats.org/officeDocument/2006/relationships/slide" Target="/ppt/slides/slide18.xml" Id="R97a2c08c701d443d" /><Relationship Type="http://schemas.openxmlformats.org/officeDocument/2006/relationships/slide" Target="/ppt/slides/slide19.xml" Id="Raaeeb02484e24f11" /><Relationship Type="http://schemas.openxmlformats.org/officeDocument/2006/relationships/slide" Target="/ppt/slides/slide20.xml" Id="R965f310702e94eaf" /><Relationship Type="http://schemas.openxmlformats.org/officeDocument/2006/relationships/slide" Target="/ppt/slides/slide21.xml" Id="R425c8b1fa5794207" /><Relationship Type="http://schemas.openxmlformats.org/officeDocument/2006/relationships/slide" Target="/ppt/slides/slide22.xml" Id="R3d11522316294344" /><Relationship Type="http://schemas.openxmlformats.org/officeDocument/2006/relationships/slide" Target="/ppt/slides/slide23.xml" Id="Rdd42d8d2317e431d" /><Relationship Type="http://schemas.openxmlformats.org/officeDocument/2006/relationships/slide" Target="/ppt/slides/slide24.xml" Id="R4ce322d6806e4711" /><Relationship Type="http://schemas.openxmlformats.org/officeDocument/2006/relationships/slide" Target="/ppt/slides/slide25.xml" Id="R90752e55017148ae" /><Relationship Type="http://schemas.openxmlformats.org/officeDocument/2006/relationships/slide" Target="/ppt/slides/slide26.xml" Id="R20acb877a5aa4d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e1adc058264c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823d29d8aa473c" /><Relationship Type="http://schemas.openxmlformats.org/officeDocument/2006/relationships/notesMaster" Target="/ppt/notesMasters/notesMaster1.xml" Id="R61fb52a3bb1e49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c796221da54370" /><Relationship Type="http://schemas.openxmlformats.org/officeDocument/2006/relationships/notesMaster" Target="/ppt/notesMasters/notesMaster1.xml" Id="R173916435c8642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235303805e4fd3" /><Relationship Type="http://schemas.openxmlformats.org/officeDocument/2006/relationships/notesMaster" Target="/ppt/notesMasters/notesMaster1.xml" Id="R3f96b54a141c4c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67a5ee25c94c87" /><Relationship Type="http://schemas.openxmlformats.org/officeDocument/2006/relationships/notesMaster" Target="/ppt/notesMasters/notesMaster1.xml" Id="R2ea9580725ce4e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3793f126b64ce5" /><Relationship Type="http://schemas.openxmlformats.org/officeDocument/2006/relationships/notesMaster" Target="/ppt/notesMasters/notesMaster1.xml" Id="R487f288f430d43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bd1c2ee5f54372" /><Relationship Type="http://schemas.openxmlformats.org/officeDocument/2006/relationships/notesMaster" Target="/ppt/notesMasters/notesMaster1.xml" Id="R3e28bbf75b5343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7de4a594b24698" /><Relationship Type="http://schemas.openxmlformats.org/officeDocument/2006/relationships/notesMaster" Target="/ppt/notesMasters/notesMaster1.xml" Id="R442cfdb5070243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33b677f8bc4542" /><Relationship Type="http://schemas.openxmlformats.org/officeDocument/2006/relationships/notesMaster" Target="/ppt/notesMasters/notesMaster1.xml" Id="Rc93b67d866dd42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0408978a424a33" /><Relationship Type="http://schemas.openxmlformats.org/officeDocument/2006/relationships/notesMaster" Target="/ppt/notesMasters/notesMaster1.xml" Id="R37c71b9197d648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12a923b3e94706" /><Relationship Type="http://schemas.openxmlformats.org/officeDocument/2006/relationships/notesMaster" Target="/ppt/notesMasters/notesMaster1.xml" Id="R462f95f607fc4f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0f55e761314cef" /><Relationship Type="http://schemas.openxmlformats.org/officeDocument/2006/relationships/notesMaster" Target="/ppt/notesMasters/notesMaster1.xml" Id="R747b199ec16a42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af2a62d06349d4" /><Relationship Type="http://schemas.openxmlformats.org/officeDocument/2006/relationships/notesMaster" Target="/ppt/notesMasters/notesMaster1.xml" Id="Rd4effd0771e24b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a1c3c233cbb45da" /><Relationship Type="http://schemas.openxmlformats.org/officeDocument/2006/relationships/notesMaster" Target="/ppt/notesMasters/notesMaster1.xml" Id="R4d3bb4bc159c40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876ebd34eb44f88" /><Relationship Type="http://schemas.openxmlformats.org/officeDocument/2006/relationships/notesMaster" Target="/ppt/notesMasters/notesMaster1.xml" Id="Radad41ccae5c4c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e72290672bb4305" /><Relationship Type="http://schemas.openxmlformats.org/officeDocument/2006/relationships/notesMaster" Target="/ppt/notesMasters/notesMaster1.xml" Id="Rb4cf4e05964f4f8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932e0d8e9ff4811" /><Relationship Type="http://schemas.openxmlformats.org/officeDocument/2006/relationships/notesMaster" Target="/ppt/notesMasters/notesMaster1.xml" Id="R110980d4c711444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f842ffce9bc469d" /><Relationship Type="http://schemas.openxmlformats.org/officeDocument/2006/relationships/notesMaster" Target="/ppt/notesMasters/notesMaster1.xml" Id="Rbd974014a68c4b9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7afc2264dc145da" /><Relationship Type="http://schemas.openxmlformats.org/officeDocument/2006/relationships/notesMaster" Target="/ppt/notesMasters/notesMaster1.xml" Id="Ra5958a9b824344b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46126369fe540c1" /><Relationship Type="http://schemas.openxmlformats.org/officeDocument/2006/relationships/notesMaster" Target="/ppt/notesMasters/notesMaster1.xml" Id="R70f8773249cb433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96a178b3aa04c16" /><Relationship Type="http://schemas.openxmlformats.org/officeDocument/2006/relationships/notesMaster" Target="/ppt/notesMasters/notesMaster1.xml" Id="Rb3e51e6a890e44f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5aaae86c65743bb" /><Relationship Type="http://schemas.openxmlformats.org/officeDocument/2006/relationships/notesMaster" Target="/ppt/notesMasters/notesMaster1.xml" Id="R407dc04c58b3466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95f37320ce744a2" /><Relationship Type="http://schemas.openxmlformats.org/officeDocument/2006/relationships/notesMaster" Target="/ppt/notesMasters/notesMaster1.xml" Id="R9b71b4ea551247b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201dc5684c14810" /><Relationship Type="http://schemas.openxmlformats.org/officeDocument/2006/relationships/notesMaster" Target="/ppt/notesMasters/notesMaster1.xml" Id="Rcdad32598ba94e0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9ac86f50f7a4a51" /><Relationship Type="http://schemas.openxmlformats.org/officeDocument/2006/relationships/notesMaster" Target="/ppt/notesMasters/notesMaster1.xml" Id="R86f5c801d69e461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fbb66ae9013493d" /><Relationship Type="http://schemas.openxmlformats.org/officeDocument/2006/relationships/notesMaster" Target="/ppt/notesMasters/notesMaster1.xml" Id="R0e2285aca7e94d2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b8101b2972a49e2" /><Relationship Type="http://schemas.openxmlformats.org/officeDocument/2006/relationships/notesMaster" Target="/ppt/notesMasters/notesMaster1.xml" Id="R66b255732a1f4c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팀의 결과를 따로 나열하기보다 공통 관찰에서 출발해 해결 전략이 갈라지는 지점을 비교한다. 본문 22장, 부록 4장 구성으로 약 20~25분 발표를 가정한다. A팀은 제공 PPT, B팀은 발표자료.md를 기준으로 설명한다.</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초성은 글자의 첫 자음, 중성은 모음, 종성은 받침이다. 난독화는 이런 구성 요소를 바꾸지만 사람이 문맥으로 읽을 수 있는 형태를 남긴다. F1은 맞게 복원했는지 평가하는 대회 점수이며 높을수록 좋다. B팀 자료는 유료 LLM API 금지와 제공 데이터 증강 허용도 명시한다. 예시는 A팀 PPT 2장.</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EDA는 탐색적 데이터 분석이다. 모델을 고르기 전에 데이터가 어떤 문제인지 확인하는 과정이다. 기준 모델은 이후 방법이 나아졌는지 비교할 출발점이다. 검증은 정답을 알고 있지만 학습에서 뺀 문장으로 평가하는 과정이다. 이 장은 두 팀의 실제 실험 흐름을 초보자가 이해할 수 있도록 정리한 일반적인 설명이다.</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관찰은 제공된 학습 데이터 분석 결과이며 모든 현실의 난독화 문장에 대한 보편 규칙으로 확장하지 않는다. 같은 길이이므로 정답의 몇 번째 글자를 맞혀야 하는지 바로 알 수 있다. A팀 출력 후보는 약 1,400개 음절이다. B팀 역시 음절 분류를 사용하지만 후보 수는 원문에 따로 명시되지 않아 두 팀 전체의 고정 수로 제시하지 않는다. 출처 A PPT 3장, B md 2~3절.</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 장의 EDA와 분류 모델 사이에 빠져 있던 추론을 설명하는 장이다. 선택은 예를 들어 첫 자리의 정답을 겨로 분류한다는 뜻이다. 복사는 공백을 예측하지 않고 입력 그대로 유지한다는 뜻이다. 이 설계가 의미적으로 모든 오답을 막는 것은 아니지만 길이 오류를 막는다. 출처 A PPT 2~3장, B md 3절.</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평균 길이와 최대 1,965자는 A PPT 3장. 300자 초과 리뷰의 글자 비중은 B md 4절이며 문장 수의 비중이 아니다. A 1단계는 RoPE 상대 위치 표현으로 긴 테스트 문장을 자르지 않으며 2단계는 구간으로 읽는다. 따라서 A팀 모든 모델이 길이 제한 없이 처리한다고 말하지 않는다. A 증강은 PPT 16장, B 겹침 추론은 md 4절. 통계의 기준과 팀별 대응을 구분한다.</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사전학습은 많은 정상 언어를 미리 배운 모델을 사용하는 것이다. 난독화된 글자는 그 모델에 낯설기 때문에 가중치를 가져오는 것만으로 개선을 보장하지 않는다. A팀은 사전학습 입력부 대신 상위 문맥 층 일부를 가져오는 하이브리드도 사용한다. B팀은 처음부터 힌트로 읽을 거리를 제공한다. A 수치는 PPT 4장 검증값, B 첫 힌트는 md 3절. 서로 다른 검증 결과를 같은 성능 표로 합치지 않는다.</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A팀은 2단계 도입 전 1단계 단일 모델, B팀은 2단계의 남은 오류를 분석했다. 분모, 빈도 구간, 실험 단계가 달라 62%와 82%를 직접 비교하지 않는다. 없는 말이라는 관찰은 단어 지식 부족을 의심할 근거지만 원인을 완전히 증명하지 않는다. 실제 단어 모델 개선 결과가 이 가설을 뒷받침한다. A 추가 관찰은 글자 오류의 56%가 받침 오류이다. 출처 A PPT 5장, B md 5절.</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문장은 A팀 원문 PPT 18장에서 설명용이라고 명시한다. 1단계는 자모 임베딩, RoPE Transformer 6층, KoCharELECTRA-small 상위 6층, 음절 분류 헤드. 2단계는 KcELECTRA-base의 단어 표현과 원문 및 예측 자모를 합쳐 RoPE 2층으로 교정한다. 본문에서는 모델 이름보다 각 단계가 해결하는 문제를 먼저 설명한다. 출처 A PPT 6~7,14~15,18장.</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OOF는 Out-of-Fold, 즉 해당 문장을 학습에서 제외한 모델의 예측이다. 초보자에게는 답을 외우지 않은 학생의 풀이를 모아 다음 학생에게 실수 교정을 가르치는 상황으로 비유할 수 있다. A팀의 1단계는 5 fold이고 test는 5개 모델 확률 평균. B팀도 K-fold OOF 힌트를 사용한다. 증강본 역시 원래 문장 기준으로 분리해야 한다. 출처 A PPT 17~18장, B md 3,6,8절.</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본문 수치에서 화살표는 전후 비교를 뜻한다. A 검증 F1과 글자 수는 마스킹 및 오답 교체 도입 전후이며 B 지표와 별개이다. 정확히 바꾸는 것이 목적이지 많이 바꾸는 것이 목적은 아니다. 원문 편향 초기값 5.0과 추론 copy margin 탐색값은 다른 설정이다. 반복 적용 실험 검증 F1은 1회 0.9892, 2회 0.9899, 3회 0.9901이고 다른 실험 조건에서 나온 값이므로 마스킹 수치와 한 연속 실험으로 이어 붙이지 않는다. 출처 A PPT 15,19~21장.</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힌트와 원문은 서로 다른 역할이다. 힌트는 한국어 문맥을 읽는 재료, 원문 자모는 힌트가 틀렸을 때 고칠 근거다. 드문 음절은 전체 음절 분류가 약해도 초중종성 점수로 도움을 받을 수 있다. 단어 모델은 klue/roberta-large, 이후 xlm-roberta-large 등의 실행을 사용한다. 이 장은 B팀 후보 선택 이전의 복원 모델을 설명한다. 수치는 Public F1이 아니라 OOF 글자 정확도이다. 출처 B md 3~5절.</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닫힌 자모 묶음 예시는 {ㄱㄲㅋ}, {ㅗㅛ}. 규칙에서 벗어나는 경우 0.003%가 있어 완전한 보편 규칙이라고 단정하지 않는다. 잔존율은 난독화 후 음절이 그대로 남는 비율이다. 0.255, 0.125, 0.127은 정확도나 F1이 아니다. 증강 통계가 가까워졌다는 결과이며 모든 실제 분포를 완전히 재현했다는 뜻도 아니다. 출처 B md 4절.</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앙상블은 여러 모델의 예측을 합치는 방법이다. 여러 명의 답안을 평균내도 모두 같은 오답이면 답을 고칠 수 없다는 비유로 설명한다. 81%와 79%는 B팀이 보고한 분석이며 다른 실험에 일반화하지 않는다. 힌트로 오류가 전달된다는 것은 B팀 자료의 해석이다. 출처 B md 7절.</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리랭킹은 후보를 다시 순위 매겨 고르는 것이다. 언어 모델은 최종 리뷰를 자유롭게 새로 생성하는 대신 기존 실행이 낸 단어 후보를 평가한다. 후보 점수에는 학습 단어 등장 여부, 토크나이저 조각 수, 선택한 실행 정보가 함께 들어간다. 비중을 맞출 때 보지 않은 문장에서 효과를 평가한다. 출처 B md 8절. 공개 모델 가중치 사용과 유료 API 사용을 혼동하지 않는다.</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후보 최선일 때 남는 오류는 정답을 알고 항상 최선 후보를 선택한다고 가정한 진단 수치다. 실제 가능한 선택기 점수가 아니며 test 정답을 썼다는 뜻도 아니다. 7개는 예전 계열 약한 실행 3개 추가, 8개는 씨앗을 바꿔 1단계부터 새로 학습한 계열 추가, 9개는 같은 1단계 위에 단어 모델만 바꾼 실행 추가이다. 마지막 추가 효과는 작았다. 출처 B md 8~9절.</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팀 모두 여러 모델과 문맥 지식을 사용한다. 차이는 구성 요소를 쓰는지 여부보다 후반 개선의 핵심 판단에 있다. A팀은 두 단계 모델의 교정 결과를 반복 적용하며 B팀은 갈린 단어를 후보로 모아 다시 고른다. A팀도 앙상블을, B팀도 단계별 복원을 사용하므로 양자택일의 완전히 분리된 방식이라고 표현하지 않는다. 출처 A PPT 7,15,21장, B md 7~9절.</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원자료 PPT 10장의 native chart3.xml에 있는 일곱 값과 항목을 그대로 사용한다. 각 단계가 다른 변경을 함께 포함할 수 있어 통제된 단일 요인 실험으로 해석하지 않는다. 최종 0.989는 원자료 표시 정밀도다. 다수결 단계는 원자료 결과에 있지만 구체적 대상과 알고리즘 설명이 부족하므로 상세 효과를 추정하지 않는다. 기준 0.9819는 과거 리더보드 값이며 현재 순위로 소개하지 않는다.</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 md 1,6,8~9절과 제출 기록의 Public 값을 사용한다. 생략된 중간 단계가 있으며 그래프는 주요 전환점만 표시한다. 단순히 모델 하나를 키우는 것보다 후보 다양성을 확보한 변화가 후반에 큰 기여를 했다. 각 점수는 공개 리더보드 점수다. 두 번째 점수는 원문에서도 Private로 추정하므로 본 자료에서 Private로 확정하거나 비교하지 않는다.</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성능 개선의 목적을 먼저 설명하고 기술 이름을 붙인다. A팀 단어 사전 치환은 학습용 증강이고 B팀 단어 사전 정보는 후보 선택 점수의 일부라는 차이를 설명한다. 어느 방법이 더 우수한지 동일 조건 비교는 없으므로 팀별 실험 성과로만 해석한다. 출처 A PPT 7,16~21장, B md 3~9절.</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B의 96자 간격 결과는 원문에서 점수 유형을 명시하지 않아 Public나 F1로 확정하지 않는다. 사전 교정은 고침 185~1,368단어, 망가짐 449~3,016단어라는 여러 실험 범위로 보고되어 한 실험의 정확한 대응쌍으로 제시하지 않는다. B 사전 정보는 혼자 강제 수정할 때 손해지만 모델 후보 안에서 고를 때 도움을 줬다. 출처 A PPT 4장, B md 10절.</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결론은 승자 비교가 아니라 문제 해결 방식 비교다. 두 팀 모두 제공 데이터의 구조를 이용해 문제를 단순화했고, 다음 단계가 볼 입력을 OOF로 만들었다. A팀은 오류를 고치는 모델의 동작에, B팀은 정답이 후보에 포함되게 만드는 방법에 후반 개선의 초점을 두었다. 질문을 받을 때 두 방법의 결합은 가능한 연구 방향이지만 실제 실험 결과가 없는 제안이라고 구분한다.</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용어를 발표 중 처음 나올 때 짧게 설명하고, 이 장은 질문과 복습용으로 사용한다. 주어진 자료에서 F1과 OOF 글자 정확도를 다르게 표기했으므로 그대로 유지한다. F1의 세부 구현은 자료에 없어 계산식을 임의로 추가하지 않는다.</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A PPT 14~21장. 1단계 최대 50 epoch, 조기 종료 7 epoch. 2단계 최대 15 epoch, 조기 종료 4 epoch. AdamW, 층별 학습률, warmup+cosine, fp16, EMA 감쇠율 0.96, label smoothing 0.1. 2단계 검증 1,126문장. 학습용 음절 사전은 A 원문에서 train 전체로 한 번 생성했다고 명시하므로 모든 사전이 fold별이라고 단정하지 않는다.</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모두 공개 사전학습 가중치. 글자 모델 파라미터는 직접 센 값이고 나머지는 공개 규모의 근삿값이라고 B md 11절에 명시한다. 정확한 모델 ID는 monologg/kocharelectra-base-discriminator, klue/roberta-large, xlm-roberta-large, beomi/KcELECTRA-base-v2022, EleutherAI/polyglot-ko-5.8b이다. 학습에는 train.csv와 재난독화 사본만 사용했다.</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 md 13절은 씨앗을 바꾼 새 계열 추가와 난독화 규칙으로 후보 직접 생성하는 방법을 남은 여지로 제시한다. 두 번째 제출 점수는 Private로 추정한다고만 적혀 있어 확정값으로 쓰지 않는다. 본문 EDA 중간 추론은 원자료 관찰과 실험을 초보자가 이해하도록 연결한 설명이다. 실제 원데이터와 학습 코드를 재실행하여 통계를 재검증한 것은 아니다. 제공 PPT에는 기존 B팀 요약도 포함되어 있지만 이번 B팀 설명은 md를 우선했다.</a:t>
            </a:r>
          </a:p>
          <a:p xmlns:a="http://schemas.openxmlformats.org/drawingml/2006/main">
            <a:r>
              <a:t/>
            </a:r>
          </a:p>
          <a:p xmlns:a="http://schemas.openxmlformats.org/drawingml/2006/main">
            <a:r>
              <a:t>Source A: A팀 발표자료 (deop_presentation_v4.pptx)</a:t>
            </a:r>
          </a:p>
          <a:p xmlns:a="http://schemas.openxmlformats.org/drawingml/2006/main">
            <a:r>
              <a:t>Source B: B팀 발표자료.md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a360245d8346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5b07922b394e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431f461db04a1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15b93a5ec741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0090f768104c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0b39c1429a49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A7E7C-A762-4BF3-B015-64CD08EB8F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AC5FC8A-7ED7-46DA-97CA-BE76F85E3F0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8E4537C-B606-4906-87E5-D0627A006C4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DBDC9D-4BD4-4313-ACAB-8FDFCF2242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094A6DB-52A1-4EF8-A312-D4A64B3E5D5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63D9E2-08C2-4005-806B-57717921F6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0A18B69-FEDC-4340-92F5-3B4A27A9C3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687D36-5EEA-4A47-A2DD-F11BADA000F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C94589-FB0B-49FF-87D3-6CC4DC7B4C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80DB43-4478-44CD-94E0-3536F8D41E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d179395e464822" /><Relationship Type="http://schemas.openxmlformats.org/officeDocument/2006/relationships/slideLayout" Target="/ppt/slideLayouts/slideLayout1.xml" Id="R54df134472564b64" /><Relationship Type="http://schemas.openxmlformats.org/officeDocument/2006/relationships/slideLayout" Target="/ppt/slideLayouts/slideLayout2.xml" Id="R46b62b70e6a04590" /><Relationship Type="http://schemas.openxmlformats.org/officeDocument/2006/relationships/slideLayout" Target="/ppt/slideLayouts/slideLayout3.xml" Id="R71cbff80a09641a3" /><Relationship Type="http://schemas.openxmlformats.org/officeDocument/2006/relationships/slideLayout" Target="/ppt/slideLayouts/slideLayout4.xml" Id="Reab2fa01f41f4af0" /><Relationship Type="http://schemas.openxmlformats.org/officeDocument/2006/relationships/slideLayout" Target="/ppt/slideLayouts/slideLayout5.xml" Id="Rd9ba6d0f3cb64c19" /><Relationship Type="http://schemas.openxmlformats.org/officeDocument/2006/relationships/slideLayout" Target="/ppt/slideLayouts/slideLayout6.xml" Id="R929ace22bcf745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df134472564b64"/>
    <p:sldLayoutId xmlns:r="http://schemas.openxmlformats.org/officeDocument/2006/relationships" id="2147483650" r:id="R46b62b70e6a04590"/>
    <p:sldLayoutId xmlns:r="http://schemas.openxmlformats.org/officeDocument/2006/relationships" id="2147483651" r:id="R71cbff80a09641a3"/>
    <p:sldLayoutId xmlns:r="http://schemas.openxmlformats.org/officeDocument/2006/relationships" id="2147483652" r:id="Reab2fa01f41f4af0"/>
    <p:sldLayoutId xmlns:r="http://schemas.openxmlformats.org/officeDocument/2006/relationships" id="2147483653" r:id="Rd9ba6d0f3cb64c19"/>
    <p:sldLayoutId xmlns:r="http://schemas.openxmlformats.org/officeDocument/2006/relationships" id="2147483654" r:id="R929ace22bcf745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0ef4400f95f4334" /><Relationship Type="http://schemas.openxmlformats.org/officeDocument/2006/relationships/notesSlide" Target="/ppt/notesSlides/notesSlide1.xml" Id="R0a4197fa751f47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fed3df8aa644dc2" /><Relationship Type="http://schemas.openxmlformats.org/officeDocument/2006/relationships/notesSlide" Target="/ppt/notesSlides/notesSlide2.xml" Id="Rc253e9f7c38d4c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6dd2bf07af74d2e" /><Relationship Type="http://schemas.openxmlformats.org/officeDocument/2006/relationships/notesSlide" Target="/ppt/notesSlides/notesSlide3.xml" Id="Rd42db755cc7c40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5cf51a5b7444f19" /><Relationship Type="http://schemas.openxmlformats.org/officeDocument/2006/relationships/notesSlide" Target="/ppt/notesSlides/notesSlide4.xml" Id="R410d5f0feb8844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3d34f9fa81a48bd" /><Relationship Type="http://schemas.openxmlformats.org/officeDocument/2006/relationships/notesSlide" Target="/ppt/notesSlides/notesSlide5.xml" Id="R895323240c5644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df79c445cff46ba" /><Relationship Type="http://schemas.openxmlformats.org/officeDocument/2006/relationships/notesSlide" Target="/ppt/notesSlides/notesSlide6.xml" Id="R2bb33ea7721748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f41b75e3b8d4fe7" /><Relationship Type="http://schemas.openxmlformats.org/officeDocument/2006/relationships/notesSlide" Target="/ppt/notesSlides/notesSlide7.xml" Id="R8359d0d4bd8048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e8fe8e85f89411a" /><Relationship Type="http://schemas.openxmlformats.org/officeDocument/2006/relationships/notesSlide" Target="/ppt/notesSlides/notesSlide8.xml" Id="Rd92161c25a8c47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be4d9ec79664217" /><Relationship Type="http://schemas.openxmlformats.org/officeDocument/2006/relationships/notesSlide" Target="/ppt/notesSlides/notesSlide9.xml" Id="R5551d4bdc83d43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7cb92cb17064542" /><Relationship Type="http://schemas.openxmlformats.org/officeDocument/2006/relationships/notesSlide" Target="/ppt/notesSlides/notesSlide10.xml" Id="R55a2c3967c6049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08535379e874f5b" /><Relationship Type="http://schemas.openxmlformats.org/officeDocument/2006/relationships/notesSlide" Target="/ppt/notesSlides/notesSlide11.xml" Id="R2139a8581cce41c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70a2deb85884472" /><Relationship Type="http://schemas.openxmlformats.org/officeDocument/2006/relationships/notesSlide" Target="/ppt/notesSlides/notesSlide12.xml" Id="R9d11f7d75850402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5785df9599a457c" /><Relationship Type="http://schemas.openxmlformats.org/officeDocument/2006/relationships/notesSlide" Target="/ppt/notesSlides/notesSlide13.xml" Id="Re03c93448de447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b7c7f569a994473" /><Relationship Type="http://schemas.openxmlformats.org/officeDocument/2006/relationships/notesSlide" Target="/ppt/notesSlides/notesSlide14.xml" Id="R5ba2a871d04a447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e2e58c164db4334" /><Relationship Type="http://schemas.openxmlformats.org/officeDocument/2006/relationships/notesSlide" Target="/ppt/notesSlides/notesSlide15.xml" Id="Rf0bb6a8f1f65447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71449ab7c45416b" /><Relationship Type="http://schemas.openxmlformats.org/officeDocument/2006/relationships/notesSlide" Target="/ppt/notesSlides/notesSlide16.xml" Id="Rc8601c816c2d4f5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7269a8899a748f4" /><Relationship Type="http://schemas.openxmlformats.org/officeDocument/2006/relationships/notesSlide" Target="/ppt/notesSlides/notesSlide17.xml" Id="R29e32424c25e431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cd0325f95504f95" /><Relationship Type="http://schemas.openxmlformats.org/officeDocument/2006/relationships/chart" Target="/ppt/slides/charts/chart1.xml" Id="R4bb7cfe51e96473e" /><Relationship Type="http://schemas.openxmlformats.org/officeDocument/2006/relationships/notesSlide" Target="/ppt/notesSlides/notesSlide18.xml" Id="Rfec01f00682f47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3f05aa1aeed4e50" /><Relationship Type="http://schemas.openxmlformats.org/officeDocument/2006/relationships/chart" Target="/ppt/slides/charts/chart2.xml" Id="Rad11e34683f44d89" /><Relationship Type="http://schemas.openxmlformats.org/officeDocument/2006/relationships/notesSlide" Target="/ppt/notesSlides/notesSlide19.xml" Id="R1ea1b130781742b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590d77860564150" /><Relationship Type="http://schemas.openxmlformats.org/officeDocument/2006/relationships/notesSlide" Target="/ppt/notesSlides/notesSlide20.xml" Id="R297ce851b8e945b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6e2f900cfb542d8" /><Relationship Type="http://schemas.openxmlformats.org/officeDocument/2006/relationships/notesSlide" Target="/ppt/notesSlides/notesSlide21.xml" Id="R5b08af072341435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9392b6a31464af2" /><Relationship Type="http://schemas.openxmlformats.org/officeDocument/2006/relationships/notesSlide" Target="/ppt/notesSlides/notesSlide22.xml" Id="Ra69bb2abf64a4e6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ed35995ecdc4bde" /><Relationship Type="http://schemas.openxmlformats.org/officeDocument/2006/relationships/notesSlide" Target="/ppt/notesSlides/notesSlide23.xml" Id="Reaa3efb8a448483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3999c800d7c4235" /><Relationship Type="http://schemas.openxmlformats.org/officeDocument/2006/relationships/notesSlide" Target="/ppt/notesSlides/notesSlide24.xml" Id="Rcccc0cba9fb74a0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9d8642a4da545bb" /><Relationship Type="http://schemas.openxmlformats.org/officeDocument/2006/relationships/notesSlide" Target="/ppt/notesSlides/notesSlide25.xml" Id="R627a46a764ec455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9badf20b6e34f13" /><Relationship Type="http://schemas.openxmlformats.org/officeDocument/2006/relationships/notesSlide" Target="/ppt/notesSlides/notesSlide26.xml" Id="Ra0c6386c5a8d48d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리더보드 F1</c:v>
          </c:tx>
          <c:spPr>
            <a:ln xmlns:a="http://schemas.openxmlformats.org/drawingml/2006/main" w="28575">
              <a:solidFill>
                <a:srgbClr val="C2410C"/>
              </a:solidFill>
            </a:ln>
          </c:spPr>
          <c:marker>
            <c:symbol val="circle"/>
            <c:size val="8"/>
            <c:spPr>
              <a:solidFill xmlns:a="http://schemas.openxmlformats.org/drawingml/2006/main">
                <a:srgbClr val="C2410C"/>
              </a:solidFill>
            </c:spPr>
          </c:marker>
          <c:cat>
            <c:strRef>
              <c:f>'Chart Data'!$A$2:$A$8</c:f>
              <c:strCache>
                <c:ptCount val="7"/>
                <c:pt idx="0">
                  <c:v>증강</c:v>
                </c:pt>
                <c:pt idx="1">
                  <c:v>하이브리드</c:v>
                </c:pt>
                <c:pt idx="2">
                  <c:v>2단계</c:v>
                </c:pt>
                <c:pt idx="3">
                  <c:v>KcELECTRA</c:v>
                </c:pt>
                <c:pt idx="4">
                  <c:v>반복 적용</c:v>
                </c:pt>
                <c:pt idx="5">
                  <c:v>앙상블</c:v>
                </c:pt>
                <c:pt idx="6">
                  <c:v>다수결</c:v>
                </c:pt>
              </c:strCache>
            </c:strRef>
          </c:cat>
          <c:val>
            <c:numRef>
              <c:f>'Chart Data'!$B$2:$B$8</c:f>
              <c:numCache>
                <c:formatCode>0.000</c:formatCode>
                <c:ptCount val="7"/>
                <c:pt idx="0">
                  <c:v>0.977</c:v>
                </c:pt>
                <c:pt idx="1">
                  <c:v>0.98</c:v>
                </c:pt>
                <c:pt idx="2">
                  <c:v>0.98473</c:v>
                </c:pt>
                <c:pt idx="3">
                  <c:v>0.9863</c:v>
                </c:pt>
                <c:pt idx="4">
                  <c:v>0.987</c:v>
                </c:pt>
                <c:pt idx="5">
                  <c:v>0.98846</c:v>
                </c:pt>
                <c:pt idx="6">
                  <c:v>0.989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425">
                  <a:solidFill>
                    <a:srgbClr val="1B2333"/>
                  </a:solidFill>
                  <a:latin typeface="Pretendard"/>
                  <a:ea typeface="Pretendard"/>
                  <a:cs typeface="Pretendard"/>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B2333"/>
                </a:solidFill>
                <a:latin typeface="Pretendard"/>
                <a:ea typeface="Pretendard"/>
                <a:cs typeface="Pretendard"/>
              </a:defRPr>
            </a:pPr>
          </a:p>
        </c:txPr>
        <c:crossAx val="48672768"/>
      </c:catAx>
      <c:valAx>
        <c:axId val="48672768"/>
        <c:scaling>
          <c:orientation val="minMax"/>
          <c:max val="0.994"/>
          <c:min val="0.974"/>
        </c:scaling>
        <c:delete val="0"/>
        <c:axPos val="l"/>
        <c:majorGridlines>
          <c:spPr>
            <a:ln xmlns:a="http://schemas.openxmlformats.org/drawingml/2006/main" w="9525">
              <a:solidFill>
                <a:srgbClr val="E1E5EB"/>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078"/>
                </a:solidFill>
                <a:latin typeface="Pretendard"/>
                <a:ea typeface="Pretendard"/>
                <a:cs typeface="Pretendard"/>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리더보드 F1</c:v>
          </c:tx>
          <c:spPr>
            <a:ln xmlns:a="http://schemas.openxmlformats.org/drawingml/2006/main" w="28575">
              <a:solidFill>
                <a:srgbClr val="2563EB"/>
              </a:solidFill>
            </a:ln>
          </c:spPr>
          <c:marker>
            <c:symbol val="circle"/>
            <c:size val="8"/>
            <c:spPr>
              <a:solidFill xmlns:a="http://schemas.openxmlformats.org/drawingml/2006/main">
                <a:srgbClr val="2563EB"/>
              </a:solidFill>
            </c:spPr>
          </c:marker>
          <c:cat>
            <c:strRef>
              <c:f>'Chart Data'!$A$2:$A$8</c:f>
              <c:strCache>
                <c:ptCount val="7"/>
                <c:pt idx="0">
                  <c:v>첫 제출</c:v>
                </c:pt>
                <c:pt idx="1">
                  <c:v>글자 1단계</c:v>
                </c:pt>
                <c:pt idx="2">
                  <c:v>사본 2개</c:v>
                </c:pt>
                <c:pt idx="3">
                  <c:v>사본 6개</c:v>
                </c:pt>
                <c:pt idx="4">
                  <c:v>모델 교체</c:v>
                </c:pt>
                <c:pt idx="5">
                  <c:v>후보 4개</c:v>
                </c:pt>
                <c:pt idx="6">
                  <c:v>후보 9개</c:v>
                </c:pt>
              </c:strCache>
            </c:strRef>
          </c:cat>
          <c:val>
            <c:numRef>
              <c:f>'Chart Data'!$B$2:$B$8</c:f>
              <c:numCache>
                <c:formatCode>0.000</c:formatCode>
                <c:ptCount val="7"/>
                <c:pt idx="0">
                  <c:v>0.96128</c:v>
                </c:pt>
                <c:pt idx="1">
                  <c:v>0.97418</c:v>
                </c:pt>
                <c:pt idx="2">
                  <c:v>0.98164</c:v>
                </c:pt>
                <c:pt idx="3">
                  <c:v>0.9831</c:v>
                </c:pt>
                <c:pt idx="4">
                  <c:v>0.98376</c:v>
                </c:pt>
                <c:pt idx="5">
                  <c:v>0.98481</c:v>
                </c:pt>
                <c:pt idx="6">
                  <c:v>0.98908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425">
                  <a:solidFill>
                    <a:srgbClr val="1B2333"/>
                  </a:solidFill>
                  <a:latin typeface="Pretendard"/>
                  <a:ea typeface="Pretendard"/>
                  <a:cs typeface="Pretendard"/>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B2333"/>
                </a:solidFill>
                <a:latin typeface="Pretendard"/>
                <a:ea typeface="Pretendard"/>
                <a:cs typeface="Pretendard"/>
              </a:defRPr>
            </a:pPr>
          </a:p>
        </c:txPr>
        <c:crossAx val="48672768"/>
      </c:catAx>
      <c:valAx>
        <c:axId val="48672768"/>
        <c:scaling>
          <c:orientation val="minMax"/>
          <c:max val="0.994"/>
          <c:min val="0.955"/>
        </c:scaling>
        <c:delete val="0"/>
        <c:axPos val="l"/>
        <c:majorGridlines>
          <c:spPr>
            <a:ln xmlns:a="http://schemas.openxmlformats.org/drawingml/2006/main" w="9525">
              <a:solidFill>
                <a:srgbClr val="E1E5EB"/>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078"/>
                </a:solidFill>
                <a:latin typeface="Pretendard"/>
                <a:ea typeface="Pretendard"/>
                <a:cs typeface="Pretendard"/>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B233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F6C6CB-1CB2-44F6-BBF4-60D2EE52D950}"/>
              </a:ext>
            </a:extLst>
          </p:cNvPr>
          <p:cNvSpPr>
            <a:spLocks xmlns:a="http://schemas.openxmlformats.org/drawingml/2006/main" noGrp="1"/>
          </p:cNvSpPr>
          <p:nvPr/>
        </p:nvSpPr>
        <p:spPr>
          <a:xfrm xmlns:a="http://schemas.openxmlformats.org/drawingml/2006/main">
            <a:off x="685800" y="68580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7A267"/>
                </a:solidFill>
                <a:latin typeface="Pretendard"/>
                <a:ea typeface="Pretendard"/>
                <a:cs typeface="Pretendard"/>
              </a:defRPr>
            </a:defPPr>
          </a:lstStyle>
          <a:p xmlns:a="http://schemas.openxmlformats.org/drawingml/2006/main">
            <a:pPr>
              <a:defRPr sz="2100" b="1">
                <a:solidFill>
                  <a:srgbClr val="F7A267"/>
                </a:solidFill>
                <a:latin typeface="Pretendard"/>
                <a:ea typeface="Pretendard"/>
                <a:cs typeface="Pretendard"/>
              </a:defRPr>
            </a:pPr>
            <a:r>
              <a:rPr sz="2100" b="1">
                <a:solidFill>
                  <a:srgbClr val="F7A267"/>
                </a:solidFill>
                <a:latin typeface="Pretendard"/>
                <a:ea typeface="Pretendard"/>
                <a:cs typeface="Pretendard"/>
              </a:rPr>
              <a:t>난독화된 한글 리뷰 복원</a:t>
            </a:r>
          </a:p>
        </p:txBody>
      </p:sp>
      <p:sp>
        <p:nvSpPr>
          <p:cNvPr id="2" name="">
            <a:extLst xmlns:a="http://schemas.openxmlformats.org/drawingml/2006/main">
              <a:ext uri="{FF2B5EF4-FFF2-40B4-BE49-F238E27FC236}">
                <a16:creationId xmlns:a16="http://schemas.microsoft.com/office/drawing/2014/main" id="{32CCE357-F342-4030-91BB-D7B6CA49601F}"/>
              </a:ext>
            </a:extLst>
          </p:cNvPr>
          <p:cNvSpPr>
            <a:spLocks xmlns:a="http://schemas.openxmlformats.org/drawingml/2006/main" noGrp="1"/>
          </p:cNvSpPr>
          <p:nvPr/>
        </p:nvSpPr>
        <p:spPr>
          <a:xfrm xmlns:a="http://schemas.openxmlformats.org/drawingml/2006/main">
            <a:off x="685800" y="2000250"/>
            <a:ext cx="1082040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Pretendard"/>
                <a:ea typeface="Pretendard"/>
                <a:cs typeface="Pretendard"/>
              </a:defRPr>
            </a:defPPr>
          </a:lstStyle>
          <a:p xmlns:a="http://schemas.openxmlformats.org/drawingml/2006/main">
            <a:pP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난독화 리뷰,</a:t>
            </a:r>
          </a:p>
          <a:p xmlns:a="http://schemas.openxmlformats.org/drawingml/2006/main">
            <a:pP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가지 복원 전략</a:t>
            </a:r>
          </a:p>
        </p:txBody>
      </p:sp>
      <p:sp>
        <p:nvSpPr>
          <p:cNvPr id="3" name="">
            <a:extLst xmlns:a="http://schemas.openxmlformats.org/drawingml/2006/main">
              <a:ext uri="{FF2B5EF4-FFF2-40B4-BE49-F238E27FC236}">
                <a16:creationId xmlns:a16="http://schemas.microsoft.com/office/drawing/2014/main" id="{7C933066-2CAA-4CC1-A7E5-D4CB7B6EC6FC}"/>
              </a:ext>
            </a:extLst>
          </p:cNvPr>
          <p:cNvSpPr>
            <a:spLocks xmlns:a="http://schemas.openxmlformats.org/drawingml/2006/main" noGrp="1"/>
          </p:cNvSpPr>
          <p:nvPr/>
        </p:nvSpPr>
        <p:spPr>
          <a:xfrm xmlns:a="http://schemas.openxmlformats.org/drawingml/2006/main">
            <a:off x="685800" y="4000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D7DFEB"/>
                </a:solidFill>
                <a:latin typeface="Pretendard"/>
                <a:ea typeface="Pretendard"/>
                <a:cs typeface="Pretendard"/>
              </a:defRPr>
            </a:defPPr>
          </a:lstStyle>
          <a:p xmlns:a="http://schemas.openxmlformats.org/drawingml/2006/main">
            <a:pPr>
              <a:defRPr sz="2550" b="0">
                <a:solidFill>
                  <a:srgbClr val="D7DFEB"/>
                </a:solidFill>
                <a:latin typeface="Pretendard"/>
                <a:ea typeface="Pretendard"/>
                <a:cs typeface="Pretendard"/>
              </a:defRPr>
            </a:pPr>
            <a:r>
              <a:rPr sz="2550" b="0">
                <a:solidFill>
                  <a:srgbClr val="D7DFEB"/>
                </a:solidFill>
                <a:latin typeface="Pretendard"/>
                <a:ea typeface="Pretendard"/>
                <a:cs typeface="Pretendard"/>
              </a:rPr>
              <a:t>A팀의 반복 교정과 B팀의 후보 선택</a:t>
            </a:r>
          </a:p>
        </p:txBody>
      </p:sp>
      <p:sp>
        <p:nvSpPr>
          <p:cNvPr id="4" name="">
            <a:extLst xmlns:a="http://schemas.openxmlformats.org/drawingml/2006/main">
              <a:ext uri="{FF2B5EF4-FFF2-40B4-BE49-F238E27FC236}">
                <a16:creationId xmlns:a16="http://schemas.microsoft.com/office/drawing/2014/main" id="{DF191C1C-305E-426F-89C1-81DE8CF5F0A2}"/>
              </a:ext>
            </a:extLst>
          </p:cNvPr>
          <p:cNvSpPr>
            <a:spLocks xmlns:a="http://schemas.openxmlformats.org/drawingml/2006/main" noGrp="1"/>
          </p:cNvSpPr>
          <p:nvPr/>
        </p:nvSpPr>
        <p:spPr>
          <a:xfrm xmlns:a="http://schemas.openxmlformats.org/drawingml/2006/main">
            <a:off x="685800" y="55626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latin typeface="Pretendard"/>
                <a:ea typeface="Pretendard"/>
                <a:cs typeface="Pretendard"/>
              </a:defRPr>
            </a:defPPr>
          </a:lstStyle>
          <a:p xmlns:a="http://schemas.openxmlformats.org/drawingml/2006/main">
            <a:pPr>
              <a:defRPr sz="1950" b="0">
                <a:solidFill>
                  <a:srgbClr val="FFFFFF"/>
                </a:solidFill>
                <a:latin typeface="Pretendard"/>
                <a:ea typeface="Pretendard"/>
                <a:cs typeface="Pretendard"/>
              </a:defRPr>
            </a:pPr>
            <a:r>
              <a:rPr sz="1950" b="0">
                <a:solidFill>
                  <a:srgbClr val="FFFFFF"/>
                </a:solidFill>
                <a:latin typeface="Pretendard"/>
                <a:ea typeface="Pretendard"/>
                <a:cs typeface="Pretendard"/>
              </a:rPr>
              <a:t>데이터에서 발견한 문제가 모델 설계를 어떻게 바꿨는가</a:t>
            </a:r>
          </a:p>
        </p:txBody>
      </p:sp>
    </p:spTree>
    <p:extLst>
      <p:ext uri="{BB962C8B-B14F-4D97-AF65-F5344CB8AC3E}">
        <p14:creationId xmlns:p14="http://schemas.microsoft.com/office/powerpoint/2010/main" val="5855969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8B1E55-30DC-43CA-9921-376838323D05}"/>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A1DCC63C-FAC7-4996-BD20-3FCE85A4F8A9}"/>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문제: 읽기 어려운 리뷰를 원래 문장으로 복원</a:t>
            </a:r>
          </a:p>
        </p:txBody>
      </p:sp>
      <p:graphicFrame>
        <p:nvGraphicFramePr>
          <p:cNvPr id="3" name="">
            <a:extLst xmlns:a="http://schemas.openxmlformats.org/drawingml/2006/main">
              <a:ext uri="{FF2B5EF4-FFF2-40B4-BE49-F238E27FC236}">
                <a16:creationId xmlns:a16="http://schemas.microsoft.com/office/drawing/2014/main" id="{97C2F844-9C1F-4881-88D4-6CB63103B582}"/>
              </a:ext>
            </a:extLst>
          </p:cNvPr>
          <p:cNvGraphicFramePr/>
          <p:nvPr/>
        </p:nvGraphicFramePr>
        <p:xfrm>
          <a:off xmlns:a="http://schemas.openxmlformats.org/drawingml/2006/main" x="685800" y="1619250"/>
          <a:ext xmlns:a="http://schemas.openxmlformats.org/drawingml/2006/main" cx="10820400" cy="2857500"/>
        </p:xfrm>
        <a:graphic xmlns:a="http://schemas.openxmlformats.org/drawingml/2006/main">
          <a:graphicData uri="http://schemas.openxmlformats.org/drawingml/2006/table">
            <a:tbl>
              <a:tblPr/>
              <a:tblGrid>
                <a:gridCol w="2286000"/>
                <a:gridCol w="8534400"/>
              </a:tblGrid>
              <a:tr h="952500">
                <a:tc>
                  <a:txBody>
                    <a:bodyPr/>
                    <a:lstStyle/>
                    <a:p>
                      <a:r>
                        <a:rPr sz="1800" b="1">
                          <a:solidFill>
                            <a:srgbClr val="FFFFFF"/>
                          </a:solidFill>
                          <a:latin typeface="Pretendard"/>
                          <a:ea typeface="Pretendard"/>
                          <a:cs typeface="Pretendard"/>
                        </a:rPr>
                        <a:t>구분</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문장</a:t>
                      </a:r>
                    </a:p>
                  </a:txBody>
                  <a:tcPr marL="133350" marR="133350" marT="95250" marB="95250" anchor="ctr">
                    <a:solidFill>
                      <a:srgbClr val="1B2333"/>
                    </a:solidFill>
                  </a:tcPr>
                </a:tc>
              </a:tr>
              <a:tr h="952500">
                <a:tc>
                  <a:txBody>
                    <a:bodyPr/>
                    <a:lstStyle/>
                    <a:p>
                      <a:r>
                        <a:rPr sz="1800" b="0">
                          <a:solidFill>
                            <a:srgbClr val="1B2333"/>
                          </a:solidFill>
                          <a:latin typeface="Pretendard"/>
                          <a:ea typeface="Pretendard"/>
                          <a:cs typeface="Pretendard"/>
                        </a:rPr>
                        <a:t>난독화 입력</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꺼율위 쓱팍</a:t>
                      </a:r>
                    </a:p>
                  </a:txBody>
                  <a:tcPr marL="133350" marR="133350" marT="95250" marB="95250" anchor="ctr">
                    <a:solidFill>
                      <a:srgbClr val="F4F6F9"/>
                    </a:solidFill>
                  </a:tcPr>
                </a:tc>
              </a:tr>
              <a:tr h="952500">
                <a:tc>
                  <a:txBody>
                    <a:bodyPr/>
                    <a:lstStyle/>
                    <a:p>
                      <a:r>
                        <a:rPr sz="1800" b="0">
                          <a:solidFill>
                            <a:srgbClr val="1B2333"/>
                          </a:solidFill>
                          <a:latin typeface="Pretendard"/>
                          <a:ea typeface="Pretendard"/>
                          <a:cs typeface="Pretendard"/>
                        </a:rPr>
                        <a:t>정답</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겨울의 스파</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071D9EC-E21A-4994-B01E-8243C64A0BC1}"/>
              </a:ext>
            </a:extLst>
          </p:cNvPr>
          <p:cNvSpPr>
            <a:spLocks xmlns:a="http://schemas.openxmlformats.org/drawingml/2006/main" noGrp="1"/>
          </p:cNvSpPr>
          <p:nvPr/>
        </p:nvSpPr>
        <p:spPr>
          <a:xfrm xmlns:a="http://schemas.openxmlformats.org/drawingml/2006/main">
            <a:off x="685800" y="4686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학습 11,263문장 / 테스트 1,689문장</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글자 단위 F1으로 평가. 외부 데이터 금지, 공개 사전학습 가중치 허용</a:t>
            </a:r>
          </a:p>
        </p:txBody>
      </p:sp>
      <p:sp>
        <p:nvSpPr>
          <p:cNvPr id="5" name="">
            <a:extLst xmlns:a="http://schemas.openxmlformats.org/drawingml/2006/main">
              <a:ext uri="{FF2B5EF4-FFF2-40B4-BE49-F238E27FC236}">
                <a16:creationId xmlns:a16="http://schemas.microsoft.com/office/drawing/2014/main" id="{5A7DC6C7-EFAE-487E-BF01-1FE78C431C6D}"/>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사람이 짐작하는 원래 글자를 모델도 문맥과 규칙으로 고르게 한다</a:t>
            </a:r>
          </a:p>
        </p:txBody>
      </p:sp>
      <p:sp>
        <p:nvSpPr>
          <p:cNvPr id="6" name="">
            <a:extLst xmlns:a="http://schemas.openxmlformats.org/drawingml/2006/main">
              <a:ext uri="{FF2B5EF4-FFF2-40B4-BE49-F238E27FC236}">
                <a16:creationId xmlns:a16="http://schemas.microsoft.com/office/drawing/2014/main" id="{AB58D648-786B-4411-92BC-822D633CCF3D}"/>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02</a:t>
            </a:r>
          </a:p>
        </p:txBody>
      </p:sp>
    </p:spTree>
    <p:extLst>
      <p:ext uri="{BB962C8B-B14F-4D97-AF65-F5344CB8AC3E}">
        <p14:creationId xmlns:p14="http://schemas.microsoft.com/office/powerpoint/2010/main" val="2814870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68A1894-73E0-4604-AB2B-DB37E3A82019}"/>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BA62DF19-1C52-4DA7-834A-D9BF427286D3}"/>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일반적인 데이터 문제 해결 과정</a:t>
            </a:r>
          </a:p>
        </p:txBody>
      </p:sp>
      <p:sp>
        <p:nvSpPr>
          <p:cNvPr id="3" name="">
            <a:extLst xmlns:a="http://schemas.openxmlformats.org/drawingml/2006/main">
              <a:ext uri="{FF2B5EF4-FFF2-40B4-BE49-F238E27FC236}">
                <a16:creationId xmlns:a16="http://schemas.microsoft.com/office/drawing/2014/main" id="{6BF69141-7684-4D0D-869A-2B80B45EA921}"/>
              </a:ext>
            </a:extLst>
          </p:cNvPr>
          <p:cNvSpPr>
            <a:spLocks xmlns:a="http://schemas.openxmlformats.org/drawingml/2006/main" noGrp="1"/>
          </p:cNvSpPr>
          <p:nvPr/>
        </p:nvSpPr>
        <p:spPr>
          <a:xfrm xmlns:a="http://schemas.openxmlformats.org/drawingml/2006/main">
            <a:off x="685800" y="169545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01 문제 정의</a:t>
            </a:r>
          </a:p>
        </p:txBody>
      </p:sp>
      <p:sp>
        <p:nvSpPr>
          <p:cNvPr id="4" name="">
            <a:extLst xmlns:a="http://schemas.openxmlformats.org/drawingml/2006/main">
              <a:ext uri="{FF2B5EF4-FFF2-40B4-BE49-F238E27FC236}">
                <a16:creationId xmlns:a16="http://schemas.microsoft.com/office/drawing/2014/main" id="{3291859B-A88E-401D-A49A-CCDABB8914DE}"/>
              </a:ext>
            </a:extLst>
          </p:cNvPr>
          <p:cNvSpPr>
            <a:spLocks xmlns:a="http://schemas.openxmlformats.org/drawingml/2006/main" noGrp="1"/>
          </p:cNvSpPr>
          <p:nvPr/>
        </p:nvSpPr>
        <p:spPr>
          <a:xfrm xmlns:a="http://schemas.openxmlformats.org/drawingml/2006/main">
            <a:off x="3886200" y="1695450"/>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무엇을 맞히고 어떤 점수로 평가할지 정한다</a:t>
            </a:r>
          </a:p>
        </p:txBody>
      </p:sp>
      <p:sp>
        <p:nvSpPr>
          <p:cNvPr id="5" name="">
            <a:extLst xmlns:a="http://schemas.openxmlformats.org/drawingml/2006/main">
              <a:ext uri="{FF2B5EF4-FFF2-40B4-BE49-F238E27FC236}">
                <a16:creationId xmlns:a16="http://schemas.microsoft.com/office/drawing/2014/main" id="{EEE5DE99-233A-459B-8B9F-288F032DB4EA}"/>
              </a:ext>
            </a:extLst>
          </p:cNvPr>
          <p:cNvSpPr>
            <a:spLocks xmlns:a="http://schemas.openxmlformats.org/drawingml/2006/main" noGrp="1"/>
          </p:cNvSpPr>
          <p:nvPr/>
        </p:nvSpPr>
        <p:spPr>
          <a:xfrm xmlns:a="http://schemas.openxmlformats.org/drawingml/2006/main">
            <a:off x="685800" y="243840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02 EDA</a:t>
            </a:r>
          </a:p>
        </p:txBody>
      </p:sp>
      <p:sp>
        <p:nvSpPr>
          <p:cNvPr id="6" name="">
            <a:extLst xmlns:a="http://schemas.openxmlformats.org/drawingml/2006/main">
              <a:ext uri="{FF2B5EF4-FFF2-40B4-BE49-F238E27FC236}">
                <a16:creationId xmlns:a16="http://schemas.microsoft.com/office/drawing/2014/main" id="{994FF809-04AA-4E65-B188-895EFFC09D12}"/>
              </a:ext>
            </a:extLst>
          </p:cNvPr>
          <p:cNvSpPr>
            <a:spLocks xmlns:a="http://schemas.openxmlformats.org/drawingml/2006/main" noGrp="1"/>
          </p:cNvSpPr>
          <p:nvPr/>
        </p:nvSpPr>
        <p:spPr>
          <a:xfrm xmlns:a="http://schemas.openxmlformats.org/drawingml/2006/main">
            <a:off x="3886200" y="2438400"/>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예시, 길이, 바뀌는 글자의 규칙을 살펴본다</a:t>
            </a:r>
          </a:p>
        </p:txBody>
      </p:sp>
      <p:sp>
        <p:nvSpPr>
          <p:cNvPr id="7" name="">
            <a:extLst xmlns:a="http://schemas.openxmlformats.org/drawingml/2006/main">
              <a:ext uri="{FF2B5EF4-FFF2-40B4-BE49-F238E27FC236}">
                <a16:creationId xmlns:a16="http://schemas.microsoft.com/office/drawing/2014/main" id="{3AA79D69-6419-4821-8DF2-164923EF6C5D}"/>
              </a:ext>
            </a:extLst>
          </p:cNvPr>
          <p:cNvSpPr>
            <a:spLocks xmlns:a="http://schemas.openxmlformats.org/drawingml/2006/main" noGrp="1"/>
          </p:cNvSpPr>
          <p:nvPr/>
        </p:nvSpPr>
        <p:spPr>
          <a:xfrm xmlns:a="http://schemas.openxmlformats.org/drawingml/2006/main">
            <a:off x="685800" y="318135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03 기준 모델</a:t>
            </a:r>
          </a:p>
        </p:txBody>
      </p:sp>
      <p:sp>
        <p:nvSpPr>
          <p:cNvPr id="8" name="">
            <a:extLst xmlns:a="http://schemas.openxmlformats.org/drawingml/2006/main">
              <a:ext uri="{FF2B5EF4-FFF2-40B4-BE49-F238E27FC236}">
                <a16:creationId xmlns:a16="http://schemas.microsoft.com/office/drawing/2014/main" id="{E50758E7-35B5-445A-917E-FD19BEFD07EF}"/>
              </a:ext>
            </a:extLst>
          </p:cNvPr>
          <p:cNvSpPr>
            <a:spLocks xmlns:a="http://schemas.openxmlformats.org/drawingml/2006/main" noGrp="1"/>
          </p:cNvSpPr>
          <p:nvPr/>
        </p:nvSpPr>
        <p:spPr>
          <a:xfrm xmlns:a="http://schemas.openxmlformats.org/drawingml/2006/main">
            <a:off x="3886200" y="3181350"/>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간단한 모델을 만들고 검증 예측을 남긴다</a:t>
            </a:r>
          </a:p>
        </p:txBody>
      </p:sp>
      <p:sp>
        <p:nvSpPr>
          <p:cNvPr id="9" name="">
            <a:extLst xmlns:a="http://schemas.openxmlformats.org/drawingml/2006/main">
              <a:ext uri="{FF2B5EF4-FFF2-40B4-BE49-F238E27FC236}">
                <a16:creationId xmlns:a16="http://schemas.microsoft.com/office/drawing/2014/main" id="{A5FD2892-6459-42C4-B731-356529F3CEAD}"/>
              </a:ext>
            </a:extLst>
          </p:cNvPr>
          <p:cNvSpPr>
            <a:spLocks xmlns:a="http://schemas.openxmlformats.org/drawingml/2006/main" noGrp="1"/>
          </p:cNvSpPr>
          <p:nvPr/>
        </p:nvSpPr>
        <p:spPr>
          <a:xfrm xmlns:a="http://schemas.openxmlformats.org/drawingml/2006/main">
            <a:off x="685800" y="392430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04 오류 분석</a:t>
            </a:r>
          </a:p>
        </p:txBody>
      </p:sp>
      <p:sp>
        <p:nvSpPr>
          <p:cNvPr id="10" name="">
            <a:extLst xmlns:a="http://schemas.openxmlformats.org/drawingml/2006/main">
              <a:ext uri="{FF2B5EF4-FFF2-40B4-BE49-F238E27FC236}">
                <a16:creationId xmlns:a16="http://schemas.microsoft.com/office/drawing/2014/main" id="{031C7718-665D-4F07-8D75-294393AABCA7}"/>
              </a:ext>
            </a:extLst>
          </p:cNvPr>
          <p:cNvSpPr>
            <a:spLocks xmlns:a="http://schemas.openxmlformats.org/drawingml/2006/main" noGrp="1"/>
          </p:cNvSpPr>
          <p:nvPr/>
        </p:nvSpPr>
        <p:spPr>
          <a:xfrm xmlns:a="http://schemas.openxmlformats.org/drawingml/2006/main">
            <a:off x="3886200" y="3924300"/>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어떤 단어와 문장에서 틀리는지 묶어 본다</a:t>
            </a:r>
          </a:p>
        </p:txBody>
      </p:sp>
      <p:sp>
        <p:nvSpPr>
          <p:cNvPr id="11" name="">
            <a:extLst xmlns:a="http://schemas.openxmlformats.org/drawingml/2006/main">
              <a:ext uri="{FF2B5EF4-FFF2-40B4-BE49-F238E27FC236}">
                <a16:creationId xmlns:a16="http://schemas.microsoft.com/office/drawing/2014/main" id="{03002510-24E9-49E8-8CF5-87B521DE73B0}"/>
              </a:ext>
            </a:extLst>
          </p:cNvPr>
          <p:cNvSpPr>
            <a:spLocks xmlns:a="http://schemas.openxmlformats.org/drawingml/2006/main" noGrp="1"/>
          </p:cNvSpPr>
          <p:nvPr/>
        </p:nvSpPr>
        <p:spPr>
          <a:xfrm xmlns:a="http://schemas.openxmlformats.org/drawingml/2006/main">
            <a:off x="685800" y="466725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05 개선과 검증</a:t>
            </a:r>
          </a:p>
        </p:txBody>
      </p:sp>
      <p:sp>
        <p:nvSpPr>
          <p:cNvPr id="12" name="">
            <a:extLst xmlns:a="http://schemas.openxmlformats.org/drawingml/2006/main">
              <a:ext uri="{FF2B5EF4-FFF2-40B4-BE49-F238E27FC236}">
                <a16:creationId xmlns:a16="http://schemas.microsoft.com/office/drawing/2014/main" id="{757CA0EE-A698-4B79-9B03-FD5B50776DC6}"/>
              </a:ext>
            </a:extLst>
          </p:cNvPr>
          <p:cNvSpPr>
            <a:spLocks xmlns:a="http://schemas.openxmlformats.org/drawingml/2006/main" noGrp="1"/>
          </p:cNvSpPr>
          <p:nvPr/>
        </p:nvSpPr>
        <p:spPr>
          <a:xfrm xmlns:a="http://schemas.openxmlformats.org/drawingml/2006/main">
            <a:off x="3886200" y="4667250"/>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원인에 맞는 방법을 바꾸고 같은 기준으로 확인한다</a:t>
            </a:r>
          </a:p>
        </p:txBody>
      </p:sp>
      <p:sp>
        <p:nvSpPr>
          <p:cNvPr id="13" name="">
            <a:extLst xmlns:a="http://schemas.openxmlformats.org/drawingml/2006/main">
              <a:ext uri="{FF2B5EF4-FFF2-40B4-BE49-F238E27FC236}">
                <a16:creationId xmlns:a16="http://schemas.microsoft.com/office/drawing/2014/main" id="{8642E461-E3BB-4E46-BF20-B58D73C6503E}"/>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점수가 멈추면 오류 분석으로 돌아가 다음 실험을 정한다</a:t>
            </a:r>
          </a:p>
        </p:txBody>
      </p:sp>
      <p:sp>
        <p:nvSpPr>
          <p:cNvPr id="14" name="">
            <a:extLst xmlns:a="http://schemas.openxmlformats.org/drawingml/2006/main">
              <a:ext uri="{FF2B5EF4-FFF2-40B4-BE49-F238E27FC236}">
                <a16:creationId xmlns:a16="http://schemas.microsoft.com/office/drawing/2014/main" id="{BD260E80-2FCA-4135-B2CF-16E69533035F}"/>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03</a:t>
            </a:r>
          </a:p>
        </p:txBody>
      </p:sp>
    </p:spTree>
    <p:extLst>
      <p:ext uri="{BB962C8B-B14F-4D97-AF65-F5344CB8AC3E}">
        <p14:creationId xmlns:p14="http://schemas.microsoft.com/office/powerpoint/2010/main" val="10727040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213D5E9-D77E-44B6-B8D1-70E7ABAE0DE8}"/>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1F8F3C46-78DE-4019-BB96-AB77C7DA3B09}"/>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공통 EDA: 문장을 글자별 문제로 바꿀 근거</a:t>
            </a:r>
          </a:p>
        </p:txBody>
      </p:sp>
      <p:sp>
        <p:nvSpPr>
          <p:cNvPr id="3" name="">
            <a:extLst xmlns:a="http://schemas.openxmlformats.org/drawingml/2006/main">
              <a:ext uri="{FF2B5EF4-FFF2-40B4-BE49-F238E27FC236}">
                <a16:creationId xmlns:a16="http://schemas.microsoft.com/office/drawing/2014/main" id="{59F64B96-8F59-4206-AA2C-F3AF3FA738D1}"/>
              </a:ext>
            </a:extLst>
          </p:cNvPr>
          <p:cNvSpPr>
            <a:spLocks xmlns:a="http://schemas.openxmlformats.org/drawingml/2006/main" noGrp="1"/>
          </p:cNvSpPr>
          <p:nvPr/>
        </p:nvSpPr>
        <p:spPr>
          <a:xfrm xmlns:a="http://schemas.openxmlformats.org/drawingml/2006/main">
            <a:off x="685800" y="16954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관찰 1</a:t>
            </a:r>
          </a:p>
        </p:txBody>
      </p:sp>
      <p:sp>
        <p:nvSpPr>
          <p:cNvPr id="4" name="">
            <a:extLst xmlns:a="http://schemas.openxmlformats.org/drawingml/2006/main">
              <a:ext uri="{FF2B5EF4-FFF2-40B4-BE49-F238E27FC236}">
                <a16:creationId xmlns:a16="http://schemas.microsoft.com/office/drawing/2014/main" id="{78E7A20F-C64C-4E1D-AEDB-CC463D275863}"/>
              </a:ext>
            </a:extLst>
          </p:cNvPr>
          <p:cNvSpPr>
            <a:spLocks xmlns:a="http://schemas.openxmlformats.org/drawingml/2006/main" noGrp="1"/>
          </p:cNvSpPr>
          <p:nvPr/>
        </p:nvSpPr>
        <p:spPr>
          <a:xfrm xmlns:a="http://schemas.openxmlformats.org/drawingml/2006/main">
            <a:off x="3886200" y="16954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입력과 정답의 글자 수가 같다</a:t>
            </a:r>
          </a:p>
        </p:txBody>
      </p:sp>
      <p:sp>
        <p:nvSpPr>
          <p:cNvPr id="5" name="">
            <a:extLst xmlns:a="http://schemas.openxmlformats.org/drawingml/2006/main">
              <a:ext uri="{FF2B5EF4-FFF2-40B4-BE49-F238E27FC236}">
                <a16:creationId xmlns:a16="http://schemas.microsoft.com/office/drawing/2014/main" id="{1212E758-84CD-42B1-9EAF-6EAA8B977C80}"/>
              </a:ext>
            </a:extLst>
          </p:cNvPr>
          <p:cNvSpPr>
            <a:spLocks xmlns:a="http://schemas.openxmlformats.org/drawingml/2006/main" noGrp="1"/>
          </p:cNvSpPr>
          <p:nvPr/>
        </p:nvSpPr>
        <p:spPr>
          <a:xfrm xmlns:a="http://schemas.openxmlformats.org/drawingml/2006/main">
            <a:off x="685800" y="262890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관찰 2</a:t>
            </a:r>
          </a:p>
        </p:txBody>
      </p:sp>
      <p:sp>
        <p:nvSpPr>
          <p:cNvPr id="6" name="">
            <a:extLst xmlns:a="http://schemas.openxmlformats.org/drawingml/2006/main">
              <a:ext uri="{FF2B5EF4-FFF2-40B4-BE49-F238E27FC236}">
                <a16:creationId xmlns:a16="http://schemas.microsoft.com/office/drawing/2014/main" id="{8B1ECE09-664A-4608-8B56-29565F07BC74}"/>
              </a:ext>
            </a:extLst>
          </p:cNvPr>
          <p:cNvSpPr>
            <a:spLocks xmlns:a="http://schemas.openxmlformats.org/drawingml/2006/main" noGrp="1"/>
          </p:cNvSpPr>
          <p:nvPr/>
        </p:nvSpPr>
        <p:spPr>
          <a:xfrm xmlns:a="http://schemas.openxmlformats.org/drawingml/2006/main">
            <a:off x="3886200" y="262890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공백, 숫자, 문장부호는 그대로 남는다</a:t>
            </a:r>
          </a:p>
        </p:txBody>
      </p:sp>
      <p:sp>
        <p:nvSpPr>
          <p:cNvPr id="7" name="">
            <a:extLst xmlns:a="http://schemas.openxmlformats.org/drawingml/2006/main">
              <a:ext uri="{FF2B5EF4-FFF2-40B4-BE49-F238E27FC236}">
                <a16:creationId xmlns:a16="http://schemas.microsoft.com/office/drawing/2014/main" id="{333A2FC8-4315-49B5-BBB0-A4B0F2F34313}"/>
              </a:ext>
            </a:extLst>
          </p:cNvPr>
          <p:cNvSpPr>
            <a:spLocks xmlns:a="http://schemas.openxmlformats.org/drawingml/2006/main" noGrp="1"/>
          </p:cNvSpPr>
          <p:nvPr/>
        </p:nvSpPr>
        <p:spPr>
          <a:xfrm xmlns:a="http://schemas.openxmlformats.org/drawingml/2006/main">
            <a:off x="685800" y="35623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관찰 3</a:t>
            </a:r>
          </a:p>
        </p:txBody>
      </p:sp>
      <p:sp>
        <p:nvSpPr>
          <p:cNvPr id="8" name="">
            <a:extLst xmlns:a="http://schemas.openxmlformats.org/drawingml/2006/main">
              <a:ext uri="{FF2B5EF4-FFF2-40B4-BE49-F238E27FC236}">
                <a16:creationId xmlns:a16="http://schemas.microsoft.com/office/drawing/2014/main" id="{75C4DBAA-862A-4B68-85B7-E1ABF7B93941}"/>
              </a:ext>
            </a:extLst>
          </p:cNvPr>
          <p:cNvSpPr>
            <a:spLocks xmlns:a="http://schemas.openxmlformats.org/drawingml/2006/main" noGrp="1"/>
          </p:cNvSpPr>
          <p:nvPr/>
        </p:nvSpPr>
        <p:spPr>
          <a:xfrm xmlns:a="http://schemas.openxmlformats.org/drawingml/2006/main">
            <a:off x="3886200" y="35623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한글 음절 자리는 다른 한글 음절로 바뀐다</a:t>
            </a:r>
          </a:p>
        </p:txBody>
      </p:sp>
      <p:sp>
        <p:nvSpPr>
          <p:cNvPr id="9" name="">
            <a:extLst xmlns:a="http://schemas.openxmlformats.org/drawingml/2006/main">
              <a:ext uri="{FF2B5EF4-FFF2-40B4-BE49-F238E27FC236}">
                <a16:creationId xmlns:a16="http://schemas.microsoft.com/office/drawing/2014/main" id="{48ECBEB2-BC2C-439E-AD7B-5D457CE72DB0}"/>
              </a:ext>
            </a:extLst>
          </p:cNvPr>
          <p:cNvSpPr>
            <a:spLocks xmlns:a="http://schemas.openxmlformats.org/drawingml/2006/main" noGrp="1"/>
          </p:cNvSpPr>
          <p:nvPr/>
        </p:nvSpPr>
        <p:spPr>
          <a:xfrm xmlns:a="http://schemas.openxmlformats.org/drawingml/2006/main">
            <a:off x="685800" y="45720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따라서 글자 위치를 맞춰 비교할 수 있다.</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한글 자리의 정답 음절을 고르고, 나머지 글자는 그대로 복사한다.</a:t>
            </a:r>
          </a:p>
        </p:txBody>
      </p:sp>
      <p:sp>
        <p:nvSpPr>
          <p:cNvPr id="10" name="">
            <a:extLst xmlns:a="http://schemas.openxmlformats.org/drawingml/2006/main">
              <a:ext uri="{FF2B5EF4-FFF2-40B4-BE49-F238E27FC236}">
                <a16:creationId xmlns:a16="http://schemas.microsoft.com/office/drawing/2014/main" id="{E87EF303-3B40-49B8-896A-FC88C0D30369}"/>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길이를 유지하는 글자 분류가 데이터 구조에 맞는다</a:t>
            </a:r>
          </a:p>
        </p:txBody>
      </p:sp>
      <p:sp>
        <p:nvSpPr>
          <p:cNvPr id="11" name="">
            <a:extLst xmlns:a="http://schemas.openxmlformats.org/drawingml/2006/main">
              <a:ext uri="{FF2B5EF4-FFF2-40B4-BE49-F238E27FC236}">
                <a16:creationId xmlns:a16="http://schemas.microsoft.com/office/drawing/2014/main" id="{BC3B4B36-7F25-46B6-A1DF-C1D469014363}"/>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04</a:t>
            </a:r>
          </a:p>
        </p:txBody>
      </p:sp>
    </p:spTree>
    <p:extLst>
      <p:ext uri="{BB962C8B-B14F-4D97-AF65-F5344CB8AC3E}">
        <p14:creationId xmlns:p14="http://schemas.microsoft.com/office/powerpoint/2010/main" val="21160457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1FD6CC-3643-44E1-A85E-0FB4AA76529D}"/>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41CE37DD-0F0C-47C1-BADB-47B122DC25CB}"/>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같은 길이라는 관찰이 설계를 단순하게 한다</a:t>
            </a:r>
          </a:p>
        </p:txBody>
      </p:sp>
      <p:graphicFrame>
        <p:nvGraphicFramePr>
          <p:cNvPr id="3" name="">
            <a:extLst xmlns:a="http://schemas.openxmlformats.org/drawingml/2006/main">
              <a:ext uri="{FF2B5EF4-FFF2-40B4-BE49-F238E27FC236}">
                <a16:creationId xmlns:a16="http://schemas.microsoft.com/office/drawing/2014/main" id="{E21617B5-2193-4501-9FC4-A99A8CC7D637}"/>
              </a:ext>
            </a:extLst>
          </p:cNvPr>
          <p:cNvGraphicFramePr/>
          <p:nvPr/>
        </p:nvGraphicFramePr>
        <p:xfrm>
          <a:off xmlns:a="http://schemas.openxmlformats.org/drawingml/2006/main" x="685800" y="1619250"/>
          <a:ext xmlns:a="http://schemas.openxmlformats.org/drawingml/2006/main" cx="10820400" cy="2857500"/>
        </p:xfrm>
        <a:graphic xmlns:a="http://schemas.openxmlformats.org/drawingml/2006/main">
          <a:graphicData uri="http://schemas.openxmlformats.org/drawingml/2006/table">
            <a:tbl>
              <a:tblPr/>
              <a:tblGrid>
                <a:gridCol w="1905000"/>
                <a:gridCol w="1485900"/>
                <a:gridCol w="1485900"/>
                <a:gridCol w="1485900"/>
                <a:gridCol w="1485900"/>
                <a:gridCol w="1485900"/>
                <a:gridCol w="1485900"/>
              </a:tblGrid>
              <a:tr h="714375">
                <a:tc>
                  <a:txBody>
                    <a:bodyPr/>
                    <a:lstStyle/>
                    <a:p>
                      <a:r>
                        <a:rPr sz="1800" b="1">
                          <a:solidFill>
                            <a:srgbClr val="FFFFFF"/>
                          </a:solidFill>
                          <a:latin typeface="Pretendard"/>
                          <a:ea typeface="Pretendard"/>
                          <a:cs typeface="Pretendard"/>
                        </a:rPr>
                        <a:t>위치</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1</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2</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3</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4</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5</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6</a:t>
                      </a:r>
                    </a:p>
                  </a:txBody>
                  <a:tcPr marL="133350" marR="133350" marT="95250" marB="95250" anchor="ctr">
                    <a:solidFill>
                      <a:srgbClr val="1B2333"/>
                    </a:solidFill>
                  </a:tcPr>
                </a:tc>
              </a:tr>
              <a:tr h="714375">
                <a:tc>
                  <a:txBody>
                    <a:bodyPr/>
                    <a:lstStyle/>
                    <a:p>
                      <a:r>
                        <a:rPr sz="1800" b="0">
                          <a:solidFill>
                            <a:srgbClr val="1B2333"/>
                          </a:solidFill>
                          <a:latin typeface="Pretendard"/>
                          <a:ea typeface="Pretendard"/>
                          <a:cs typeface="Pretendard"/>
                        </a:rPr>
                        <a:t>입력</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꺼</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율</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위</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공백</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쓱</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팍</a:t>
                      </a:r>
                    </a:p>
                  </a:txBody>
                  <a:tcPr marL="133350" marR="133350" marT="95250" marB="95250" anchor="ctr">
                    <a:solidFill>
                      <a:srgbClr val="F4F6F9"/>
                    </a:solidFill>
                  </a:tcPr>
                </a:tc>
              </a:tr>
              <a:tr h="714375">
                <a:tc>
                  <a:txBody>
                    <a:bodyPr/>
                    <a:lstStyle/>
                    <a:p>
                      <a:r>
                        <a:rPr sz="1800" b="0">
                          <a:solidFill>
                            <a:srgbClr val="1B2333"/>
                          </a:solidFill>
                          <a:latin typeface="Pretendard"/>
                          <a:ea typeface="Pretendard"/>
                          <a:cs typeface="Pretendard"/>
                        </a:rPr>
                        <a:t>정답</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겨</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울</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의</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공백</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스</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파</a:t>
                      </a:r>
                    </a:p>
                  </a:txBody>
                  <a:tcPr marL="133350" marR="133350" marT="95250" marB="95250" anchor="ctr">
                    <a:solidFill>
                      <a:srgbClr val="FFFFFF"/>
                    </a:solidFill>
                  </a:tcPr>
                </a:tc>
              </a:tr>
              <a:tr h="714375">
                <a:tc>
                  <a:txBody>
                    <a:bodyPr/>
                    <a:lstStyle/>
                    <a:p>
                      <a:r>
                        <a:rPr sz="1800" b="0">
                          <a:solidFill>
                            <a:srgbClr val="1B2333"/>
                          </a:solidFill>
                          <a:latin typeface="Pretendard"/>
                          <a:ea typeface="Pretendard"/>
                          <a:cs typeface="Pretendard"/>
                        </a:rPr>
                        <a:t>할 일</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선택</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선택</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선택</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복사</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선택</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선택</a:t>
                      </a:r>
                    </a:p>
                  </a:txBody>
                  <a:tcPr marL="133350" marR="133350" marT="95250" marB="95250" anchor="ctr">
                    <a:solidFill>
                      <a:srgbClr val="F4F6F9"/>
                    </a:solidFill>
                  </a:tcPr>
                </a:tc>
              </a:tr>
            </a:tbl>
          </a:graphicData>
        </a:graphic>
      </p:graphicFrame>
      <p:sp>
        <p:nvSpPr>
          <p:cNvPr id="4" name="">
            <a:extLst xmlns:a="http://schemas.openxmlformats.org/drawingml/2006/main">
              <a:ext uri="{FF2B5EF4-FFF2-40B4-BE49-F238E27FC236}">
                <a16:creationId xmlns:a16="http://schemas.microsoft.com/office/drawing/2014/main" id="{0082EC1F-7D10-4813-A6B9-60CB39FC09AB}"/>
              </a:ext>
            </a:extLst>
          </p:cNvPr>
          <p:cNvSpPr>
            <a:spLocks xmlns:a="http://schemas.openxmlformats.org/drawingml/2006/main" noGrp="1"/>
          </p:cNvSpPr>
          <p:nvPr/>
        </p:nvSpPr>
        <p:spPr>
          <a:xfrm xmlns:a="http://schemas.openxmlformats.org/drawingml/2006/main">
            <a:off x="685800" y="46863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문장 전체를 새로 쓰는 대신 각 자리의 음절을 선택한다.</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글자가 빠지거나 늘어나는 문제를 구조적으로 줄일 수 있다.</a:t>
            </a:r>
          </a:p>
        </p:txBody>
      </p:sp>
      <p:sp>
        <p:nvSpPr>
          <p:cNvPr id="5" name="">
            <a:extLst xmlns:a="http://schemas.openxmlformats.org/drawingml/2006/main">
              <a:ext uri="{FF2B5EF4-FFF2-40B4-BE49-F238E27FC236}">
                <a16:creationId xmlns:a16="http://schemas.microsoft.com/office/drawing/2014/main" id="{4399D248-641F-4B52-A62C-7E4BFE2E32CC}"/>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모델의 자유도를 데이터에 맞게 줄인 것이 첫 공통 전략</a:t>
            </a:r>
          </a:p>
        </p:txBody>
      </p:sp>
      <p:sp>
        <p:nvSpPr>
          <p:cNvPr id="6" name="">
            <a:extLst xmlns:a="http://schemas.openxmlformats.org/drawingml/2006/main">
              <a:ext uri="{FF2B5EF4-FFF2-40B4-BE49-F238E27FC236}">
                <a16:creationId xmlns:a16="http://schemas.microsoft.com/office/drawing/2014/main" id="{D2EF590D-6645-4BF2-8641-2BBB1E707C84}"/>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05</a:t>
            </a:r>
          </a:p>
        </p:txBody>
      </p:sp>
    </p:spTree>
    <p:extLst>
      <p:ext uri="{BB962C8B-B14F-4D97-AF65-F5344CB8AC3E}">
        <p14:creationId xmlns:p14="http://schemas.microsoft.com/office/powerpoint/2010/main" val="1128608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47CBE4C-B5C8-437B-A1AA-E009C5F1A2FB}"/>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59F7A4D0-449A-4D7D-96A4-A791D50539CF}"/>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긴 리뷰가 많다는 문제에 대한 서로 다른 대응</a:t>
            </a:r>
          </a:p>
        </p:txBody>
      </p:sp>
      <p:graphicFrame>
        <p:nvGraphicFramePr>
          <p:cNvPr id="3" name="">
            <a:extLst xmlns:a="http://schemas.openxmlformats.org/drawingml/2006/main">
              <a:ext uri="{FF2B5EF4-FFF2-40B4-BE49-F238E27FC236}">
                <a16:creationId xmlns:a16="http://schemas.microsoft.com/office/drawing/2014/main" id="{2A21B304-9098-4CD6-8A51-7A65ACF65CFF}"/>
              </a:ext>
            </a:extLst>
          </p:cNvPr>
          <p:cNvGraphicFramePr/>
          <p:nvPr/>
        </p:nvGraphicFramePr>
        <p:xfrm>
          <a:off xmlns:a="http://schemas.openxmlformats.org/drawingml/2006/main" x="685800" y="1619250"/>
          <a:ext xmlns:a="http://schemas.openxmlformats.org/drawingml/2006/main" cx="10820400" cy="2057400"/>
        </p:xfrm>
        <a:graphic xmlns:a="http://schemas.openxmlformats.org/drawingml/2006/main">
          <a:graphicData uri="http://schemas.openxmlformats.org/drawingml/2006/table">
            <a:tbl>
              <a:tblPr/>
              <a:tblGrid>
                <a:gridCol w="3771900"/>
                <a:gridCol w="3524250"/>
                <a:gridCol w="3524250"/>
              </a:tblGrid>
              <a:tr h="685800">
                <a:tc>
                  <a:txBody>
                    <a:bodyPr/>
                    <a:lstStyle/>
                    <a:p>
                      <a:r>
                        <a:rPr sz="1800" b="1">
                          <a:solidFill>
                            <a:srgbClr val="FFFFFF"/>
                          </a:solidFill>
                          <a:latin typeface="Pretendard"/>
                          <a:ea typeface="Pretendard"/>
                          <a:cs typeface="Pretendard"/>
                        </a:rPr>
                        <a:t>데이터에서 발견</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A팀의 대응</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B팀의 대응</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테스트 평균 168자</a:t>
                      </a:r>
                    </a:p>
                    <a:p>
                      <a:r>
                        <a:rPr sz="1800" b="0">
                          <a:solidFill>
                            <a:srgbClr val="1B2333"/>
                          </a:solidFill>
                          <a:latin typeface="Pretendard"/>
                          <a:ea typeface="Pretendard"/>
                          <a:cs typeface="Pretendard"/>
                        </a:rPr>
                        <a:t>학습 평균 93자</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긴 문장도 처리하는</a:t>
                      </a:r>
                    </a:p>
                    <a:p>
                      <a:r>
                        <a:rPr sz="1800" b="0">
                          <a:solidFill>
                            <a:srgbClr val="1B2333"/>
                          </a:solidFill>
                          <a:latin typeface="Pretendard"/>
                          <a:ea typeface="Pretendard"/>
                          <a:cs typeface="Pretendard"/>
                        </a:rPr>
                        <a:t>1단계 위치 표현</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학습 조각을</a:t>
                      </a:r>
                    </a:p>
                    <a:p>
                      <a:r>
                        <a:rPr sz="1800" b="0">
                          <a:solidFill>
                            <a:srgbClr val="1B2333"/>
                          </a:solidFill>
                          <a:latin typeface="Pretendard"/>
                          <a:ea typeface="Pretendard"/>
                          <a:cs typeface="Pretendard"/>
                        </a:rPr>
                        <a:t>384자로 확대</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B팀: 300자 초과 리뷰의</a:t>
                      </a:r>
                    </a:p>
                    <a:p>
                      <a:r>
                        <a:rPr sz="1800" b="0">
                          <a:solidFill>
                            <a:srgbClr val="1B2333"/>
                          </a:solidFill>
                          <a:latin typeface="Pretendard"/>
                          <a:ea typeface="Pretendard"/>
                          <a:cs typeface="Pretendard"/>
                        </a:rPr>
                        <a:t>글자 비중 19% / 57%</a:t>
                      </a:r>
                    </a:p>
                    <a:p>
                      <a:r>
                        <a:rPr sz="1800" b="0">
                          <a:solidFill>
                            <a:srgbClr val="1B2333"/>
                          </a:solidFill>
                          <a:latin typeface="Pretendard"/>
                          <a:ea typeface="Pretendard"/>
                          <a:cs typeface="Pretendard"/>
                        </a:rPr>
                        <a:t>(학습 / 테스트)</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문장을 이어 붙여</a:t>
                      </a:r>
                    </a:p>
                    <a:p>
                      <a:r>
                        <a:rPr sz="1800" b="0">
                          <a:solidFill>
                            <a:srgbClr val="1B2333"/>
                          </a:solidFill>
                          <a:latin typeface="Pretendard"/>
                          <a:ea typeface="Pretendard"/>
                          <a:cs typeface="Pretendard"/>
                        </a:rPr>
                        <a:t>400~1,600자</a:t>
                      </a:r>
                    </a:p>
                    <a:p>
                      <a:r>
                        <a:rPr sz="1800" b="0">
                          <a:solidFill>
                            <a:srgbClr val="1B2333"/>
                          </a:solidFill>
                          <a:latin typeface="Pretendard"/>
                          <a:ea typeface="Pretendard"/>
                          <a:cs typeface="Pretendard"/>
                        </a:rPr>
                        <a:t>학습 예시 추가</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겹치는 구간으로 읽고</a:t>
                      </a:r>
                    </a:p>
                    <a:p>
                      <a:r>
                        <a:rPr sz="1800" b="0">
                          <a:solidFill>
                            <a:srgbClr val="1B2333"/>
                          </a:solidFill>
                          <a:latin typeface="Pretendard"/>
                          <a:ea typeface="Pretendard"/>
                          <a:cs typeface="Pretendard"/>
                        </a:rPr>
                        <a:t>192자 간격 추론의</a:t>
                      </a:r>
                    </a:p>
                    <a:p>
                      <a:r>
                        <a:rPr sz="1800" b="0">
                          <a:solidFill>
                            <a:srgbClr val="1B2333"/>
                          </a:solidFill>
                          <a:latin typeface="Pretendard"/>
                          <a:ea typeface="Pretendard"/>
                          <a:cs typeface="Pretendard"/>
                        </a:rPr>
                        <a:t>예측 점수를 평균</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6FE72CD-E0D6-4F46-8220-F5CC20ABC160}"/>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학습 때 본 길이와 실제 풀어야 할 길이가 다르면 길이 대응이 필요하다</a:t>
            </a:r>
          </a:p>
        </p:txBody>
      </p:sp>
      <p:sp>
        <p:nvSpPr>
          <p:cNvPr id="5" name="">
            <a:extLst xmlns:a="http://schemas.openxmlformats.org/drawingml/2006/main">
              <a:ext uri="{FF2B5EF4-FFF2-40B4-BE49-F238E27FC236}">
                <a16:creationId xmlns:a16="http://schemas.microsoft.com/office/drawing/2014/main" id="{B18BE3EB-D095-4ADF-AF04-48EBE1C50BE7}"/>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06</a:t>
            </a:r>
          </a:p>
        </p:txBody>
      </p:sp>
    </p:spTree>
    <p:extLst>
      <p:ext uri="{BB962C8B-B14F-4D97-AF65-F5344CB8AC3E}">
        <p14:creationId xmlns:p14="http://schemas.microsoft.com/office/powerpoint/2010/main" val="9858574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26702F-82A1-4D7B-90CC-202A0F5A0EDD}"/>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DD295DE3-FC11-4057-8D6B-44E6C8737081}"/>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사전학습 지식을 쓰려면 읽을 수 있는 입력이 필요했다</a:t>
            </a:r>
          </a:p>
        </p:txBody>
      </p:sp>
      <p:sp>
        <p:nvSpPr>
          <p:cNvPr id="3" name="">
            <a:extLst xmlns:a="http://schemas.openxmlformats.org/drawingml/2006/main">
              <a:ext uri="{FF2B5EF4-FFF2-40B4-BE49-F238E27FC236}">
                <a16:creationId xmlns:a16="http://schemas.microsoft.com/office/drawing/2014/main" id="{FB33912B-A7AD-43CC-BF26-0DE644739C5E}"/>
              </a:ext>
            </a:extLst>
          </p:cNvPr>
          <p:cNvSpPr>
            <a:spLocks xmlns:a="http://schemas.openxmlformats.org/drawingml/2006/main" noGrp="1"/>
          </p:cNvSpPr>
          <p:nvPr/>
        </p:nvSpPr>
        <p:spPr>
          <a:xfrm xmlns:a="http://schemas.openxmlformats.org/drawingml/2006/main">
            <a:off x="6858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2410C"/>
                </a:solidFill>
                <a:latin typeface="Pretendard"/>
                <a:ea typeface="Pretendard"/>
                <a:cs typeface="Pretendard"/>
              </a:defRPr>
            </a:defPPr>
          </a:lstStyle>
          <a:p xmlns:a="http://schemas.openxmlformats.org/drawingml/2006/main">
            <a:pPr>
              <a:defRPr sz="2250" b="1">
                <a:solidFill>
                  <a:srgbClr val="C2410C"/>
                </a:solidFill>
                <a:latin typeface="Pretendard"/>
                <a:ea typeface="Pretendard"/>
                <a:cs typeface="Pretendard"/>
              </a:defRPr>
            </a:pPr>
            <a:r>
              <a:rPr sz="2250" b="1">
                <a:solidFill>
                  <a:srgbClr val="C2410C"/>
                </a:solidFill>
                <a:latin typeface="Pretendard"/>
                <a:ea typeface="Pretendard"/>
                <a:cs typeface="Pretendard"/>
              </a:rPr>
              <a:t>A팀</a:t>
            </a:r>
          </a:p>
        </p:txBody>
      </p:sp>
      <p:sp>
        <p:nvSpPr>
          <p:cNvPr id="4" name="">
            <a:extLst xmlns:a="http://schemas.openxmlformats.org/drawingml/2006/main">
              <a:ext uri="{FF2B5EF4-FFF2-40B4-BE49-F238E27FC236}">
                <a16:creationId xmlns:a16="http://schemas.microsoft.com/office/drawing/2014/main" id="{D9037ECD-4DFA-4311-ACF2-97AE6887A4A6}"/>
              </a:ext>
            </a:extLst>
          </p:cNvPr>
          <p:cNvSpPr>
            <a:spLocks xmlns:a="http://schemas.openxmlformats.org/drawingml/2006/main" noGrp="1"/>
          </p:cNvSpPr>
          <p:nvPr/>
        </p:nvSpPr>
        <p:spPr>
          <a:xfrm xmlns:a="http://schemas.openxmlformats.org/drawingml/2006/main">
            <a:off x="685800" y="2400300"/>
            <a:ext cx="52387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사전학습 모델만 바로 사용하자 성능 하락</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검증 0.9807</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처음부터 학습한 모델 0.9817</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1단계에서 먼저 복원한 문장을 교정 모델에 제공</a:t>
            </a:r>
          </a:p>
        </p:txBody>
      </p:sp>
      <p:sp>
        <p:nvSpPr>
          <p:cNvPr id="5" name="">
            <a:extLst xmlns:a="http://schemas.openxmlformats.org/drawingml/2006/main">
              <a:ext uri="{FF2B5EF4-FFF2-40B4-BE49-F238E27FC236}">
                <a16:creationId xmlns:a16="http://schemas.microsoft.com/office/drawing/2014/main" id="{348B4D5B-8797-4CCA-8075-C45BFA2C5B30}"/>
              </a:ext>
            </a:extLst>
          </p:cNvPr>
          <p:cNvSpPr>
            <a:spLocks xmlns:a="http://schemas.openxmlformats.org/drawingml/2006/main" noGrp="1"/>
          </p:cNvSpPr>
          <p:nvPr/>
        </p:nvSpPr>
        <p:spPr>
          <a:xfrm xmlns:a="http://schemas.openxmlformats.org/drawingml/2006/main">
            <a:off x="62484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563EB"/>
                </a:solidFill>
                <a:latin typeface="Pretendard"/>
                <a:ea typeface="Pretendard"/>
                <a:cs typeface="Pretendard"/>
              </a:defRPr>
            </a:defPPr>
          </a:lstStyle>
          <a:p xmlns:a="http://schemas.openxmlformats.org/drawingml/2006/main">
            <a:pPr>
              <a:defRPr sz="2250" b="1">
                <a:solidFill>
                  <a:srgbClr val="2563EB"/>
                </a:solidFill>
                <a:latin typeface="Pretendard"/>
                <a:ea typeface="Pretendard"/>
                <a:cs typeface="Pretendard"/>
              </a:defRPr>
            </a:pPr>
            <a:r>
              <a:rPr sz="2250" b="1">
                <a:solidFill>
                  <a:srgbClr val="2563EB"/>
                </a:solidFill>
                <a:latin typeface="Pretendard"/>
                <a:ea typeface="Pretendard"/>
                <a:cs typeface="Pretendard"/>
              </a:rPr>
              <a:t>B팀</a:t>
            </a:r>
          </a:p>
        </p:txBody>
      </p:sp>
      <p:sp>
        <p:nvSpPr>
          <p:cNvPr id="6" name="">
            <a:extLst xmlns:a="http://schemas.openxmlformats.org/drawingml/2006/main">
              <a:ext uri="{FF2B5EF4-FFF2-40B4-BE49-F238E27FC236}">
                <a16:creationId xmlns:a16="http://schemas.microsoft.com/office/drawing/2014/main" id="{4EC21F6E-6407-4481-A25A-160312F7E439}"/>
              </a:ext>
            </a:extLst>
          </p:cNvPr>
          <p:cNvSpPr>
            <a:spLocks xmlns:a="http://schemas.openxmlformats.org/drawingml/2006/main" noGrp="1"/>
          </p:cNvSpPr>
          <p:nvPr/>
        </p:nvSpPr>
        <p:spPr>
          <a:xfrm xmlns:a="http://schemas.openxmlformats.org/drawingml/2006/main">
            <a:off x="6248400" y="2400300"/>
            <a:ext cx="52387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글자 대응표로 만든 첫 힌트 정확도 약 0.81</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정상 한국어에 가까운 힌트와 원문 자모를 함께 제공</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복원 결과를 다음 단계의 힌트로 사용</a:t>
            </a:r>
          </a:p>
        </p:txBody>
      </p:sp>
      <p:sp>
        <p:nvSpPr>
          <p:cNvPr id="7" name="">
            <a:extLst xmlns:a="http://schemas.openxmlformats.org/drawingml/2006/main">
              <a:ext uri="{FF2B5EF4-FFF2-40B4-BE49-F238E27FC236}">
                <a16:creationId xmlns:a16="http://schemas.microsoft.com/office/drawing/2014/main" id="{FB37D7D7-5757-44EF-A8D1-E838B059F96B}"/>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이미 배운 한국어 지식을 활용하려면 입력을 읽기 쉬운 형태로 바꿔야 했다</a:t>
            </a:r>
          </a:p>
        </p:txBody>
      </p:sp>
      <p:sp>
        <p:nvSpPr>
          <p:cNvPr id="8" name="">
            <a:extLst xmlns:a="http://schemas.openxmlformats.org/drawingml/2006/main">
              <a:ext uri="{FF2B5EF4-FFF2-40B4-BE49-F238E27FC236}">
                <a16:creationId xmlns:a16="http://schemas.microsoft.com/office/drawing/2014/main" id="{3AFCCA1A-4E48-4CCF-BAE9-DA64BA2C2965}"/>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07</a:t>
            </a:r>
          </a:p>
        </p:txBody>
      </p:sp>
    </p:spTree>
    <p:extLst>
      <p:ext uri="{BB962C8B-B14F-4D97-AF65-F5344CB8AC3E}">
        <p14:creationId xmlns:p14="http://schemas.microsoft.com/office/powerpoint/2010/main" val="21308230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46346C-B388-42C8-8A32-7E8D83F37950}"/>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665BBA11-1D59-4C94-8092-28A47851127F}"/>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오류 분석: 드문 단어와 없는 말에 실수가 몰렸다</a:t>
            </a:r>
          </a:p>
        </p:txBody>
      </p:sp>
      <p:graphicFrame>
        <p:nvGraphicFramePr>
          <p:cNvPr id="3" name="">
            <a:extLst xmlns:a="http://schemas.openxmlformats.org/drawingml/2006/main">
              <a:ext uri="{FF2B5EF4-FFF2-40B4-BE49-F238E27FC236}">
                <a16:creationId xmlns:a16="http://schemas.microsoft.com/office/drawing/2014/main" id="{B17ADE67-1AC5-4864-8B1D-3C7F14B9F9DA}"/>
              </a:ext>
            </a:extLst>
          </p:cNvPr>
          <p:cNvGraphicFramePr/>
          <p:nvPr/>
        </p:nvGraphicFramePr>
        <p:xfrm>
          <a:off xmlns:a="http://schemas.openxmlformats.org/drawingml/2006/main" x="685800" y="1619250"/>
          <a:ext xmlns:a="http://schemas.openxmlformats.org/drawingml/2006/main" cx="10820400" cy="2743200"/>
        </p:xfrm>
        <a:graphic xmlns:a="http://schemas.openxmlformats.org/drawingml/2006/main">
          <a:graphicData uri="http://schemas.openxmlformats.org/drawingml/2006/table">
            <a:tbl>
              <a:tblPr/>
              <a:tblGrid>
                <a:gridCol w="2286000"/>
                <a:gridCol w="4267200"/>
                <a:gridCol w="4267200"/>
              </a:tblGrid>
              <a:tr h="685800">
                <a:tc>
                  <a:txBody>
                    <a:bodyPr/>
                    <a:lstStyle/>
                    <a:p>
                      <a:r>
                        <a:rPr sz="1800" b="1">
                          <a:solidFill>
                            <a:srgbClr val="FFFFFF"/>
                          </a:solidFill>
                          <a:latin typeface="Pretendard"/>
                          <a:ea typeface="Pretendard"/>
                          <a:cs typeface="Pretendard"/>
                        </a:rPr>
                        <a:t>분석 대상</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A팀: 1단계 단일 모델</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B팀: 2단계 이후</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드문 단어에 집중</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틀린 단어의 62%가</a:t>
                      </a:r>
                    </a:p>
                    <a:p>
                      <a:r>
                        <a:rPr sz="1800" b="0">
                          <a:solidFill>
                            <a:srgbClr val="1B2333"/>
                          </a:solidFill>
                          <a:latin typeface="Pretendard"/>
                          <a:ea typeface="Pretendard"/>
                          <a:cs typeface="Pretendard"/>
                        </a:rPr>
                        <a:t>학습에서 한 번도 못 본 단어</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오류의 82%가</a:t>
                      </a:r>
                    </a:p>
                    <a:p>
                      <a:r>
                        <a:rPr sz="1800" b="0">
                          <a:solidFill>
                            <a:srgbClr val="1B2333"/>
                          </a:solidFill>
                          <a:latin typeface="Pretendard"/>
                          <a:ea typeface="Pretendard"/>
                          <a:cs typeface="Pretendard"/>
                        </a:rPr>
                        <a:t>학습에 5번 이하 나온 단어</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없는 말 예측</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틀린 단어의 70%</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틀린 단어의 75%</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오류 예시</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귀중품을 기중품으로</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케이블카를 케이블가로</a:t>
                      </a:r>
                    </a:p>
                  </a:txBody>
                  <a:tcPr marL="133350" marR="133350" marT="95250" marB="95250" anchor="ctr">
                    <a:solidFill>
                      <a:srgbClr val="F4F6F9"/>
                    </a:solidFill>
                  </a:tcPr>
                </a:tc>
              </a:tr>
            </a:tbl>
          </a:graphicData>
        </a:graphic>
      </p:graphicFrame>
      <p:sp>
        <p:nvSpPr>
          <p:cNvPr id="4" name="">
            <a:extLst xmlns:a="http://schemas.openxmlformats.org/drawingml/2006/main">
              <a:ext uri="{FF2B5EF4-FFF2-40B4-BE49-F238E27FC236}">
                <a16:creationId xmlns:a16="http://schemas.microsoft.com/office/drawing/2014/main" id="{1B022CA9-5437-4440-A96F-6870DACC4654}"/>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글자 규칙만으로 부족한 부분을 단어 지식으로 보완할 근거가 생겼다</a:t>
            </a:r>
          </a:p>
        </p:txBody>
      </p:sp>
      <p:sp>
        <p:nvSpPr>
          <p:cNvPr id="5" name="">
            <a:extLst xmlns:a="http://schemas.openxmlformats.org/drawingml/2006/main">
              <a:ext uri="{FF2B5EF4-FFF2-40B4-BE49-F238E27FC236}">
                <a16:creationId xmlns:a16="http://schemas.microsoft.com/office/drawing/2014/main" id="{1F38C2C7-3DAE-41D1-B8FC-5F2E6793F148}"/>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08</a:t>
            </a:r>
          </a:p>
        </p:txBody>
      </p:sp>
    </p:spTree>
    <p:extLst>
      <p:ext uri="{BB962C8B-B14F-4D97-AF65-F5344CB8AC3E}">
        <p14:creationId xmlns:p14="http://schemas.microsoft.com/office/powerpoint/2010/main" val="186263586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97B83C2-0D56-46EE-9472-0083352AB996}"/>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21268A4B-65B1-4956-8A87-64D476A84001}"/>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A팀: 먼저 복원하고, 다음 모델이 교정</a:t>
            </a:r>
          </a:p>
        </p:txBody>
      </p:sp>
      <p:sp>
        <p:nvSpPr>
          <p:cNvPr id="3" name="">
            <a:extLst xmlns:a="http://schemas.openxmlformats.org/drawingml/2006/main">
              <a:ext uri="{FF2B5EF4-FFF2-40B4-BE49-F238E27FC236}">
                <a16:creationId xmlns:a16="http://schemas.microsoft.com/office/drawing/2014/main" id="{450829A9-3C41-4341-8020-9ADA8F87418B}"/>
              </a:ext>
            </a:extLst>
          </p:cNvPr>
          <p:cNvSpPr>
            <a:spLocks xmlns:a="http://schemas.openxmlformats.org/drawingml/2006/main" noGrp="1"/>
          </p:cNvSpPr>
          <p:nvPr/>
        </p:nvSpPr>
        <p:spPr>
          <a:xfrm xmlns:a="http://schemas.openxmlformats.org/drawingml/2006/main">
            <a:off x="685800" y="16954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1단계 복원</a:t>
            </a:r>
          </a:p>
        </p:txBody>
      </p:sp>
      <p:sp>
        <p:nvSpPr>
          <p:cNvPr id="4" name="">
            <a:extLst xmlns:a="http://schemas.openxmlformats.org/drawingml/2006/main">
              <a:ext uri="{FF2B5EF4-FFF2-40B4-BE49-F238E27FC236}">
                <a16:creationId xmlns:a16="http://schemas.microsoft.com/office/drawing/2014/main" id="{8B5413B5-1CE6-4487-A0A6-FD7ABAB75938}"/>
              </a:ext>
            </a:extLst>
          </p:cNvPr>
          <p:cNvSpPr>
            <a:spLocks xmlns:a="http://schemas.openxmlformats.org/drawingml/2006/main" noGrp="1"/>
          </p:cNvSpPr>
          <p:nvPr/>
        </p:nvSpPr>
        <p:spPr>
          <a:xfrm xmlns:a="http://schemas.openxmlformats.org/drawingml/2006/main">
            <a:off x="3886200" y="16954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난독화 자모와 문맥을 보고 음절을 선택</a:t>
            </a:r>
          </a:p>
        </p:txBody>
      </p:sp>
      <p:sp>
        <p:nvSpPr>
          <p:cNvPr id="5" name="">
            <a:extLst xmlns:a="http://schemas.openxmlformats.org/drawingml/2006/main">
              <a:ext uri="{FF2B5EF4-FFF2-40B4-BE49-F238E27FC236}">
                <a16:creationId xmlns:a16="http://schemas.microsoft.com/office/drawing/2014/main" id="{2F2AEF51-304D-496E-9AB1-E101A040EBA2}"/>
              </a:ext>
            </a:extLst>
          </p:cNvPr>
          <p:cNvSpPr>
            <a:spLocks xmlns:a="http://schemas.openxmlformats.org/drawingml/2006/main" noGrp="1"/>
          </p:cNvSpPr>
          <p:nvPr/>
        </p:nvSpPr>
        <p:spPr>
          <a:xfrm xmlns:a="http://schemas.openxmlformats.org/drawingml/2006/main">
            <a:off x="685800" y="262890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2단계 교정</a:t>
            </a:r>
          </a:p>
        </p:txBody>
      </p:sp>
      <p:sp>
        <p:nvSpPr>
          <p:cNvPr id="6" name="">
            <a:extLst xmlns:a="http://schemas.openxmlformats.org/drawingml/2006/main">
              <a:ext uri="{FF2B5EF4-FFF2-40B4-BE49-F238E27FC236}">
                <a16:creationId xmlns:a16="http://schemas.microsoft.com/office/drawing/2014/main" id="{0A63ACD4-6F91-4677-B5C6-9C3C9F8451AC}"/>
              </a:ext>
            </a:extLst>
          </p:cNvPr>
          <p:cNvSpPr>
            <a:spLocks xmlns:a="http://schemas.openxmlformats.org/drawingml/2006/main" noGrp="1"/>
          </p:cNvSpPr>
          <p:nvPr/>
        </p:nvSpPr>
        <p:spPr>
          <a:xfrm xmlns:a="http://schemas.openxmlformats.org/drawingml/2006/main">
            <a:off x="3886200" y="262890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복원문을 KcELECTRA가 단어 조각으로 읽음</a:t>
            </a:r>
          </a:p>
        </p:txBody>
      </p:sp>
      <p:sp>
        <p:nvSpPr>
          <p:cNvPr id="7" name="">
            <a:extLst xmlns:a="http://schemas.openxmlformats.org/drawingml/2006/main">
              <a:ext uri="{FF2B5EF4-FFF2-40B4-BE49-F238E27FC236}">
                <a16:creationId xmlns:a16="http://schemas.microsoft.com/office/drawing/2014/main" id="{DB4941D0-5537-4C6C-87E2-EF01A09CE5E9}"/>
              </a:ext>
            </a:extLst>
          </p:cNvPr>
          <p:cNvSpPr>
            <a:spLocks xmlns:a="http://schemas.openxmlformats.org/drawingml/2006/main" noGrp="1"/>
          </p:cNvSpPr>
          <p:nvPr/>
        </p:nvSpPr>
        <p:spPr>
          <a:xfrm xmlns:a="http://schemas.openxmlformats.org/drawingml/2006/main">
            <a:off x="685800" y="35623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원문 단서 확인</a:t>
            </a:r>
          </a:p>
        </p:txBody>
      </p:sp>
      <p:sp>
        <p:nvSpPr>
          <p:cNvPr id="8" name="">
            <a:extLst xmlns:a="http://schemas.openxmlformats.org/drawingml/2006/main">
              <a:ext uri="{FF2B5EF4-FFF2-40B4-BE49-F238E27FC236}">
                <a16:creationId xmlns:a16="http://schemas.microsoft.com/office/drawing/2014/main" id="{D8F92A37-4D5C-4BE2-A241-E9FACDD65E27}"/>
              </a:ext>
            </a:extLst>
          </p:cNvPr>
          <p:cNvSpPr>
            <a:spLocks xmlns:a="http://schemas.openxmlformats.org/drawingml/2006/main" noGrp="1"/>
          </p:cNvSpPr>
          <p:nvPr/>
        </p:nvSpPr>
        <p:spPr>
          <a:xfrm xmlns:a="http://schemas.openxmlformats.org/drawingml/2006/main">
            <a:off x="3886200" y="35623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난독화 원문의 자모도 다시 보고 수정 근거를 확보</a:t>
            </a:r>
          </a:p>
        </p:txBody>
      </p:sp>
      <p:sp>
        <p:nvSpPr>
          <p:cNvPr id="9" name="">
            <a:extLst xmlns:a="http://schemas.openxmlformats.org/drawingml/2006/main">
              <a:ext uri="{FF2B5EF4-FFF2-40B4-BE49-F238E27FC236}">
                <a16:creationId xmlns:a16="http://schemas.microsoft.com/office/drawing/2014/main" id="{D4A2F015-1130-4882-9C15-1DDBF2CF2129}"/>
              </a:ext>
            </a:extLst>
          </p:cNvPr>
          <p:cNvSpPr>
            <a:spLocks xmlns:a="http://schemas.openxmlformats.org/drawingml/2006/main" noGrp="1"/>
          </p:cNvSpPr>
          <p:nvPr/>
        </p:nvSpPr>
        <p:spPr>
          <a:xfrm xmlns:a="http://schemas.openxmlformats.org/drawingml/2006/main">
            <a:off x="685800" y="45720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설명용 예시: 귐중뿜 폽관위 얀 됩닏댜</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1단계: 기중품 보관이 안 됩니다</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2단계: 귀중품 보관이 안 됩니다</a:t>
            </a:r>
          </a:p>
        </p:txBody>
      </p:sp>
      <p:sp>
        <p:nvSpPr>
          <p:cNvPr id="10" name="">
            <a:extLst xmlns:a="http://schemas.openxmlformats.org/drawingml/2006/main">
              <a:ext uri="{FF2B5EF4-FFF2-40B4-BE49-F238E27FC236}">
                <a16:creationId xmlns:a16="http://schemas.microsoft.com/office/drawing/2014/main" id="{2CDF056D-7CC2-41B7-B89C-66EEFAD13ECF}"/>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A팀의 중심 질문: 이미 복원한 문장의 어느 글자를 고칠까?</a:t>
            </a:r>
          </a:p>
        </p:txBody>
      </p:sp>
      <p:sp>
        <p:nvSpPr>
          <p:cNvPr id="11" name="">
            <a:extLst xmlns:a="http://schemas.openxmlformats.org/drawingml/2006/main">
              <a:ext uri="{FF2B5EF4-FFF2-40B4-BE49-F238E27FC236}">
                <a16:creationId xmlns:a16="http://schemas.microsoft.com/office/drawing/2014/main" id="{EFD19CF9-8AA2-464C-9307-458A2D1807C1}"/>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09</a:t>
            </a:r>
          </a:p>
        </p:txBody>
      </p:sp>
    </p:spTree>
    <p:extLst>
      <p:ext uri="{BB962C8B-B14F-4D97-AF65-F5344CB8AC3E}">
        <p14:creationId xmlns:p14="http://schemas.microsoft.com/office/powerpoint/2010/main" val="9702638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8EC6B3-43C3-4CC7-A94F-0C355461BC5F}"/>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5B4FC5ED-26A9-4CF3-814D-519C628379CE}"/>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OOF: 다음 모델에 현실적인 실수를 보여 주는 방법</a:t>
            </a:r>
          </a:p>
        </p:txBody>
      </p:sp>
      <p:sp>
        <p:nvSpPr>
          <p:cNvPr id="3" name="">
            <a:extLst xmlns:a="http://schemas.openxmlformats.org/drawingml/2006/main">
              <a:ext uri="{FF2B5EF4-FFF2-40B4-BE49-F238E27FC236}">
                <a16:creationId xmlns:a16="http://schemas.microsoft.com/office/drawing/2014/main" id="{BEF6EC9B-FDBB-4372-AF36-65A000B71CDD}"/>
              </a:ext>
            </a:extLst>
          </p:cNvPr>
          <p:cNvSpPr>
            <a:spLocks xmlns:a="http://schemas.openxmlformats.org/drawingml/2006/main" noGrp="1"/>
          </p:cNvSpPr>
          <p:nvPr/>
        </p:nvSpPr>
        <p:spPr>
          <a:xfrm xmlns:a="http://schemas.openxmlformats.org/drawingml/2006/main">
            <a:off x="685800" y="16954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문장을 5묶음으로 분할</a:t>
            </a:r>
          </a:p>
        </p:txBody>
      </p:sp>
      <p:sp>
        <p:nvSpPr>
          <p:cNvPr id="4" name="">
            <a:extLst xmlns:a="http://schemas.openxmlformats.org/drawingml/2006/main">
              <a:ext uri="{FF2B5EF4-FFF2-40B4-BE49-F238E27FC236}">
                <a16:creationId xmlns:a16="http://schemas.microsoft.com/office/drawing/2014/main" id="{0CE59A1B-02D1-4BB7-9771-5F0D097389A1}"/>
              </a:ext>
            </a:extLst>
          </p:cNvPr>
          <p:cNvSpPr>
            <a:spLocks xmlns:a="http://schemas.openxmlformats.org/drawingml/2006/main" noGrp="1"/>
          </p:cNvSpPr>
          <p:nvPr/>
        </p:nvSpPr>
        <p:spPr>
          <a:xfrm xmlns:a="http://schemas.openxmlformats.org/drawingml/2006/main">
            <a:off x="3886200" y="16954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4묶음으로 배우고 남은 1묶음을 복원</a:t>
            </a:r>
          </a:p>
        </p:txBody>
      </p:sp>
      <p:sp>
        <p:nvSpPr>
          <p:cNvPr id="5" name="">
            <a:extLst xmlns:a="http://schemas.openxmlformats.org/drawingml/2006/main">
              <a:ext uri="{FF2B5EF4-FFF2-40B4-BE49-F238E27FC236}">
                <a16:creationId xmlns:a16="http://schemas.microsoft.com/office/drawing/2014/main" id="{525C9283-DA45-4AB8-A4D9-0B320381B3A5}"/>
              </a:ext>
            </a:extLst>
          </p:cNvPr>
          <p:cNvSpPr>
            <a:spLocks xmlns:a="http://schemas.openxmlformats.org/drawingml/2006/main" noGrp="1"/>
          </p:cNvSpPr>
          <p:nvPr/>
        </p:nvSpPr>
        <p:spPr>
          <a:xfrm xmlns:a="http://schemas.openxmlformats.org/drawingml/2006/main">
            <a:off x="685800" y="262890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묶음을 바꾸며 반복</a:t>
            </a:r>
          </a:p>
        </p:txBody>
      </p:sp>
      <p:sp>
        <p:nvSpPr>
          <p:cNvPr id="6" name="">
            <a:extLst xmlns:a="http://schemas.openxmlformats.org/drawingml/2006/main">
              <a:ext uri="{FF2B5EF4-FFF2-40B4-BE49-F238E27FC236}">
                <a16:creationId xmlns:a16="http://schemas.microsoft.com/office/drawing/2014/main" id="{E60F056F-5629-4F65-9B2D-95965CE8E401}"/>
              </a:ext>
            </a:extLst>
          </p:cNvPr>
          <p:cNvSpPr>
            <a:spLocks xmlns:a="http://schemas.openxmlformats.org/drawingml/2006/main" noGrp="1"/>
          </p:cNvSpPr>
          <p:nvPr/>
        </p:nvSpPr>
        <p:spPr>
          <a:xfrm xmlns:a="http://schemas.openxmlformats.org/drawingml/2006/main">
            <a:off x="3886200" y="262890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각 문장을 한 번도 배우지 않은 모델이 예측</a:t>
            </a:r>
          </a:p>
        </p:txBody>
      </p:sp>
      <p:sp>
        <p:nvSpPr>
          <p:cNvPr id="7" name="">
            <a:extLst xmlns:a="http://schemas.openxmlformats.org/drawingml/2006/main">
              <a:ext uri="{FF2B5EF4-FFF2-40B4-BE49-F238E27FC236}">
                <a16:creationId xmlns:a16="http://schemas.microsoft.com/office/drawing/2014/main" id="{F9DB90C6-B98A-4942-BE47-E428E2C4EBCA}"/>
              </a:ext>
            </a:extLst>
          </p:cNvPr>
          <p:cNvSpPr>
            <a:spLocks xmlns:a="http://schemas.openxmlformats.org/drawingml/2006/main" noGrp="1"/>
          </p:cNvSpPr>
          <p:nvPr/>
        </p:nvSpPr>
        <p:spPr>
          <a:xfrm xmlns:a="http://schemas.openxmlformats.org/drawingml/2006/main">
            <a:off x="685800" y="35623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2410C"/>
                </a:solidFill>
                <a:latin typeface="Pretendard"/>
                <a:ea typeface="Pretendard"/>
                <a:cs typeface="Pretendard"/>
              </a:defRPr>
            </a:defPPr>
          </a:lstStyle>
          <a:p xmlns:a="http://schemas.openxmlformats.org/drawingml/2006/main">
            <a:pPr>
              <a:defRPr sz="2025" b="1">
                <a:solidFill>
                  <a:srgbClr val="C2410C"/>
                </a:solidFill>
                <a:latin typeface="Pretendard"/>
                <a:ea typeface="Pretendard"/>
                <a:cs typeface="Pretendard"/>
              </a:defRPr>
            </a:pPr>
            <a:r>
              <a:rPr sz="2025" b="1">
                <a:solidFill>
                  <a:srgbClr val="C2410C"/>
                </a:solidFill>
                <a:latin typeface="Pretendard"/>
                <a:ea typeface="Pretendard"/>
                <a:cs typeface="Pretendard"/>
              </a:rPr>
              <a:t>예측을 모아 교정 학습</a:t>
            </a:r>
          </a:p>
        </p:txBody>
      </p:sp>
      <p:sp>
        <p:nvSpPr>
          <p:cNvPr id="8" name="">
            <a:extLst xmlns:a="http://schemas.openxmlformats.org/drawingml/2006/main">
              <a:ext uri="{FF2B5EF4-FFF2-40B4-BE49-F238E27FC236}">
                <a16:creationId xmlns:a16="http://schemas.microsoft.com/office/drawing/2014/main" id="{40960140-A7C9-42CE-A6F0-B0D6A62FB664}"/>
              </a:ext>
            </a:extLst>
          </p:cNvPr>
          <p:cNvSpPr>
            <a:spLocks xmlns:a="http://schemas.openxmlformats.org/drawingml/2006/main" noGrp="1"/>
          </p:cNvSpPr>
          <p:nvPr/>
        </p:nvSpPr>
        <p:spPr>
          <a:xfrm xmlns:a="http://schemas.openxmlformats.org/drawingml/2006/main">
            <a:off x="3886200" y="35623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실제 처음 보는 문장에서 나오는 실수를 다음 모델이 배움</a:t>
            </a:r>
          </a:p>
        </p:txBody>
      </p:sp>
      <p:sp>
        <p:nvSpPr>
          <p:cNvPr id="9" name="">
            <a:extLst xmlns:a="http://schemas.openxmlformats.org/drawingml/2006/main">
              <a:ext uri="{FF2B5EF4-FFF2-40B4-BE49-F238E27FC236}">
                <a16:creationId xmlns:a16="http://schemas.microsoft.com/office/drawing/2014/main" id="{F0F5209D-9B2A-4735-8EDE-80054B4A397D}"/>
              </a:ext>
            </a:extLst>
          </p:cNvPr>
          <p:cNvSpPr>
            <a:spLocks xmlns:a="http://schemas.openxmlformats.org/drawingml/2006/main" noGrp="1"/>
          </p:cNvSpPr>
          <p:nvPr/>
        </p:nvSpPr>
        <p:spPr>
          <a:xfrm xmlns:a="http://schemas.openxmlformats.org/drawingml/2006/main">
            <a:off x="685800" y="45720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자기가 배운 문장을 복원하면 너무 잘 맞힌다.</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그 예측만 주면 교정 모델은 실수를 고치는 대신 복사에 익숙해질 수 있다.</a:t>
            </a:r>
          </a:p>
        </p:txBody>
      </p:sp>
      <p:sp>
        <p:nvSpPr>
          <p:cNvPr id="10" name="">
            <a:extLst xmlns:a="http://schemas.openxmlformats.org/drawingml/2006/main">
              <a:ext uri="{FF2B5EF4-FFF2-40B4-BE49-F238E27FC236}">
                <a16:creationId xmlns:a16="http://schemas.microsoft.com/office/drawing/2014/main" id="{7A01EB83-57FD-470B-844D-62D54230CCAB}"/>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두 팀 모두 다음 단계의 입력을 학습 밖 예측으로 만들었다</a:t>
            </a:r>
          </a:p>
        </p:txBody>
      </p:sp>
      <p:sp>
        <p:nvSpPr>
          <p:cNvPr id="11" name="">
            <a:extLst xmlns:a="http://schemas.openxmlformats.org/drawingml/2006/main">
              <a:ext uri="{FF2B5EF4-FFF2-40B4-BE49-F238E27FC236}">
                <a16:creationId xmlns:a16="http://schemas.microsoft.com/office/drawing/2014/main" id="{E2E8BCA4-0044-4479-B02B-35E717D29F9B}"/>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10</a:t>
            </a:r>
          </a:p>
        </p:txBody>
      </p:sp>
    </p:spTree>
    <p:extLst>
      <p:ext uri="{BB962C8B-B14F-4D97-AF65-F5344CB8AC3E}">
        <p14:creationId xmlns:p14="http://schemas.microsoft.com/office/powerpoint/2010/main" val="7315182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7DC552-4CC2-4F68-806F-33943E3A41E6}"/>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C67947EF-208A-4045-8C44-3C6642EB9E49}"/>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A팀: 맞던 글자를 망치지 않는 교정</a:t>
            </a:r>
          </a:p>
        </p:txBody>
      </p:sp>
      <p:sp>
        <p:nvSpPr>
          <p:cNvPr id="3" name="">
            <a:extLst xmlns:a="http://schemas.openxmlformats.org/drawingml/2006/main">
              <a:ext uri="{FF2B5EF4-FFF2-40B4-BE49-F238E27FC236}">
                <a16:creationId xmlns:a16="http://schemas.microsoft.com/office/drawing/2014/main" id="{916BF66C-BAED-4EA8-BAEA-5AC15845590F}"/>
              </a:ext>
            </a:extLst>
          </p:cNvPr>
          <p:cNvSpPr>
            <a:spLocks xmlns:a="http://schemas.openxmlformats.org/drawingml/2006/main" noGrp="1"/>
          </p:cNvSpPr>
          <p:nvPr/>
        </p:nvSpPr>
        <p:spPr>
          <a:xfrm xmlns:a="http://schemas.openxmlformats.org/drawingml/2006/main">
            <a:off x="6858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2410C"/>
                </a:solidFill>
                <a:latin typeface="Pretendard"/>
                <a:ea typeface="Pretendard"/>
                <a:cs typeface="Pretendard"/>
              </a:defRPr>
            </a:defPPr>
          </a:lstStyle>
          <a:p xmlns:a="http://schemas.openxmlformats.org/drawingml/2006/main">
            <a:pPr>
              <a:defRPr sz="2250" b="1">
                <a:solidFill>
                  <a:srgbClr val="C2410C"/>
                </a:solidFill>
                <a:latin typeface="Pretendard"/>
                <a:ea typeface="Pretendard"/>
                <a:cs typeface="Pretendard"/>
              </a:defRPr>
            </a:pPr>
            <a:r>
              <a:rPr sz="2250" b="1">
                <a:solidFill>
                  <a:srgbClr val="C2410C"/>
                </a:solidFill>
                <a:latin typeface="Pretendard"/>
                <a:ea typeface="Pretendard"/>
                <a:cs typeface="Pretendard"/>
              </a:rPr>
              <a:t>고치는 예시를 더 보여 주기</a:t>
            </a:r>
          </a:p>
        </p:txBody>
      </p:sp>
      <p:sp>
        <p:nvSpPr>
          <p:cNvPr id="4" name="">
            <a:extLst xmlns:a="http://schemas.openxmlformats.org/drawingml/2006/main">
              <a:ext uri="{FF2B5EF4-FFF2-40B4-BE49-F238E27FC236}">
                <a16:creationId xmlns:a16="http://schemas.microsoft.com/office/drawing/2014/main" id="{447F4090-B59E-4FDB-BCC5-4A04CE62915B}"/>
              </a:ext>
            </a:extLst>
          </p:cNvPr>
          <p:cNvSpPr>
            <a:spLocks xmlns:a="http://schemas.openxmlformats.org/drawingml/2006/main" noGrp="1"/>
          </p:cNvSpPr>
          <p:nvPr/>
        </p:nvSpPr>
        <p:spPr>
          <a:xfrm xmlns:a="http://schemas.openxmlformats.org/drawingml/2006/main">
            <a:off x="685800" y="2400300"/>
            <a:ext cx="52387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학습에서 예측 글자의 5%를 가림</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3%는 1단계의 실제 오답으로 교체</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검증 F1 0.9866 → 0.9875</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고친 글자 600 → 862</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망친 글자 181 → 321</a:t>
            </a:r>
          </a:p>
        </p:txBody>
      </p:sp>
      <p:sp>
        <p:nvSpPr>
          <p:cNvPr id="5" name="">
            <a:extLst xmlns:a="http://schemas.openxmlformats.org/drawingml/2006/main">
              <a:ext uri="{FF2B5EF4-FFF2-40B4-BE49-F238E27FC236}">
                <a16:creationId xmlns:a16="http://schemas.microsoft.com/office/drawing/2014/main" id="{F2107AB0-6134-4F74-ABC2-D09BD3336446}"/>
              </a:ext>
            </a:extLst>
          </p:cNvPr>
          <p:cNvSpPr>
            <a:spLocks xmlns:a="http://schemas.openxmlformats.org/drawingml/2006/main" noGrp="1"/>
          </p:cNvSpPr>
          <p:nvPr/>
        </p:nvSpPr>
        <p:spPr>
          <a:xfrm xmlns:a="http://schemas.openxmlformats.org/drawingml/2006/main">
            <a:off x="62484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2410C"/>
                </a:solidFill>
                <a:latin typeface="Pretendard"/>
                <a:ea typeface="Pretendard"/>
                <a:cs typeface="Pretendard"/>
              </a:defRPr>
            </a:defPPr>
          </a:lstStyle>
          <a:p xmlns:a="http://schemas.openxmlformats.org/drawingml/2006/main">
            <a:pPr>
              <a:defRPr sz="2250" b="1">
                <a:solidFill>
                  <a:srgbClr val="C2410C"/>
                </a:solidFill>
                <a:latin typeface="Pretendard"/>
                <a:ea typeface="Pretendard"/>
                <a:cs typeface="Pretendard"/>
              </a:defRPr>
            </a:pPr>
            <a:r>
              <a:rPr sz="2250" b="1">
                <a:solidFill>
                  <a:srgbClr val="C2410C"/>
                </a:solidFill>
                <a:latin typeface="Pretendard"/>
                <a:ea typeface="Pretendard"/>
                <a:cs typeface="Pretendard"/>
              </a:rPr>
              <a:t>수정에 필요한 확신 조절</a:t>
            </a:r>
          </a:p>
        </p:txBody>
      </p:sp>
      <p:sp>
        <p:nvSpPr>
          <p:cNvPr id="6" name="">
            <a:extLst xmlns:a="http://schemas.openxmlformats.org/drawingml/2006/main">
              <a:ext uri="{FF2B5EF4-FFF2-40B4-BE49-F238E27FC236}">
                <a16:creationId xmlns:a16="http://schemas.microsoft.com/office/drawing/2014/main" id="{9F70E158-0308-4126-87AE-12B6DFB6102A}"/>
              </a:ext>
            </a:extLst>
          </p:cNvPr>
          <p:cNvSpPr>
            <a:spLocks xmlns:a="http://schemas.openxmlformats.org/drawingml/2006/main" noGrp="1"/>
          </p:cNvSpPr>
          <p:nvPr/>
        </p:nvSpPr>
        <p:spPr>
          <a:xfrm xmlns:a="http://schemas.openxmlformats.org/drawingml/2006/main">
            <a:off x="6248400" y="2400300"/>
            <a:ext cx="52387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현재 예측의 점수를 높여 복사를 선호</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수정 점수가 충분할 때만 바꿈</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검증으로 copy margin과 반복 횟수 선택</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교정문을 다시 읽는 방식으로 최대 3회 적용</a:t>
            </a:r>
          </a:p>
        </p:txBody>
      </p:sp>
      <p:sp>
        <p:nvSpPr>
          <p:cNvPr id="7" name="">
            <a:extLst xmlns:a="http://schemas.openxmlformats.org/drawingml/2006/main">
              <a:ext uri="{FF2B5EF4-FFF2-40B4-BE49-F238E27FC236}">
                <a16:creationId xmlns:a16="http://schemas.microsoft.com/office/drawing/2014/main" id="{E8F5D930-47BB-44DF-B3BD-22D729D0C19B}"/>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수정을 늘리는 효과와 새 오답을 만드는 비용을 함께 확인했다</a:t>
            </a:r>
          </a:p>
        </p:txBody>
      </p:sp>
      <p:sp>
        <p:nvSpPr>
          <p:cNvPr id="8" name="">
            <a:extLst xmlns:a="http://schemas.openxmlformats.org/drawingml/2006/main">
              <a:ext uri="{FF2B5EF4-FFF2-40B4-BE49-F238E27FC236}">
                <a16:creationId xmlns:a16="http://schemas.microsoft.com/office/drawing/2014/main" id="{120AF5C3-A9BA-4248-84FA-841402CD1A62}"/>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11</a:t>
            </a:r>
          </a:p>
        </p:txBody>
      </p:sp>
    </p:spTree>
    <p:extLst>
      <p:ext uri="{BB962C8B-B14F-4D97-AF65-F5344CB8AC3E}">
        <p14:creationId xmlns:p14="http://schemas.microsoft.com/office/powerpoint/2010/main" val="3563691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D7B0DC1-4ECF-4291-B486-A220E2E21543}"/>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C7F13CE0-803D-4310-8F61-6BCC8BC72C37}"/>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B팀: 힌트와 원문을 함께 읽고 단계를 쌓기</a:t>
            </a:r>
          </a:p>
        </p:txBody>
      </p:sp>
      <p:sp>
        <p:nvSpPr>
          <p:cNvPr id="3" name="">
            <a:extLst xmlns:a="http://schemas.openxmlformats.org/drawingml/2006/main">
              <a:ext uri="{FF2B5EF4-FFF2-40B4-BE49-F238E27FC236}">
                <a16:creationId xmlns:a16="http://schemas.microsoft.com/office/drawing/2014/main" id="{4C6747B6-CE4B-4055-9795-0CA621820F55}"/>
              </a:ext>
            </a:extLst>
          </p:cNvPr>
          <p:cNvSpPr>
            <a:spLocks xmlns:a="http://schemas.openxmlformats.org/drawingml/2006/main" noGrp="1"/>
          </p:cNvSpPr>
          <p:nvPr/>
        </p:nvSpPr>
        <p:spPr>
          <a:xfrm xmlns:a="http://schemas.openxmlformats.org/drawingml/2006/main">
            <a:off x="685800" y="16954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563EB"/>
                </a:solidFill>
                <a:latin typeface="Pretendard"/>
                <a:ea typeface="Pretendard"/>
                <a:cs typeface="Pretendard"/>
              </a:defRPr>
            </a:defPPr>
          </a:lstStyle>
          <a:p xmlns:a="http://schemas.openxmlformats.org/drawingml/2006/main">
            <a:pPr>
              <a:defRPr sz="2025" b="1">
                <a:solidFill>
                  <a:srgbClr val="2563EB"/>
                </a:solidFill>
                <a:latin typeface="Pretendard"/>
                <a:ea typeface="Pretendard"/>
                <a:cs typeface="Pretendard"/>
              </a:defRPr>
            </a:pPr>
            <a:r>
              <a:rPr sz="2025" b="1">
                <a:solidFill>
                  <a:srgbClr val="2563EB"/>
                </a:solidFill>
                <a:latin typeface="Pretendard"/>
                <a:ea typeface="Pretendard"/>
                <a:cs typeface="Pretendard"/>
              </a:rPr>
              <a:t>글자 모델</a:t>
            </a:r>
          </a:p>
        </p:txBody>
      </p:sp>
      <p:sp>
        <p:nvSpPr>
          <p:cNvPr id="4" name="">
            <a:extLst xmlns:a="http://schemas.openxmlformats.org/drawingml/2006/main">
              <a:ext uri="{FF2B5EF4-FFF2-40B4-BE49-F238E27FC236}">
                <a16:creationId xmlns:a16="http://schemas.microsoft.com/office/drawing/2014/main" id="{6F930C57-E516-40F8-BA55-81980C3BF4F0}"/>
              </a:ext>
            </a:extLst>
          </p:cNvPr>
          <p:cNvSpPr>
            <a:spLocks xmlns:a="http://schemas.openxmlformats.org/drawingml/2006/main" noGrp="1"/>
          </p:cNvSpPr>
          <p:nvPr/>
        </p:nvSpPr>
        <p:spPr>
          <a:xfrm xmlns:a="http://schemas.openxmlformats.org/drawingml/2006/main">
            <a:off x="3886200" y="16954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KoCharELECTRA-base에 힌트 글자와 원문 자모 제공</a:t>
            </a:r>
          </a:p>
        </p:txBody>
      </p:sp>
      <p:sp>
        <p:nvSpPr>
          <p:cNvPr id="5" name="">
            <a:extLst xmlns:a="http://schemas.openxmlformats.org/drawingml/2006/main">
              <a:ext uri="{FF2B5EF4-FFF2-40B4-BE49-F238E27FC236}">
                <a16:creationId xmlns:a16="http://schemas.microsoft.com/office/drawing/2014/main" id="{CB26E088-20EF-457F-9104-1EF462EB5FB9}"/>
              </a:ext>
            </a:extLst>
          </p:cNvPr>
          <p:cNvSpPr>
            <a:spLocks xmlns:a="http://schemas.openxmlformats.org/drawingml/2006/main" noGrp="1"/>
          </p:cNvSpPr>
          <p:nvPr/>
        </p:nvSpPr>
        <p:spPr>
          <a:xfrm xmlns:a="http://schemas.openxmlformats.org/drawingml/2006/main">
            <a:off x="685800" y="262890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563EB"/>
                </a:solidFill>
                <a:latin typeface="Pretendard"/>
                <a:ea typeface="Pretendard"/>
                <a:cs typeface="Pretendard"/>
              </a:defRPr>
            </a:defPPr>
          </a:lstStyle>
          <a:p xmlns:a="http://schemas.openxmlformats.org/drawingml/2006/main">
            <a:pPr>
              <a:defRPr sz="2025" b="1">
                <a:solidFill>
                  <a:srgbClr val="2563EB"/>
                </a:solidFill>
                <a:latin typeface="Pretendard"/>
                <a:ea typeface="Pretendard"/>
                <a:cs typeface="Pretendard"/>
              </a:defRPr>
            </a:pPr>
            <a:r>
              <a:rPr sz="2025" b="1">
                <a:solidFill>
                  <a:srgbClr val="2563EB"/>
                </a:solidFill>
                <a:latin typeface="Pretendard"/>
                <a:ea typeface="Pretendard"/>
                <a:cs typeface="Pretendard"/>
              </a:rPr>
              <a:t>음절과 자모 점수</a:t>
            </a:r>
          </a:p>
        </p:txBody>
      </p:sp>
      <p:sp>
        <p:nvSpPr>
          <p:cNvPr id="6" name="">
            <a:extLst xmlns:a="http://schemas.openxmlformats.org/drawingml/2006/main">
              <a:ext uri="{FF2B5EF4-FFF2-40B4-BE49-F238E27FC236}">
                <a16:creationId xmlns:a16="http://schemas.microsoft.com/office/drawing/2014/main" id="{F4965F5E-BB67-410D-9AB0-C5FE02076970}"/>
              </a:ext>
            </a:extLst>
          </p:cNvPr>
          <p:cNvSpPr>
            <a:spLocks xmlns:a="http://schemas.openxmlformats.org/drawingml/2006/main" noGrp="1"/>
          </p:cNvSpPr>
          <p:nvPr/>
        </p:nvSpPr>
        <p:spPr>
          <a:xfrm xmlns:a="http://schemas.openxmlformats.org/drawingml/2006/main">
            <a:off x="3886200" y="262890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음절 전체와 초성·중성·종성 점수를 합산</a:t>
            </a:r>
          </a:p>
        </p:txBody>
      </p:sp>
      <p:sp>
        <p:nvSpPr>
          <p:cNvPr id="7" name="">
            <a:extLst xmlns:a="http://schemas.openxmlformats.org/drawingml/2006/main">
              <a:ext uri="{FF2B5EF4-FFF2-40B4-BE49-F238E27FC236}">
                <a16:creationId xmlns:a16="http://schemas.microsoft.com/office/drawing/2014/main" id="{7F4DCB1C-23A8-4BEB-9A9E-23A5A0A1BBCF}"/>
              </a:ext>
            </a:extLst>
          </p:cNvPr>
          <p:cNvSpPr>
            <a:spLocks xmlns:a="http://schemas.openxmlformats.org/drawingml/2006/main" noGrp="1"/>
          </p:cNvSpPr>
          <p:nvPr/>
        </p:nvSpPr>
        <p:spPr>
          <a:xfrm xmlns:a="http://schemas.openxmlformats.org/drawingml/2006/main">
            <a:off x="685800" y="35623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563EB"/>
                </a:solidFill>
                <a:latin typeface="Pretendard"/>
                <a:ea typeface="Pretendard"/>
                <a:cs typeface="Pretendard"/>
              </a:defRPr>
            </a:defPPr>
          </a:lstStyle>
          <a:p xmlns:a="http://schemas.openxmlformats.org/drawingml/2006/main">
            <a:pPr>
              <a:defRPr sz="2025" b="1">
                <a:solidFill>
                  <a:srgbClr val="2563EB"/>
                </a:solidFill>
                <a:latin typeface="Pretendard"/>
                <a:ea typeface="Pretendard"/>
                <a:cs typeface="Pretendard"/>
              </a:defRPr>
            </a:pPr>
            <a:r>
              <a:rPr sz="2025" b="1">
                <a:solidFill>
                  <a:srgbClr val="2563EB"/>
                </a:solidFill>
                <a:latin typeface="Pretendard"/>
                <a:ea typeface="Pretendard"/>
                <a:cs typeface="Pretendard"/>
              </a:rPr>
              <a:t>단어 모델 보완</a:t>
            </a:r>
          </a:p>
        </p:txBody>
      </p:sp>
      <p:sp>
        <p:nvSpPr>
          <p:cNvPr id="8" name="">
            <a:extLst xmlns:a="http://schemas.openxmlformats.org/drawingml/2006/main">
              <a:ext uri="{FF2B5EF4-FFF2-40B4-BE49-F238E27FC236}">
                <a16:creationId xmlns:a16="http://schemas.microsoft.com/office/drawing/2014/main" id="{5802D1D4-5BB7-4C2A-8463-B4A6FDEDED20}"/>
              </a:ext>
            </a:extLst>
          </p:cNvPr>
          <p:cNvSpPr>
            <a:spLocks xmlns:a="http://schemas.openxmlformats.org/drawingml/2006/main" noGrp="1"/>
          </p:cNvSpPr>
          <p:nvPr/>
        </p:nvSpPr>
        <p:spPr>
          <a:xfrm xmlns:a="http://schemas.openxmlformats.org/drawingml/2006/main">
            <a:off x="3886200" y="35623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복원문을 큰 단어 모델이 읽고 글자 위치의 점수에 합침</a:t>
            </a:r>
          </a:p>
        </p:txBody>
      </p:sp>
      <p:sp>
        <p:nvSpPr>
          <p:cNvPr id="9" name="">
            <a:extLst xmlns:a="http://schemas.openxmlformats.org/drawingml/2006/main">
              <a:ext uri="{FF2B5EF4-FFF2-40B4-BE49-F238E27FC236}">
                <a16:creationId xmlns:a16="http://schemas.microsoft.com/office/drawing/2014/main" id="{71857799-3917-45E8-99B6-131077645BC2}"/>
              </a:ext>
            </a:extLst>
          </p:cNvPr>
          <p:cNvSpPr>
            <a:spLocks xmlns:a="http://schemas.openxmlformats.org/drawingml/2006/main" noGrp="1"/>
          </p:cNvSpPr>
          <p:nvPr/>
        </p:nvSpPr>
        <p:spPr>
          <a:xfrm xmlns:a="http://schemas.openxmlformats.org/drawingml/2006/main">
            <a:off x="685800" y="45720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복원 결과를 다음 단계의 힌트로 사용</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OOF 글자 정확도 0.9756 / 0.9773 / 단어 모델 추가 후 0.9793</a:t>
            </a:r>
          </a:p>
        </p:txBody>
      </p:sp>
      <p:sp>
        <p:nvSpPr>
          <p:cNvPr id="10" name="">
            <a:extLst xmlns:a="http://schemas.openxmlformats.org/drawingml/2006/main">
              <a:ext uri="{FF2B5EF4-FFF2-40B4-BE49-F238E27FC236}">
                <a16:creationId xmlns:a16="http://schemas.microsoft.com/office/drawing/2014/main" id="{567F8C27-2F29-4748-A29E-3205260F4BAA}"/>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63EB"/>
                </a:solidFill>
                <a:latin typeface="Pretendard"/>
                <a:ea typeface="Pretendard"/>
                <a:cs typeface="Pretendard"/>
              </a:defRPr>
            </a:defPPr>
          </a:lstStyle>
          <a:p xmlns:a="http://schemas.openxmlformats.org/drawingml/2006/main">
            <a:pPr>
              <a:defRPr sz="1950" b="1">
                <a:solidFill>
                  <a:srgbClr val="2563EB"/>
                </a:solidFill>
                <a:latin typeface="Pretendard"/>
                <a:ea typeface="Pretendard"/>
                <a:cs typeface="Pretendard"/>
              </a:defRPr>
            </a:pPr>
            <a:r>
              <a:rPr sz="1950" b="1">
                <a:solidFill>
                  <a:srgbClr val="2563EB"/>
                </a:solidFill>
                <a:latin typeface="Pretendard"/>
                <a:ea typeface="Pretendard"/>
                <a:cs typeface="Pretendard"/>
              </a:rPr>
              <a:t>B팀도 먼저 읽을 수 있는 문장을 만든 뒤 단어 지식을 활용했다</a:t>
            </a:r>
          </a:p>
        </p:txBody>
      </p:sp>
      <p:sp>
        <p:nvSpPr>
          <p:cNvPr id="11" name="">
            <a:extLst xmlns:a="http://schemas.openxmlformats.org/drawingml/2006/main">
              <a:ext uri="{FF2B5EF4-FFF2-40B4-BE49-F238E27FC236}">
                <a16:creationId xmlns:a16="http://schemas.microsoft.com/office/drawing/2014/main" id="{588BA706-6F08-4988-BC49-B9C344505B36}"/>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12</a:t>
            </a:r>
          </a:p>
        </p:txBody>
      </p:sp>
    </p:spTree>
    <p:extLst>
      <p:ext uri="{BB962C8B-B14F-4D97-AF65-F5344CB8AC3E}">
        <p14:creationId xmlns:p14="http://schemas.microsoft.com/office/powerpoint/2010/main" val="20604733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3FF2D8-F3BF-4A81-B1D7-46A8656A1F3C}"/>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28BF81B8-7B4E-47A7-BDF6-FD718C829FF4}"/>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B팀 EDA: 규칙으로 후보와 학습 데이터를 다듬기</a:t>
            </a:r>
          </a:p>
        </p:txBody>
      </p:sp>
      <p:graphicFrame>
        <p:nvGraphicFramePr>
          <p:cNvPr id="3" name="">
            <a:extLst xmlns:a="http://schemas.openxmlformats.org/drawingml/2006/main">
              <a:ext uri="{FF2B5EF4-FFF2-40B4-BE49-F238E27FC236}">
                <a16:creationId xmlns:a16="http://schemas.microsoft.com/office/drawing/2014/main" id="{D5D77E77-E9E2-43C5-AE73-7C5C434022A3}"/>
              </a:ext>
            </a:extLst>
          </p:cNvPr>
          <p:cNvGraphicFramePr/>
          <p:nvPr/>
        </p:nvGraphicFramePr>
        <p:xfrm>
          <a:off xmlns:a="http://schemas.openxmlformats.org/drawingml/2006/main" x="685800" y="1619250"/>
          <a:ext xmlns:a="http://schemas.openxmlformats.org/drawingml/2006/main" cx="10820400" cy="2743200"/>
        </p:xfrm>
        <a:graphic xmlns:a="http://schemas.openxmlformats.org/drawingml/2006/main">
          <a:graphicData uri="http://schemas.openxmlformats.org/drawingml/2006/table">
            <a:tbl>
              <a:tblPr/>
              <a:tblGrid>
                <a:gridCol w="3790950"/>
                <a:gridCol w="3238500"/>
                <a:gridCol w="3790950"/>
              </a:tblGrid>
              <a:tr h="685800">
                <a:tc>
                  <a:txBody>
                    <a:bodyPr/>
                    <a:lstStyle/>
                    <a:p>
                      <a:r>
                        <a:rPr sz="1800" b="1">
                          <a:solidFill>
                            <a:srgbClr val="FFFFFF"/>
                          </a:solidFill>
                          <a:latin typeface="Pretendard"/>
                          <a:ea typeface="Pretendard"/>
                          <a:cs typeface="Pretendard"/>
                        </a:rPr>
                        <a:t>관찰</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중간 추론</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설계 선택</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자모 묶음 안에서 변화</a:t>
                      </a:r>
                    </a:p>
                    <a:p>
                      <a:r>
                        <a:rPr sz="1800" b="0">
                          <a:solidFill>
                            <a:srgbClr val="1B2333"/>
                          </a:solidFill>
                          <a:latin typeface="Pretendard"/>
                          <a:ea typeface="Pretendard"/>
                          <a:cs typeface="Pretendard"/>
                        </a:rPr>
                        <a:t>규칙 밖 사례 0.003%</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일부 음절은</a:t>
                      </a:r>
                    </a:p>
                    <a:p>
                      <a:r>
                        <a:rPr sz="1800" b="0">
                          <a:solidFill>
                            <a:srgbClr val="1B2333"/>
                          </a:solidFill>
                          <a:latin typeface="Pretendard"/>
                          <a:ea typeface="Pretendard"/>
                          <a:cs typeface="Pretendard"/>
                        </a:rPr>
                        <a:t>원문에서 나오기 어려움</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불가능한 후보를 제외</a:t>
                      </a:r>
                    </a:p>
                    <a:p>
                      <a:r>
                        <a:rPr sz="1800" b="0">
                          <a:solidFill>
                            <a:srgbClr val="1B2333"/>
                          </a:solidFill>
                          <a:latin typeface="Pretendard"/>
                          <a:ea typeface="Pretendard"/>
                          <a:cs typeface="Pretendard"/>
                        </a:rPr>
                        <a:t>제약 디코딩</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받침 추가 비율 51% 등</a:t>
                      </a:r>
                    </a:p>
                    <a:p>
                      <a:r>
                        <a:rPr sz="1800" b="0">
                          <a:solidFill>
                            <a:srgbClr val="1B2333"/>
                          </a:solidFill>
                          <a:latin typeface="Pretendard"/>
                          <a:ea typeface="Pretendard"/>
                          <a:cs typeface="Pretendard"/>
                        </a:rPr>
                        <a:t>변형 확률을 추정 가능</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정답 하나에서</a:t>
                      </a:r>
                    </a:p>
                    <a:p>
                      <a:r>
                        <a:rPr sz="1800" b="0">
                          <a:solidFill>
                            <a:srgbClr val="1B2333"/>
                          </a:solidFill>
                          <a:latin typeface="Pretendard"/>
                          <a:ea typeface="Pretendard"/>
                          <a:cs typeface="Pretendard"/>
                        </a:rPr>
                        <a:t>여러 난독화 입력 생성 가능</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정답을 다시 난독화</a:t>
                      </a:r>
                    </a:p>
                    <a:p>
                      <a:r>
                        <a:rPr sz="1800" b="0">
                          <a:solidFill>
                            <a:srgbClr val="1B2333"/>
                          </a:solidFill>
                          <a:latin typeface="Pretendard"/>
                          <a:ea typeface="Pretendard"/>
                          <a:cs typeface="Pretendard"/>
                        </a:rPr>
                        <a:t>학습 데이터 증강</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독립 추출 잔존율 0.255</a:t>
                      </a:r>
                    </a:p>
                    <a:p>
                      <a:r>
                        <a:rPr sz="1800" b="0">
                          <a:solidFill>
                            <a:srgbClr val="1B2333"/>
                          </a:solidFill>
                          <a:latin typeface="Pretendard"/>
                          <a:ea typeface="Pretendard"/>
                          <a:cs typeface="Pretendard"/>
                        </a:rPr>
                        <a:t>실제 0.125와 차이</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앞뒤 글자의 영향도</a:t>
                      </a:r>
                    </a:p>
                    <a:p>
                      <a:r>
                        <a:rPr sz="1800" b="0">
                          <a:solidFill>
                            <a:srgbClr val="1B2333"/>
                          </a:solidFill>
                          <a:latin typeface="Pretendard"/>
                          <a:ea typeface="Pretendard"/>
                          <a:cs typeface="Pretendard"/>
                        </a:rPr>
                        <a:t>함께 반영할 필요</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문맥 조건을 반영해</a:t>
                      </a:r>
                    </a:p>
                    <a:p>
                      <a:r>
                        <a:rPr sz="1800" b="0">
                          <a:solidFill>
                            <a:srgbClr val="1B2333"/>
                          </a:solidFill>
                          <a:latin typeface="Pretendard"/>
                          <a:ea typeface="Pretendard"/>
                          <a:cs typeface="Pretendard"/>
                        </a:rPr>
                        <a:t>잔존율 0.127로 접근</a:t>
                      </a:r>
                    </a:p>
                  </a:txBody>
                  <a:tcPr marL="133350" marR="133350" marT="95250" marB="95250" anchor="ctr">
                    <a:solidFill>
                      <a:srgbClr val="F4F6F9"/>
                    </a:solidFill>
                  </a:tcPr>
                </a:tc>
              </a:tr>
            </a:tbl>
          </a:graphicData>
        </a:graphic>
      </p:graphicFrame>
      <p:sp>
        <p:nvSpPr>
          <p:cNvPr id="4" name="">
            <a:extLst xmlns:a="http://schemas.openxmlformats.org/drawingml/2006/main">
              <a:ext uri="{FF2B5EF4-FFF2-40B4-BE49-F238E27FC236}">
                <a16:creationId xmlns:a16="http://schemas.microsoft.com/office/drawing/2014/main" id="{E94C9EA7-1B09-4076-AC4A-6B8EF7F70638}"/>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63EB"/>
                </a:solidFill>
                <a:latin typeface="Pretendard"/>
                <a:ea typeface="Pretendard"/>
                <a:cs typeface="Pretendard"/>
              </a:defRPr>
            </a:defPPr>
          </a:lstStyle>
          <a:p xmlns:a="http://schemas.openxmlformats.org/drawingml/2006/main">
            <a:pPr>
              <a:defRPr sz="1950" b="1">
                <a:solidFill>
                  <a:srgbClr val="2563EB"/>
                </a:solidFill>
                <a:latin typeface="Pretendard"/>
                <a:ea typeface="Pretendard"/>
                <a:cs typeface="Pretendard"/>
              </a:defRPr>
            </a:pPr>
            <a:r>
              <a:rPr sz="1950" b="1">
                <a:solidFill>
                  <a:srgbClr val="2563EB"/>
                </a:solidFill>
                <a:latin typeface="Pretendard"/>
                <a:ea typeface="Pretendard"/>
                <a:cs typeface="Pretendard"/>
              </a:rPr>
              <a:t>발견한 규칙은 쓰되, 만든 데이터가 실제와 닮았는지도 검증했다</a:t>
            </a:r>
          </a:p>
        </p:txBody>
      </p:sp>
      <p:sp>
        <p:nvSpPr>
          <p:cNvPr id="5" name="">
            <a:extLst xmlns:a="http://schemas.openxmlformats.org/drawingml/2006/main">
              <a:ext uri="{FF2B5EF4-FFF2-40B4-BE49-F238E27FC236}">
                <a16:creationId xmlns:a16="http://schemas.microsoft.com/office/drawing/2014/main" id="{8D4B1CD6-5712-4C11-BF15-4866A38F3013}"/>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13</a:t>
            </a:r>
          </a:p>
        </p:txBody>
      </p:sp>
    </p:spTree>
    <p:extLst>
      <p:ext uri="{BB962C8B-B14F-4D97-AF65-F5344CB8AC3E}">
        <p14:creationId xmlns:p14="http://schemas.microsoft.com/office/powerpoint/2010/main" val="16619958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E08E0F-941D-47E5-B5E4-4CEA4864CA94}"/>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B109F2C2-4E6E-48F8-A8E1-A2B11C08A114}"/>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B팀: 같은 실수를 공유하면 앙상블도 멈춘다</a:t>
            </a:r>
          </a:p>
        </p:txBody>
      </p:sp>
      <p:sp>
        <p:nvSpPr>
          <p:cNvPr id="3" name="">
            <a:extLst xmlns:a="http://schemas.openxmlformats.org/drawingml/2006/main">
              <a:ext uri="{FF2B5EF4-FFF2-40B4-BE49-F238E27FC236}">
                <a16:creationId xmlns:a16="http://schemas.microsoft.com/office/drawing/2014/main" id="{AF3B749F-D4A8-4159-A1C4-EFD27940A8A4}"/>
              </a:ext>
            </a:extLst>
          </p:cNvPr>
          <p:cNvSpPr>
            <a:spLocks xmlns:a="http://schemas.openxmlformats.org/drawingml/2006/main" noGrp="1"/>
          </p:cNvSpPr>
          <p:nvPr/>
        </p:nvSpPr>
        <p:spPr>
          <a:xfrm xmlns:a="http://schemas.openxmlformats.org/drawingml/2006/main">
            <a:off x="6858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563EB"/>
                </a:solidFill>
                <a:latin typeface="Pretendard"/>
                <a:ea typeface="Pretendard"/>
                <a:cs typeface="Pretendard"/>
              </a:defRPr>
            </a:defPPr>
          </a:lstStyle>
          <a:p xmlns:a="http://schemas.openxmlformats.org/drawingml/2006/main">
            <a:pPr>
              <a:defRPr sz="2250" b="1">
                <a:solidFill>
                  <a:srgbClr val="2563EB"/>
                </a:solidFill>
                <a:latin typeface="Pretendard"/>
                <a:ea typeface="Pretendard"/>
                <a:cs typeface="Pretendard"/>
              </a:defRPr>
            </a:pPr>
            <a:r>
              <a:rPr sz="2250" b="1">
                <a:solidFill>
                  <a:srgbClr val="2563EB"/>
                </a:solidFill>
                <a:latin typeface="Pretendard"/>
                <a:ea typeface="Pretendard"/>
                <a:cs typeface="Pretendard"/>
              </a:rPr>
              <a:t>남은 오류의 구조</a:t>
            </a:r>
          </a:p>
        </p:txBody>
      </p:sp>
      <p:sp>
        <p:nvSpPr>
          <p:cNvPr id="4" name="">
            <a:extLst xmlns:a="http://schemas.openxmlformats.org/drawingml/2006/main">
              <a:ext uri="{FF2B5EF4-FFF2-40B4-BE49-F238E27FC236}">
                <a16:creationId xmlns:a16="http://schemas.microsoft.com/office/drawing/2014/main" id="{F8DBBFC9-AD47-460B-840A-DB2AC4B7E4FD}"/>
              </a:ext>
            </a:extLst>
          </p:cNvPr>
          <p:cNvSpPr>
            <a:spLocks xmlns:a="http://schemas.openxmlformats.org/drawingml/2006/main" noGrp="1"/>
          </p:cNvSpPr>
          <p:nvPr/>
        </p:nvSpPr>
        <p:spPr>
          <a:xfrm xmlns:a="http://schemas.openxmlformats.org/drawingml/2006/main">
            <a:off x="685800" y="2400300"/>
            <a:ext cx="52387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네 실행이 모두 틀린 글자가</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전체 오류의 81%</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그 글자의 79%는 여전히 없는 말</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같은 계열의 실행을 합쳐도</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개선은 +0.0002 이하</a:t>
            </a:r>
          </a:p>
        </p:txBody>
      </p:sp>
      <p:sp>
        <p:nvSpPr>
          <p:cNvPr id="5" name="">
            <a:extLst xmlns:a="http://schemas.openxmlformats.org/drawingml/2006/main">
              <a:ext uri="{FF2B5EF4-FFF2-40B4-BE49-F238E27FC236}">
                <a16:creationId xmlns:a16="http://schemas.microsoft.com/office/drawing/2014/main" id="{D12DC507-A487-40CB-B1B8-ADD37A63F539}"/>
              </a:ext>
            </a:extLst>
          </p:cNvPr>
          <p:cNvSpPr>
            <a:spLocks xmlns:a="http://schemas.openxmlformats.org/drawingml/2006/main" noGrp="1"/>
          </p:cNvSpPr>
          <p:nvPr/>
        </p:nvSpPr>
        <p:spPr>
          <a:xfrm xmlns:a="http://schemas.openxmlformats.org/drawingml/2006/main">
            <a:off x="62484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563EB"/>
                </a:solidFill>
                <a:latin typeface="Pretendard"/>
                <a:ea typeface="Pretendard"/>
                <a:cs typeface="Pretendard"/>
              </a:defRPr>
            </a:defPPr>
          </a:lstStyle>
          <a:p xmlns:a="http://schemas.openxmlformats.org/drawingml/2006/main">
            <a:pPr>
              <a:defRPr sz="2250" b="1">
                <a:solidFill>
                  <a:srgbClr val="2563EB"/>
                </a:solidFill>
                <a:latin typeface="Pretendard"/>
                <a:ea typeface="Pretendard"/>
                <a:cs typeface="Pretendard"/>
              </a:defRPr>
            </a:pPr>
            <a:r>
              <a:rPr sz="2250" b="1">
                <a:solidFill>
                  <a:srgbClr val="2563EB"/>
                </a:solidFill>
                <a:latin typeface="Pretendard"/>
                <a:ea typeface="Pretendard"/>
                <a:cs typeface="Pretendard"/>
              </a:rPr>
              <a:t>오류를 물려받는 이유</a:t>
            </a:r>
          </a:p>
        </p:txBody>
      </p:sp>
      <p:sp>
        <p:nvSpPr>
          <p:cNvPr id="6" name="">
            <a:extLst xmlns:a="http://schemas.openxmlformats.org/drawingml/2006/main">
              <a:ext uri="{FF2B5EF4-FFF2-40B4-BE49-F238E27FC236}">
                <a16:creationId xmlns:a16="http://schemas.microsoft.com/office/drawing/2014/main" id="{808A43AD-3DF9-4C52-8AFA-A590EC9DD41A}"/>
              </a:ext>
            </a:extLst>
          </p:cNvPr>
          <p:cNvSpPr>
            <a:spLocks xmlns:a="http://schemas.openxmlformats.org/drawingml/2006/main" noGrp="1"/>
          </p:cNvSpPr>
          <p:nvPr/>
        </p:nvSpPr>
        <p:spPr>
          <a:xfrm xmlns:a="http://schemas.openxmlformats.org/drawingml/2006/main">
            <a:off x="6248400" y="2400300"/>
            <a:ext cx="5238750" cy="3181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뒤 모델은 앞 모델의 힌트를 사용</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비슷한 힌트로 시작하면</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비슷한 어려운 단어가 남을 수 있음</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추가 학습과 평균만으로는</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공통 오답을 해결하기 어려움</a:t>
            </a:r>
          </a:p>
        </p:txBody>
      </p:sp>
      <p:sp>
        <p:nvSpPr>
          <p:cNvPr id="7" name="">
            <a:extLst xmlns:a="http://schemas.openxmlformats.org/drawingml/2006/main">
              <a:ext uri="{FF2B5EF4-FFF2-40B4-BE49-F238E27FC236}">
                <a16:creationId xmlns:a16="http://schemas.microsoft.com/office/drawing/2014/main" id="{1DBE23E1-3A63-464E-95E5-51FA390B5A4F}"/>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63EB"/>
                </a:solidFill>
                <a:latin typeface="Pretendard"/>
                <a:ea typeface="Pretendard"/>
                <a:cs typeface="Pretendard"/>
              </a:defRPr>
            </a:defPPr>
          </a:lstStyle>
          <a:p xmlns:a="http://schemas.openxmlformats.org/drawingml/2006/main">
            <a:pPr>
              <a:defRPr sz="1950" b="1">
                <a:solidFill>
                  <a:srgbClr val="2563EB"/>
                </a:solidFill>
                <a:latin typeface="Pretendard"/>
                <a:ea typeface="Pretendard"/>
                <a:cs typeface="Pretendard"/>
              </a:defRPr>
            </a:pPr>
            <a:r>
              <a:rPr sz="1950" b="1">
                <a:solidFill>
                  <a:srgbClr val="2563EB"/>
                </a:solidFill>
                <a:latin typeface="Pretendard"/>
                <a:ea typeface="Pretendard"/>
                <a:cs typeface="Pretendard"/>
              </a:rPr>
              <a:t>B팀은 교정 모델 개선에서 후보 생성과 후보 선택의 분리로 방향을 바꿨다</a:t>
            </a:r>
          </a:p>
        </p:txBody>
      </p:sp>
      <p:sp>
        <p:nvSpPr>
          <p:cNvPr id="8" name="">
            <a:extLst xmlns:a="http://schemas.openxmlformats.org/drawingml/2006/main">
              <a:ext uri="{FF2B5EF4-FFF2-40B4-BE49-F238E27FC236}">
                <a16:creationId xmlns:a16="http://schemas.microsoft.com/office/drawing/2014/main" id="{1A828376-5B93-4494-BE54-BB02131520AA}"/>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14</a:t>
            </a:r>
          </a:p>
        </p:txBody>
      </p:sp>
    </p:spTree>
    <p:extLst>
      <p:ext uri="{BB962C8B-B14F-4D97-AF65-F5344CB8AC3E}">
        <p14:creationId xmlns:p14="http://schemas.microsoft.com/office/powerpoint/2010/main" val="3688796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281A70-9DD1-4E07-BAA9-A8BF9BD8EC9A}"/>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8ADB9FED-54FF-4962-BFF3-AE973613EA60}"/>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B팀: 갈린 단어만 문맥으로 다시 고르기</a:t>
            </a:r>
          </a:p>
        </p:txBody>
      </p:sp>
      <p:sp>
        <p:nvSpPr>
          <p:cNvPr id="3" name="">
            <a:extLst xmlns:a="http://schemas.openxmlformats.org/drawingml/2006/main">
              <a:ext uri="{FF2B5EF4-FFF2-40B4-BE49-F238E27FC236}">
                <a16:creationId xmlns:a16="http://schemas.microsoft.com/office/drawing/2014/main" id="{0633BB1A-9D72-4C60-83AA-CB4551E73638}"/>
              </a:ext>
            </a:extLst>
          </p:cNvPr>
          <p:cNvSpPr>
            <a:spLocks xmlns:a="http://schemas.openxmlformats.org/drawingml/2006/main" noGrp="1"/>
          </p:cNvSpPr>
          <p:nvPr/>
        </p:nvSpPr>
        <p:spPr>
          <a:xfrm xmlns:a="http://schemas.openxmlformats.org/drawingml/2006/main">
            <a:off x="685800" y="16954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563EB"/>
                </a:solidFill>
                <a:latin typeface="Pretendard"/>
                <a:ea typeface="Pretendard"/>
                <a:cs typeface="Pretendard"/>
              </a:defRPr>
            </a:defPPr>
          </a:lstStyle>
          <a:p xmlns:a="http://schemas.openxmlformats.org/drawingml/2006/main">
            <a:pPr>
              <a:defRPr sz="2025" b="1">
                <a:solidFill>
                  <a:srgbClr val="2563EB"/>
                </a:solidFill>
                <a:latin typeface="Pretendard"/>
                <a:ea typeface="Pretendard"/>
                <a:cs typeface="Pretendard"/>
              </a:defRPr>
            </a:pPr>
            <a:r>
              <a:rPr sz="2025" b="1">
                <a:solidFill>
                  <a:srgbClr val="2563EB"/>
                </a:solidFill>
                <a:latin typeface="Pretendard"/>
                <a:ea typeface="Pretendard"/>
                <a:cs typeface="Pretendard"/>
              </a:rPr>
              <a:t>후보 수집</a:t>
            </a:r>
          </a:p>
        </p:txBody>
      </p:sp>
      <p:sp>
        <p:nvSpPr>
          <p:cNvPr id="4" name="">
            <a:extLst xmlns:a="http://schemas.openxmlformats.org/drawingml/2006/main">
              <a:ext uri="{FF2B5EF4-FFF2-40B4-BE49-F238E27FC236}">
                <a16:creationId xmlns:a16="http://schemas.microsoft.com/office/drawing/2014/main" id="{4F878982-1420-4D60-AD97-0299B6B69CB1}"/>
              </a:ext>
            </a:extLst>
          </p:cNvPr>
          <p:cNvSpPr>
            <a:spLocks xmlns:a="http://schemas.openxmlformats.org/drawingml/2006/main" noGrp="1"/>
          </p:cNvSpPr>
          <p:nvPr/>
        </p:nvSpPr>
        <p:spPr>
          <a:xfrm xmlns:a="http://schemas.openxmlformats.org/drawingml/2006/main">
            <a:off x="3886200" y="16954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여러 실행의 복원문에서 서로 다른 단어를 모음</a:t>
            </a:r>
          </a:p>
        </p:txBody>
      </p:sp>
      <p:sp>
        <p:nvSpPr>
          <p:cNvPr id="5" name="">
            <a:extLst xmlns:a="http://schemas.openxmlformats.org/drawingml/2006/main">
              <a:ext uri="{FF2B5EF4-FFF2-40B4-BE49-F238E27FC236}">
                <a16:creationId xmlns:a16="http://schemas.microsoft.com/office/drawing/2014/main" id="{4CB20529-5163-42A1-985B-A09F24931F9B}"/>
              </a:ext>
            </a:extLst>
          </p:cNvPr>
          <p:cNvSpPr>
            <a:spLocks xmlns:a="http://schemas.openxmlformats.org/drawingml/2006/main" noGrp="1"/>
          </p:cNvSpPr>
          <p:nvPr/>
        </p:nvSpPr>
        <p:spPr>
          <a:xfrm xmlns:a="http://schemas.openxmlformats.org/drawingml/2006/main">
            <a:off x="685800" y="262890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563EB"/>
                </a:solidFill>
                <a:latin typeface="Pretendard"/>
                <a:ea typeface="Pretendard"/>
                <a:cs typeface="Pretendard"/>
              </a:defRPr>
            </a:defPPr>
          </a:lstStyle>
          <a:p xmlns:a="http://schemas.openxmlformats.org/drawingml/2006/main">
            <a:pPr>
              <a:defRPr sz="2025" b="1">
                <a:solidFill>
                  <a:srgbClr val="2563EB"/>
                </a:solidFill>
                <a:latin typeface="Pretendard"/>
                <a:ea typeface="Pretendard"/>
                <a:cs typeface="Pretendard"/>
              </a:defRPr>
            </a:pPr>
            <a:r>
              <a:rPr sz="2025" b="1">
                <a:solidFill>
                  <a:srgbClr val="2563EB"/>
                </a:solidFill>
                <a:latin typeface="Pretendard"/>
                <a:ea typeface="Pretendard"/>
                <a:cs typeface="Pretendard"/>
              </a:rPr>
              <a:t>문맥 점수 계산</a:t>
            </a:r>
          </a:p>
        </p:txBody>
      </p:sp>
      <p:sp>
        <p:nvSpPr>
          <p:cNvPr id="6" name="">
            <a:extLst xmlns:a="http://schemas.openxmlformats.org/drawingml/2006/main">
              <a:ext uri="{FF2B5EF4-FFF2-40B4-BE49-F238E27FC236}">
                <a16:creationId xmlns:a16="http://schemas.microsoft.com/office/drawing/2014/main" id="{AC4898EE-FD9E-4511-BA53-C24EED169B59}"/>
              </a:ext>
            </a:extLst>
          </p:cNvPr>
          <p:cNvSpPr>
            <a:spLocks xmlns:a="http://schemas.openxmlformats.org/drawingml/2006/main" noGrp="1"/>
          </p:cNvSpPr>
          <p:nvPr/>
        </p:nvSpPr>
        <p:spPr>
          <a:xfrm xmlns:a="http://schemas.openxmlformats.org/drawingml/2006/main">
            <a:off x="3886200" y="262890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공개 언어 모델이 앞뒤 문맥에서 후보의 자연스러움을 평가</a:t>
            </a:r>
          </a:p>
        </p:txBody>
      </p:sp>
      <p:sp>
        <p:nvSpPr>
          <p:cNvPr id="7" name="">
            <a:extLst xmlns:a="http://schemas.openxmlformats.org/drawingml/2006/main">
              <a:ext uri="{FF2B5EF4-FFF2-40B4-BE49-F238E27FC236}">
                <a16:creationId xmlns:a16="http://schemas.microsoft.com/office/drawing/2014/main" id="{FE7C474E-1453-43AB-8CDF-176E58D9ECA0}"/>
              </a:ext>
            </a:extLst>
          </p:cNvPr>
          <p:cNvSpPr>
            <a:spLocks xmlns:a="http://schemas.openxmlformats.org/drawingml/2006/main" noGrp="1"/>
          </p:cNvSpPr>
          <p:nvPr/>
        </p:nvSpPr>
        <p:spPr>
          <a:xfrm xmlns:a="http://schemas.openxmlformats.org/drawingml/2006/main">
            <a:off x="685800" y="3562350"/>
            <a:ext cx="300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563EB"/>
                </a:solidFill>
                <a:latin typeface="Pretendard"/>
                <a:ea typeface="Pretendard"/>
                <a:cs typeface="Pretendard"/>
              </a:defRPr>
            </a:defPPr>
          </a:lstStyle>
          <a:p xmlns:a="http://schemas.openxmlformats.org/drawingml/2006/main">
            <a:pPr>
              <a:defRPr sz="2025" b="1">
                <a:solidFill>
                  <a:srgbClr val="2563EB"/>
                </a:solidFill>
                <a:latin typeface="Pretendard"/>
                <a:ea typeface="Pretendard"/>
                <a:cs typeface="Pretendard"/>
              </a:defRPr>
            </a:pPr>
            <a:r>
              <a:rPr sz="2025" b="1">
                <a:solidFill>
                  <a:srgbClr val="2563EB"/>
                </a:solidFill>
                <a:latin typeface="Pretendard"/>
                <a:ea typeface="Pretendard"/>
                <a:cs typeface="Pretendard"/>
              </a:rPr>
              <a:t>점수 결합과 선택</a:t>
            </a:r>
          </a:p>
        </p:txBody>
      </p:sp>
      <p:sp>
        <p:nvSpPr>
          <p:cNvPr id="8" name="">
            <a:extLst xmlns:a="http://schemas.openxmlformats.org/drawingml/2006/main">
              <a:ext uri="{FF2B5EF4-FFF2-40B4-BE49-F238E27FC236}">
                <a16:creationId xmlns:a16="http://schemas.microsoft.com/office/drawing/2014/main" id="{54520669-4183-4200-89CD-694944FCAF92}"/>
              </a:ext>
            </a:extLst>
          </p:cNvPr>
          <p:cNvSpPr>
            <a:spLocks xmlns:a="http://schemas.openxmlformats.org/drawingml/2006/main" noGrp="1"/>
          </p:cNvSpPr>
          <p:nvPr/>
        </p:nvSpPr>
        <p:spPr>
          <a:xfrm xmlns:a="http://schemas.openxmlformats.org/drawingml/2006/main">
            <a:off x="3886200" y="3562350"/>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사전 정보와 실행 정보도 더하고, 비중은 OOF로 결정</a:t>
            </a:r>
          </a:p>
        </p:txBody>
      </p:sp>
      <p:sp>
        <p:nvSpPr>
          <p:cNvPr id="9" name="">
            <a:extLst xmlns:a="http://schemas.openxmlformats.org/drawingml/2006/main">
              <a:ext uri="{FF2B5EF4-FFF2-40B4-BE49-F238E27FC236}">
                <a16:creationId xmlns:a16="http://schemas.microsoft.com/office/drawing/2014/main" id="{F6868BEC-B3C5-49CA-82C7-1EC863F2B5CD}"/>
              </a:ext>
            </a:extLst>
          </p:cNvPr>
          <p:cNvSpPr>
            <a:spLocks xmlns:a="http://schemas.openxmlformats.org/drawingml/2006/main" noGrp="1"/>
          </p:cNvSpPr>
          <p:nvPr/>
        </p:nvSpPr>
        <p:spPr>
          <a:xfrm xmlns:a="http://schemas.openxmlformats.org/drawingml/2006/main">
            <a:off x="685800" y="457200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언어 모델 polyglot-ko-5.8b는 학습 없이 점수만 계산</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후보 중 정답이 있어야 선택으로 고칠 수 있다.</a:t>
            </a:r>
          </a:p>
        </p:txBody>
      </p:sp>
      <p:sp>
        <p:nvSpPr>
          <p:cNvPr id="10" name="">
            <a:extLst xmlns:a="http://schemas.openxmlformats.org/drawingml/2006/main">
              <a:ext uri="{FF2B5EF4-FFF2-40B4-BE49-F238E27FC236}">
                <a16:creationId xmlns:a16="http://schemas.microsoft.com/office/drawing/2014/main" id="{F6562B8E-A916-470D-9067-DE0934D165F2}"/>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63EB"/>
                </a:solidFill>
                <a:latin typeface="Pretendard"/>
                <a:ea typeface="Pretendard"/>
                <a:cs typeface="Pretendard"/>
              </a:defRPr>
            </a:defPPr>
          </a:lstStyle>
          <a:p xmlns:a="http://schemas.openxmlformats.org/drawingml/2006/main">
            <a:pPr>
              <a:defRPr sz="1950" b="1">
                <a:solidFill>
                  <a:srgbClr val="2563EB"/>
                </a:solidFill>
                <a:latin typeface="Pretendard"/>
                <a:ea typeface="Pretendard"/>
                <a:cs typeface="Pretendard"/>
              </a:defRPr>
            </a:pPr>
            <a:r>
              <a:rPr sz="1950" b="1">
                <a:solidFill>
                  <a:srgbClr val="2563EB"/>
                </a:solidFill>
                <a:latin typeface="Pretendard"/>
                <a:ea typeface="Pretendard"/>
                <a:cs typeface="Pretendard"/>
              </a:rPr>
              <a:t>B팀의 중심 질문: 여러 모델이 낸 답 중 어떤 단어가 문맥에 맞을까?</a:t>
            </a:r>
          </a:p>
        </p:txBody>
      </p:sp>
      <p:sp>
        <p:nvSpPr>
          <p:cNvPr id="11" name="">
            <a:extLst xmlns:a="http://schemas.openxmlformats.org/drawingml/2006/main">
              <a:ext uri="{FF2B5EF4-FFF2-40B4-BE49-F238E27FC236}">
                <a16:creationId xmlns:a16="http://schemas.microsoft.com/office/drawing/2014/main" id="{7C8CF5A8-BEF7-4DF5-B2BD-00E4619E0B8D}"/>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15</a:t>
            </a:r>
          </a:p>
        </p:txBody>
      </p:sp>
    </p:spTree>
    <p:extLst>
      <p:ext uri="{BB962C8B-B14F-4D97-AF65-F5344CB8AC3E}">
        <p14:creationId xmlns:p14="http://schemas.microsoft.com/office/powerpoint/2010/main" val="18526753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3E4365-6968-4877-A584-9A8399F56EE8}"/>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31F87DED-2BD7-4A1A-995C-80A4A57BFA62}"/>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B팀: 선택기의 크기보다 후보의 다양성이 중요해졌다</a:t>
            </a:r>
          </a:p>
        </p:txBody>
      </p:sp>
      <p:graphicFrame>
        <p:nvGraphicFramePr>
          <p:cNvPr id="3" name="">
            <a:extLst xmlns:a="http://schemas.openxmlformats.org/drawingml/2006/main">
              <a:ext uri="{FF2B5EF4-FFF2-40B4-BE49-F238E27FC236}">
                <a16:creationId xmlns:a16="http://schemas.microsoft.com/office/drawing/2014/main" id="{BF42B1D0-8E20-4DBB-AFE0-C25E7D7A4A36}"/>
              </a:ext>
            </a:extLst>
          </p:cNvPr>
          <p:cNvGraphicFramePr/>
          <p:nvPr/>
        </p:nvGraphicFramePr>
        <p:xfrm>
          <a:off xmlns:a="http://schemas.openxmlformats.org/drawingml/2006/main" x="685800" y="1619250"/>
          <a:ext xmlns:a="http://schemas.openxmlformats.org/drawingml/2006/main" cx="10820400" cy="3257550"/>
        </p:xfrm>
        <a:graphic xmlns:a="http://schemas.openxmlformats.org/drawingml/2006/main">
          <a:graphicData uri="http://schemas.openxmlformats.org/drawingml/2006/table">
            <a:tbl>
              <a:tblPr/>
              <a:tblGrid>
                <a:gridCol w="2286000"/>
                <a:gridCol w="3486150"/>
                <a:gridCol w="2533650"/>
                <a:gridCol w="2514600"/>
              </a:tblGrid>
              <a:tr h="651510">
                <a:tc>
                  <a:txBody>
                    <a:bodyPr/>
                    <a:lstStyle/>
                    <a:p>
                      <a:r>
                        <a:rPr sz="1800" b="1">
                          <a:solidFill>
                            <a:srgbClr val="FFFFFF"/>
                          </a:solidFill>
                          <a:latin typeface="Pretendard"/>
                          <a:ea typeface="Pretendard"/>
                          <a:cs typeface="Pretendard"/>
                        </a:rPr>
                        <a:t>후보 실행 수</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후보 최선일 때 남는 오류</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OOF 글자 정확도</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Public F1</a:t>
                      </a:r>
                    </a:p>
                  </a:txBody>
                  <a:tcPr marL="133350" marR="133350" marT="95250" marB="95250" anchor="ctr">
                    <a:solidFill>
                      <a:srgbClr val="1B2333"/>
                    </a:solidFill>
                  </a:tcPr>
                </a:tc>
              </a:tr>
              <a:tr h="651510">
                <a:tc>
                  <a:txBody>
                    <a:bodyPr/>
                    <a:lstStyle/>
                    <a:p>
                      <a:r>
                        <a:rPr sz="1800" b="0">
                          <a:solidFill>
                            <a:srgbClr val="1B2333"/>
                          </a:solidFill>
                          <a:latin typeface="Pretendard"/>
                          <a:ea typeface="Pretendard"/>
                          <a:cs typeface="Pretendard"/>
                        </a:rPr>
                        <a:t>4개</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7,540글자</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0.98628</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0.98481</a:t>
                      </a:r>
                    </a:p>
                  </a:txBody>
                  <a:tcPr marL="133350" marR="133350" marT="95250" marB="95250" anchor="ctr">
                    <a:solidFill>
                      <a:srgbClr val="F4F6F9"/>
                    </a:solidFill>
                  </a:tcPr>
                </a:tc>
              </a:tr>
              <a:tr h="651510">
                <a:tc>
                  <a:txBody>
                    <a:bodyPr/>
                    <a:lstStyle/>
                    <a:p>
                      <a:r>
                        <a:rPr sz="1800" b="0">
                          <a:solidFill>
                            <a:srgbClr val="1B2333"/>
                          </a:solidFill>
                          <a:latin typeface="Pretendard"/>
                          <a:ea typeface="Pretendard"/>
                          <a:cs typeface="Pretendard"/>
                        </a:rPr>
                        <a:t>7개</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6,708글자</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0.98948</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0.98704</a:t>
                      </a:r>
                    </a:p>
                  </a:txBody>
                  <a:tcPr marL="133350" marR="133350" marT="95250" marB="95250" anchor="ctr">
                    <a:solidFill>
                      <a:srgbClr val="FFFFFF"/>
                    </a:solidFill>
                  </a:tcPr>
                </a:tc>
              </a:tr>
              <a:tr h="651510">
                <a:tc>
                  <a:txBody>
                    <a:bodyPr/>
                    <a:lstStyle/>
                    <a:p>
                      <a:r>
                        <a:rPr sz="1800" b="0">
                          <a:solidFill>
                            <a:srgbClr val="1B2333"/>
                          </a:solidFill>
                          <a:latin typeface="Pretendard"/>
                          <a:ea typeface="Pretendard"/>
                          <a:cs typeface="Pretendard"/>
                        </a:rPr>
                        <a:t>8개</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5,662글자</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0.99108</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0.98887</a:t>
                      </a:r>
                    </a:p>
                  </a:txBody>
                  <a:tcPr marL="133350" marR="133350" marT="95250" marB="95250" anchor="ctr">
                    <a:solidFill>
                      <a:srgbClr val="F4F6F9"/>
                    </a:solidFill>
                  </a:tcPr>
                </a:tc>
              </a:tr>
              <a:tr h="651510">
                <a:tc>
                  <a:txBody>
                    <a:bodyPr/>
                    <a:lstStyle/>
                    <a:p>
                      <a:r>
                        <a:rPr sz="1800" b="0">
                          <a:solidFill>
                            <a:srgbClr val="1B2333"/>
                          </a:solidFill>
                          <a:latin typeface="Pretendard"/>
                          <a:ea typeface="Pretendard"/>
                          <a:cs typeface="Pretendard"/>
                        </a:rPr>
                        <a:t>9개</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5,441글자</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0.99146</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0.98908</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6667DF9-A256-4D7B-96B3-1933AD11F9F6}"/>
              </a:ext>
            </a:extLst>
          </p:cNvPr>
          <p:cNvSpPr>
            <a:spLocks xmlns:a="http://schemas.openxmlformats.org/drawingml/2006/main" noGrp="1"/>
          </p:cNvSpPr>
          <p:nvPr/>
        </p:nvSpPr>
        <p:spPr>
          <a:xfrm xmlns:a="http://schemas.openxmlformats.org/drawingml/2006/main">
            <a:off x="685800" y="50863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추가 실행의 단독 정확도는 0.979~0.983으로 더 낮아도 도움이 됐다.</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언어 모델 1.3b를 5.8b로 키운 개선은 OOF +0.00006에 그쳤다.</a:t>
            </a:r>
          </a:p>
        </p:txBody>
      </p:sp>
      <p:sp>
        <p:nvSpPr>
          <p:cNvPr id="5" name="">
            <a:extLst xmlns:a="http://schemas.openxmlformats.org/drawingml/2006/main">
              <a:ext uri="{FF2B5EF4-FFF2-40B4-BE49-F238E27FC236}">
                <a16:creationId xmlns:a16="http://schemas.microsoft.com/office/drawing/2014/main" id="{AE4F075A-8D99-499F-8405-21F0668C806C}"/>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63EB"/>
                </a:solidFill>
                <a:latin typeface="Pretendard"/>
                <a:ea typeface="Pretendard"/>
                <a:cs typeface="Pretendard"/>
              </a:defRPr>
            </a:defPPr>
          </a:lstStyle>
          <a:p xmlns:a="http://schemas.openxmlformats.org/drawingml/2006/main">
            <a:pPr>
              <a:defRPr sz="1950" b="1">
                <a:solidFill>
                  <a:srgbClr val="2563EB"/>
                </a:solidFill>
                <a:latin typeface="Pretendard"/>
                <a:ea typeface="Pretendard"/>
                <a:cs typeface="Pretendard"/>
              </a:defRPr>
            </a:pPr>
            <a:r>
              <a:rPr sz="1950" b="1">
                <a:solidFill>
                  <a:srgbClr val="2563EB"/>
                </a:solidFill>
                <a:latin typeface="Pretendard"/>
                <a:ea typeface="Pretendard"/>
                <a:cs typeface="Pretendard"/>
              </a:rPr>
              <a:t>다른 곳에서 맞히는 모델이 정답 후보를 더 많이 제공했다</a:t>
            </a:r>
          </a:p>
        </p:txBody>
      </p:sp>
      <p:sp>
        <p:nvSpPr>
          <p:cNvPr id="6" name="">
            <a:extLst xmlns:a="http://schemas.openxmlformats.org/drawingml/2006/main">
              <a:ext uri="{FF2B5EF4-FFF2-40B4-BE49-F238E27FC236}">
                <a16:creationId xmlns:a16="http://schemas.microsoft.com/office/drawing/2014/main" id="{6D6EE7BB-EBEC-4293-831B-9ABF389D4BAB}"/>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16</a:t>
            </a:r>
          </a:p>
        </p:txBody>
      </p:sp>
    </p:spTree>
    <p:extLst>
      <p:ext uri="{BB962C8B-B14F-4D97-AF65-F5344CB8AC3E}">
        <p14:creationId xmlns:p14="http://schemas.microsoft.com/office/powerpoint/2010/main" val="36205888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2E7B2B-C94E-4BD9-B6EC-D1B9D0041AB7}"/>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4A11F05A-80BA-46B9-8BFA-14183FE89167}"/>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두 전략의 차이: 글자 교정과 단어 후보 선택</a:t>
            </a:r>
          </a:p>
        </p:txBody>
      </p:sp>
      <p:graphicFrame>
        <p:nvGraphicFramePr>
          <p:cNvPr id="3" name="">
            <a:extLst xmlns:a="http://schemas.openxmlformats.org/drawingml/2006/main">
              <a:ext uri="{FF2B5EF4-FFF2-40B4-BE49-F238E27FC236}">
                <a16:creationId xmlns:a16="http://schemas.microsoft.com/office/drawing/2014/main" id="{FFE044AF-A130-4E51-B19E-D515EB773F8A}"/>
              </a:ext>
            </a:extLst>
          </p:cNvPr>
          <p:cNvGraphicFramePr/>
          <p:nvPr/>
        </p:nvGraphicFramePr>
        <p:xfrm>
          <a:off xmlns:a="http://schemas.openxmlformats.org/drawingml/2006/main" x="685800" y="1619250"/>
          <a:ext xmlns:a="http://schemas.openxmlformats.org/drawingml/2006/main" cx="10820400" cy="2743200"/>
        </p:xfrm>
        <a:graphic xmlns:a="http://schemas.openxmlformats.org/drawingml/2006/main">
          <a:graphicData uri="http://schemas.openxmlformats.org/drawingml/2006/table">
            <a:tbl>
              <a:tblPr/>
              <a:tblGrid>
                <a:gridCol w="2667000"/>
                <a:gridCol w="4076700"/>
                <a:gridCol w="4076700"/>
              </a:tblGrid>
              <a:tr h="685800">
                <a:tc>
                  <a:txBody>
                    <a:bodyPr/>
                    <a:lstStyle/>
                    <a:p>
                      <a:r>
                        <a:rPr sz="1800" b="1">
                          <a:solidFill>
                            <a:srgbClr val="FFFFFF"/>
                          </a:solidFill>
                          <a:latin typeface="Pretendard"/>
                          <a:ea typeface="Pretendard"/>
                          <a:cs typeface="Pretendard"/>
                        </a:rPr>
                        <a:t>비교 기준</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A팀의 반복 교정</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B팀의 후보 선택</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마지막 판단</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현재 복원문에서</a:t>
                      </a:r>
                    </a:p>
                    <a:p>
                      <a:r>
                        <a:rPr sz="1800" b="0">
                          <a:solidFill>
                            <a:srgbClr val="1B2333"/>
                          </a:solidFill>
                          <a:latin typeface="Pretendard"/>
                          <a:ea typeface="Pretendard"/>
                          <a:cs typeface="Pretendard"/>
                        </a:rPr>
                        <a:t>어느 글자를 수정할지 결정</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여러 실행이 낸 후보 중</a:t>
                      </a:r>
                    </a:p>
                    <a:p>
                      <a:r>
                        <a:rPr sz="1800" b="0">
                          <a:solidFill>
                            <a:srgbClr val="1B2333"/>
                          </a:solidFill>
                          <a:latin typeface="Pretendard"/>
                          <a:ea typeface="Pretendard"/>
                          <a:cs typeface="Pretendard"/>
                        </a:rPr>
                        <a:t>어느 단어를 선택할지 결정</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주요 근거</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복원문 문맥과 원문 자모,</a:t>
                      </a:r>
                    </a:p>
                    <a:p>
                      <a:r>
                        <a:rPr sz="1800" b="0">
                          <a:solidFill>
                            <a:srgbClr val="1B2333"/>
                          </a:solidFill>
                          <a:latin typeface="Pretendard"/>
                          <a:ea typeface="Pretendard"/>
                          <a:cs typeface="Pretendard"/>
                        </a:rPr>
                        <a:t>현재 글자를 유지하는 편향</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언어 모델의 문맥 점수,</a:t>
                      </a:r>
                    </a:p>
                    <a:p>
                      <a:r>
                        <a:rPr sz="1800" b="0">
                          <a:solidFill>
                            <a:srgbClr val="1B2333"/>
                          </a:solidFill>
                          <a:latin typeface="Pretendard"/>
                          <a:ea typeface="Pretendard"/>
                          <a:cs typeface="Pretendard"/>
                        </a:rPr>
                        <a:t>사전 정보와 실행 정보</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남는 한계</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수정이 새 오류를 만들 수 있어</a:t>
                      </a:r>
                    </a:p>
                    <a:p>
                      <a:r>
                        <a:rPr sz="1800" b="0">
                          <a:solidFill>
                            <a:srgbClr val="1B2333"/>
                          </a:solidFill>
                          <a:latin typeface="Pretendard"/>
                          <a:ea typeface="Pretendard"/>
                          <a:cs typeface="Pretendard"/>
                        </a:rPr>
                        <a:t>강도와 반복 횟수 검증 필요</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모든 실행이 같은 오답이면</a:t>
                      </a:r>
                    </a:p>
                    <a:p>
                      <a:r>
                        <a:rPr sz="1800" b="0">
                          <a:solidFill>
                            <a:srgbClr val="1B2333"/>
                          </a:solidFill>
                          <a:latin typeface="Pretendard"/>
                          <a:ea typeface="Pretendard"/>
                          <a:cs typeface="Pretendard"/>
                        </a:rPr>
                        <a:t>정답 후보 자체가 없음</a:t>
                      </a:r>
                    </a:p>
                  </a:txBody>
                  <a:tcPr marL="133350" marR="133350" marT="95250" marB="95250" anchor="ctr">
                    <a:solidFill>
                      <a:srgbClr val="F4F6F9"/>
                    </a:solidFill>
                  </a:tcPr>
                </a:tc>
              </a:tr>
            </a:tbl>
          </a:graphicData>
        </a:graphic>
      </p:graphicFrame>
      <p:sp>
        <p:nvSpPr>
          <p:cNvPr id="4" name="">
            <a:extLst xmlns:a="http://schemas.openxmlformats.org/drawingml/2006/main">
              <a:ext uri="{FF2B5EF4-FFF2-40B4-BE49-F238E27FC236}">
                <a16:creationId xmlns:a16="http://schemas.microsoft.com/office/drawing/2014/main" id="{16F5D290-6DAD-4934-83EF-262A41DD981E}"/>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A팀은 수정의 신뢰도를, B팀은 정답 후보의 확보를 중심으로 개선했다</a:t>
            </a:r>
          </a:p>
        </p:txBody>
      </p:sp>
      <p:sp>
        <p:nvSpPr>
          <p:cNvPr id="5" name="">
            <a:extLst xmlns:a="http://schemas.openxmlformats.org/drawingml/2006/main">
              <a:ext uri="{FF2B5EF4-FFF2-40B4-BE49-F238E27FC236}">
                <a16:creationId xmlns:a16="http://schemas.microsoft.com/office/drawing/2014/main" id="{869DA890-3211-43AE-9B60-73F4C9FDFDB1}"/>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17</a:t>
            </a:r>
          </a:p>
        </p:txBody>
      </p:sp>
    </p:spTree>
    <p:extLst>
      <p:ext uri="{BB962C8B-B14F-4D97-AF65-F5344CB8AC3E}">
        <p14:creationId xmlns:p14="http://schemas.microsoft.com/office/powerpoint/2010/main" val="31104972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59DBC7-AD6C-4E7A-959D-4DB8A97280EF}"/>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17A1D29D-5521-49AE-8ADC-EE25F821BEBC}"/>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A팀 성능: 2단계 교정이 가장 큰 도약</a:t>
            </a:r>
          </a:p>
        </p:txBody>
      </p:sp>
      <p:graphicFrame>
        <p:nvGraphicFramePr>
          <p:cNvPr id="3" name="Chart">
            <a:extLst xmlns:a="http://schemas.openxmlformats.org/drawingml/2006/main">
              <a:ext uri="{FF2B5EF4-FFF2-40B4-BE49-F238E27FC236}">
                <a16:creationId xmlns:a16="http://schemas.microsoft.com/office/drawing/2014/main" id="{F5177800-4300-407A-BFFF-8928EAD3AD90}"/>
              </a:ext>
            </a:extLst>
          </p:cNvPr>
          <p:cNvGraphicFramePr/>
          <p:nvPr/>
        </p:nvGraphicFramePr>
        <p:xfrm>
          <a:off xmlns:a="http://schemas.openxmlformats.org/drawingml/2006/main" x="685800" y="1657350"/>
          <a:ext xmlns:a="http://schemas.openxmlformats.org/drawingml/2006/main" cx="10820400" cy="3238500"/>
        </p:xfrm>
        <a:graphic xmlns:a="http://schemas.openxmlformats.org/drawingml/2006/main">
          <a:graphicData uri="http://schemas.openxmlformats.org/drawingml/2006/chart">
            <c:chart xmlns:r="http://schemas.openxmlformats.org/officeDocument/2006/relationships" xmlns:c="http://schemas.openxmlformats.org/drawingml/2006/chart" r:id="R4bb7cfe51e96473e"/>
          </a:graphicData>
        </a:graphic>
      </p:graphicFrame>
      <p:sp>
        <p:nvSpPr>
          <p:cNvPr id="4" name="">
            <a:extLst xmlns:a="http://schemas.openxmlformats.org/drawingml/2006/main">
              <a:ext uri="{FF2B5EF4-FFF2-40B4-BE49-F238E27FC236}">
                <a16:creationId xmlns:a16="http://schemas.microsoft.com/office/drawing/2014/main" id="{D1BFFABB-85E4-468E-8783-715EDEECD77D}"/>
              </a:ext>
            </a:extLst>
          </p:cNvPr>
          <p:cNvSpPr>
            <a:spLocks xmlns:a="http://schemas.openxmlformats.org/drawingml/2006/main" noGrp="1"/>
          </p:cNvSpPr>
          <p:nvPr/>
        </p:nvSpPr>
        <p:spPr>
          <a:xfrm xmlns:a="http://schemas.openxmlformats.org/drawingml/2006/main">
            <a:off x="685800" y="51625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리더보드 F1. 0.980에서 0.98473으로 오른 구간은 2단계 교정 도입</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원자료는 최종값을 0.989로 표시</a:t>
            </a:r>
          </a:p>
        </p:txBody>
      </p:sp>
      <p:sp>
        <p:nvSpPr>
          <p:cNvPr id="5" name="">
            <a:extLst xmlns:a="http://schemas.openxmlformats.org/drawingml/2006/main">
              <a:ext uri="{FF2B5EF4-FFF2-40B4-BE49-F238E27FC236}">
                <a16:creationId xmlns:a16="http://schemas.microsoft.com/office/drawing/2014/main" id="{C3C5E11D-6533-41FD-8EAE-3522763EDF35}"/>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A팀은 복원문을 다시 읽는 구조로 주요 오류를 줄였다</a:t>
            </a:r>
          </a:p>
        </p:txBody>
      </p:sp>
      <p:sp>
        <p:nvSpPr>
          <p:cNvPr id="6" name="">
            <a:extLst xmlns:a="http://schemas.openxmlformats.org/drawingml/2006/main">
              <a:ext uri="{FF2B5EF4-FFF2-40B4-BE49-F238E27FC236}">
                <a16:creationId xmlns:a16="http://schemas.microsoft.com/office/drawing/2014/main" id="{C96175A7-005F-4169-A083-BD888EA1E44F}"/>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18</a:t>
            </a:r>
          </a:p>
        </p:txBody>
      </p:sp>
    </p:spTree>
    <p:extLst>
      <p:ext uri="{BB962C8B-B14F-4D97-AF65-F5344CB8AC3E}">
        <p14:creationId xmlns:p14="http://schemas.microsoft.com/office/powerpoint/2010/main" val="142320144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8F23C5-DE82-46FC-A51E-FB91A1288E34}"/>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4C857F72-E52D-437E-8365-52821ED4955F}"/>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B팀 성능: 후보를 다양하게 만든 뒤 다시 도약</a:t>
            </a:r>
          </a:p>
        </p:txBody>
      </p:sp>
      <p:graphicFrame>
        <p:nvGraphicFramePr>
          <p:cNvPr id="3" name="Chart">
            <a:extLst xmlns:a="http://schemas.openxmlformats.org/drawingml/2006/main">
              <a:ext uri="{FF2B5EF4-FFF2-40B4-BE49-F238E27FC236}">
                <a16:creationId xmlns:a16="http://schemas.microsoft.com/office/drawing/2014/main" id="{11976A84-7E41-4D15-9DD9-07BA995428CD}"/>
              </a:ext>
            </a:extLst>
          </p:cNvPr>
          <p:cNvGraphicFramePr/>
          <p:nvPr/>
        </p:nvGraphicFramePr>
        <p:xfrm>
          <a:off xmlns:a="http://schemas.openxmlformats.org/drawingml/2006/main" x="685800" y="1657350"/>
          <a:ext xmlns:a="http://schemas.openxmlformats.org/drawingml/2006/main" cx="10820400" cy="3238500"/>
        </p:xfrm>
        <a:graphic xmlns:a="http://schemas.openxmlformats.org/drawingml/2006/main">
          <a:graphicData uri="http://schemas.openxmlformats.org/drawingml/2006/chart">
            <c:chart xmlns:r="http://schemas.openxmlformats.org/officeDocument/2006/relationships" xmlns:c="http://schemas.openxmlformats.org/drawingml/2006/chart" r:id="Rad11e34683f44d89"/>
          </a:graphicData>
        </a:graphic>
      </p:graphicFrame>
      <p:sp>
        <p:nvSpPr>
          <p:cNvPr id="4" name="">
            <a:extLst xmlns:a="http://schemas.openxmlformats.org/drawingml/2006/main">
              <a:ext uri="{FF2B5EF4-FFF2-40B4-BE49-F238E27FC236}">
                <a16:creationId xmlns:a16="http://schemas.microsoft.com/office/drawing/2014/main" id="{B91C1896-5460-40D8-B0A6-95ED2ECECBA5}"/>
              </a:ext>
            </a:extLst>
          </p:cNvPr>
          <p:cNvSpPr>
            <a:spLocks xmlns:a="http://schemas.openxmlformats.org/drawingml/2006/main" noGrp="1"/>
          </p:cNvSpPr>
          <p:nvPr/>
        </p:nvSpPr>
        <p:spPr>
          <a:xfrm xmlns:a="http://schemas.openxmlformats.org/drawingml/2006/main">
            <a:off x="685800" y="51625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078"/>
                </a:solidFill>
                <a:latin typeface="Pretendard"/>
                <a:ea typeface="Pretendard"/>
                <a:cs typeface="Pretendard"/>
              </a:defRPr>
            </a:defPPr>
          </a:lstStyle>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Public F1. 후보 4개에서 9개로 확장한 구간: 0.98481에서 0.98908</a:t>
            </a:r>
          </a:p>
          <a:p xmlns:a="http://schemas.openxmlformats.org/drawingml/2006/main">
            <a:pPr>
              <a:defRPr sz="1875" b="0">
                <a:solidFill>
                  <a:srgbClr val="526078"/>
                </a:solidFill>
                <a:latin typeface="Pretendard"/>
                <a:ea typeface="Pretendard"/>
                <a:cs typeface="Pretendard"/>
              </a:defRPr>
            </a:pPr>
            <a:r>
              <a:rPr sz="1875" b="0">
                <a:solidFill>
                  <a:srgbClr val="526078"/>
                </a:solidFill>
                <a:latin typeface="Pretendard"/>
                <a:ea typeface="Pretendard"/>
                <a:cs typeface="Pretendard"/>
              </a:rPr>
              <a:t>마감된 대회에서 진행한 연습 제출의 결과</a:t>
            </a:r>
          </a:p>
        </p:txBody>
      </p:sp>
      <p:sp>
        <p:nvSpPr>
          <p:cNvPr id="5" name="">
            <a:extLst xmlns:a="http://schemas.openxmlformats.org/drawingml/2006/main">
              <a:ext uri="{FF2B5EF4-FFF2-40B4-BE49-F238E27FC236}">
                <a16:creationId xmlns:a16="http://schemas.microsoft.com/office/drawing/2014/main" id="{6B057EB0-111E-4E22-AE81-0F9AD2B83B13}"/>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563EB"/>
                </a:solidFill>
                <a:latin typeface="Pretendard"/>
                <a:ea typeface="Pretendard"/>
                <a:cs typeface="Pretendard"/>
              </a:defRPr>
            </a:defPPr>
          </a:lstStyle>
          <a:p xmlns:a="http://schemas.openxmlformats.org/drawingml/2006/main">
            <a:pPr>
              <a:defRPr sz="1950" b="1">
                <a:solidFill>
                  <a:srgbClr val="2563EB"/>
                </a:solidFill>
                <a:latin typeface="Pretendard"/>
                <a:ea typeface="Pretendard"/>
                <a:cs typeface="Pretendard"/>
              </a:defRPr>
            </a:pPr>
            <a:r>
              <a:rPr sz="1950" b="1">
                <a:solidFill>
                  <a:srgbClr val="2563EB"/>
                </a:solidFill>
                <a:latin typeface="Pretendard"/>
                <a:ea typeface="Pretendard"/>
                <a:cs typeface="Pretendard"/>
              </a:rPr>
              <a:t>B팀은 복원 모델 개선 이후 후보 선택과 다양성으로 남은 오류를 줄였다</a:t>
            </a:r>
          </a:p>
        </p:txBody>
      </p:sp>
      <p:sp>
        <p:nvSpPr>
          <p:cNvPr id="6" name="">
            <a:extLst xmlns:a="http://schemas.openxmlformats.org/drawingml/2006/main">
              <a:ext uri="{FF2B5EF4-FFF2-40B4-BE49-F238E27FC236}">
                <a16:creationId xmlns:a16="http://schemas.microsoft.com/office/drawing/2014/main" id="{43BF4513-1675-4380-9073-A4E6E7419AE6}"/>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19</a:t>
            </a:r>
          </a:p>
        </p:txBody>
      </p:sp>
    </p:spTree>
    <p:extLst>
      <p:ext uri="{BB962C8B-B14F-4D97-AF65-F5344CB8AC3E}">
        <p14:creationId xmlns:p14="http://schemas.microsoft.com/office/powerpoint/2010/main" val="21463740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A709C0-E088-4083-A16C-AB5560B0188C}"/>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9C3FFD47-A27A-4F63-B0E8-A3721117F065}"/>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성능 개선 방법을 목적별로 비교</a:t>
            </a:r>
          </a:p>
        </p:txBody>
      </p:sp>
      <p:graphicFrame>
        <p:nvGraphicFramePr>
          <p:cNvPr id="3" name="">
            <a:extLst xmlns:a="http://schemas.openxmlformats.org/drawingml/2006/main">
              <a:ext uri="{FF2B5EF4-FFF2-40B4-BE49-F238E27FC236}">
                <a16:creationId xmlns:a16="http://schemas.microsoft.com/office/drawing/2014/main" id="{B8C6CE60-E9F2-458A-85F1-D9AEFCEA8C0F}"/>
              </a:ext>
            </a:extLst>
          </p:cNvPr>
          <p:cNvGraphicFramePr/>
          <p:nvPr/>
        </p:nvGraphicFramePr>
        <p:xfrm>
          <a:off xmlns:a="http://schemas.openxmlformats.org/drawingml/2006/main" x="685800" y="1619250"/>
          <a:ext xmlns:a="http://schemas.openxmlformats.org/drawingml/2006/main" cx="10820400" cy="3429000"/>
        </p:xfrm>
        <a:graphic xmlns:a="http://schemas.openxmlformats.org/drawingml/2006/main">
          <a:graphicData uri="http://schemas.openxmlformats.org/drawingml/2006/table">
            <a:tbl>
              <a:tblPr/>
              <a:tblGrid>
                <a:gridCol w="2667000"/>
                <a:gridCol w="4076700"/>
                <a:gridCol w="4076700"/>
              </a:tblGrid>
              <a:tr h="685800">
                <a:tc>
                  <a:txBody>
                    <a:bodyPr/>
                    <a:lstStyle/>
                    <a:p>
                      <a:r>
                        <a:rPr sz="1800" b="1">
                          <a:solidFill>
                            <a:srgbClr val="FFFFFF"/>
                          </a:solidFill>
                          <a:latin typeface="Pretendard"/>
                          <a:ea typeface="Pretendard"/>
                          <a:cs typeface="Pretendard"/>
                        </a:rPr>
                        <a:t>목적</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A팀</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B팀</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새 변형과 긴 문장 대응</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부분 복원, 사전 치환,</a:t>
                      </a:r>
                    </a:p>
                    <a:p>
                      <a:r>
                        <a:rPr sz="1800" b="0">
                          <a:solidFill>
                            <a:srgbClr val="1B2333"/>
                          </a:solidFill>
                          <a:latin typeface="Pretendard"/>
                          <a:ea typeface="Pretendard"/>
                          <a:cs typeface="Pretendard"/>
                        </a:rPr>
                        <a:t>재난독화, 문장 이어 붙이기</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재난독화 사본 확대,</a:t>
                      </a:r>
                    </a:p>
                    <a:p>
                      <a:r>
                        <a:rPr sz="1800" b="0">
                          <a:solidFill>
                            <a:srgbClr val="1B2333"/>
                          </a:solidFill>
                          <a:latin typeface="Pretendard"/>
                          <a:ea typeface="Pretendard"/>
                          <a:cs typeface="Pretendard"/>
                        </a:rPr>
                        <a:t>긴 학습 조각, 겹침 추론</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단어 지식 활용</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KcELECTRA 교정 모델</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큰 단어 모델과 글자 모델 결합</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남은 오류 줄이기</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복사 편향, 손상 학습,</a:t>
                      </a:r>
                    </a:p>
                    <a:p>
                      <a:r>
                        <a:rPr sz="1800" b="0">
                          <a:solidFill>
                            <a:srgbClr val="1B2333"/>
                          </a:solidFill>
                          <a:latin typeface="Pretendard"/>
                          <a:ea typeface="Pretendard"/>
                          <a:cs typeface="Pretendard"/>
                        </a:rPr>
                        <a:t>반복 교정, 앙상블</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제약 디코딩, 후보 다시 선택,</a:t>
                      </a:r>
                    </a:p>
                    <a:p>
                      <a:r>
                        <a:rPr sz="1800" b="0">
                          <a:solidFill>
                            <a:srgbClr val="1B2333"/>
                          </a:solidFill>
                          <a:latin typeface="Pretendard"/>
                          <a:ea typeface="Pretendard"/>
                          <a:cs typeface="Pretendard"/>
                        </a:rPr>
                        <a:t>다른 계열의 실행 추가</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과대평가 방지</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OOF 예측과 원문별 분리,</a:t>
                      </a:r>
                    </a:p>
                    <a:p>
                      <a:r>
                        <a:rPr sz="1800" b="0">
                          <a:solidFill>
                            <a:srgbClr val="1B2333"/>
                          </a:solidFill>
                          <a:latin typeface="Pretendard"/>
                          <a:ea typeface="Pretendard"/>
                          <a:cs typeface="Pretendard"/>
                        </a:rPr>
                        <a:t>검증으로 margin·회차 선택</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OOF 힌트와 점수 비중,</a:t>
                      </a:r>
                    </a:p>
                    <a:p>
                      <a:r>
                        <a:rPr sz="1800" b="0">
                          <a:solidFill>
                            <a:srgbClr val="1B2333"/>
                          </a:solidFill>
                          <a:latin typeface="Pretendard"/>
                          <a:ea typeface="Pretendard"/>
                          <a:cs typeface="Pretendard"/>
                        </a:rPr>
                        <a:t>보지 않은 문장에서 평가</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6F6A145-9F92-4BB4-8BBC-D6AD7FA44002}"/>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공통점은 오류 분석, 차이는 마지막 오류를 줄이는 방식</a:t>
            </a:r>
          </a:p>
        </p:txBody>
      </p:sp>
      <p:sp>
        <p:nvSpPr>
          <p:cNvPr id="5" name="">
            <a:extLst xmlns:a="http://schemas.openxmlformats.org/drawingml/2006/main">
              <a:ext uri="{FF2B5EF4-FFF2-40B4-BE49-F238E27FC236}">
                <a16:creationId xmlns:a16="http://schemas.microsoft.com/office/drawing/2014/main" id="{D70F76DC-57D5-4C8C-A5A8-C6418D43F907}"/>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20</a:t>
            </a:r>
          </a:p>
        </p:txBody>
      </p:sp>
    </p:spTree>
    <p:extLst>
      <p:ext uri="{BB962C8B-B14F-4D97-AF65-F5344CB8AC3E}">
        <p14:creationId xmlns:p14="http://schemas.microsoft.com/office/powerpoint/2010/main" val="163073294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60F98B-317F-48FA-9198-57077DA9C226}"/>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6126A51A-0DE2-4E5C-9818-7841A06B44DE}"/>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시도했지만 효과가 작거나 손해였던 방법</a:t>
            </a:r>
          </a:p>
        </p:txBody>
      </p:sp>
      <p:graphicFrame>
        <p:nvGraphicFramePr>
          <p:cNvPr id="3" name="">
            <a:extLst xmlns:a="http://schemas.openxmlformats.org/drawingml/2006/main">
              <a:ext uri="{FF2B5EF4-FFF2-40B4-BE49-F238E27FC236}">
                <a16:creationId xmlns:a16="http://schemas.microsoft.com/office/drawing/2014/main" id="{67325433-6998-4B4A-8565-76D7AA372C5C}"/>
              </a:ext>
            </a:extLst>
          </p:cNvPr>
          <p:cNvGraphicFramePr/>
          <p:nvPr/>
        </p:nvGraphicFramePr>
        <p:xfrm>
          <a:off xmlns:a="http://schemas.openxmlformats.org/drawingml/2006/main" x="685800" y="1619250"/>
          <a:ext xmlns:a="http://schemas.openxmlformats.org/drawingml/2006/main" cx="10820400" cy="3429000"/>
        </p:xfrm>
        <a:graphic xmlns:a="http://schemas.openxmlformats.org/drawingml/2006/main">
          <a:graphicData uri="http://schemas.openxmlformats.org/drawingml/2006/table">
            <a:tbl>
              <a:tblPr/>
              <a:tblGrid>
                <a:gridCol w="3143250"/>
                <a:gridCol w="3352800"/>
                <a:gridCol w="4324350"/>
              </a:tblGrid>
              <a:tr h="685800">
                <a:tc>
                  <a:txBody>
                    <a:bodyPr/>
                    <a:lstStyle/>
                    <a:p>
                      <a:r>
                        <a:rPr sz="1800" b="1">
                          <a:solidFill>
                            <a:srgbClr val="FFFFFF"/>
                          </a:solidFill>
                          <a:latin typeface="Pretendard"/>
                          <a:ea typeface="Pretendard"/>
                          <a:cs typeface="Pretendard"/>
                        </a:rPr>
                        <a:t>시도</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관찰한 결과</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해석</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A팀: 사전학습 모델만 사용</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검증 0.9807 &lt; 0.9817</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낯선 입력을 읽을 수 있게</a:t>
                      </a:r>
                    </a:p>
                    <a:p>
                      <a:r>
                        <a:rPr sz="1800" b="0">
                          <a:solidFill>
                            <a:srgbClr val="1B2333"/>
                          </a:solidFill>
                          <a:latin typeface="Pretendard"/>
                          <a:ea typeface="Pretendard"/>
                          <a:cs typeface="Pretendard"/>
                        </a:rPr>
                        <a:t>만드는 과정이 필요</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B팀: 같은 계열 글자 다수결</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OOF 0.98265에서</a:t>
                      </a:r>
                    </a:p>
                    <a:p>
                      <a:r>
                        <a:rPr sz="1800" b="0">
                          <a:solidFill>
                            <a:srgbClr val="1B2333"/>
                          </a:solidFill>
                          <a:latin typeface="Pretendard"/>
                          <a:ea typeface="Pretendard"/>
                          <a:cs typeface="Pretendard"/>
                        </a:rPr>
                        <a:t>0.98265~0.98268</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비슷한 오류를 합쳐도</a:t>
                      </a:r>
                    </a:p>
                    <a:p>
                      <a:r>
                        <a:rPr sz="1800" b="0">
                          <a:solidFill>
                            <a:srgbClr val="1B2333"/>
                          </a:solidFill>
                          <a:latin typeface="Pretendard"/>
                          <a:ea typeface="Pretendard"/>
                          <a:cs typeface="Pretendard"/>
                        </a:rPr>
                        <a:t>개선 여지가 작음</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B팀: 사전으로 강제 교정</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고친 단어보다</a:t>
                      </a:r>
                    </a:p>
                    <a:p>
                      <a:r>
                        <a:rPr sz="1800" b="0">
                          <a:solidFill>
                            <a:srgbClr val="1B2333"/>
                          </a:solidFill>
                          <a:latin typeface="Pretendard"/>
                          <a:ea typeface="Pretendard"/>
                          <a:cs typeface="Pretendard"/>
                        </a:rPr>
                        <a:t>망친 단어가 많았음</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익숙한 단어라고 해서</a:t>
                      </a:r>
                    </a:p>
                    <a:p>
                      <a:r>
                        <a:rPr sz="1800" b="0">
                          <a:solidFill>
                            <a:srgbClr val="1B2333"/>
                          </a:solidFill>
                          <a:latin typeface="Pretendard"/>
                          <a:ea typeface="Pretendard"/>
                          <a:cs typeface="Pretendard"/>
                        </a:rPr>
                        <a:t>문맥의 정답은 아님</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B팀: 추론 창 간격 96자</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0.9823에서 0.9822</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겹침을 늘리는 것만으로</a:t>
                      </a:r>
                    </a:p>
                    <a:p>
                      <a:r>
                        <a:rPr sz="1800" b="0">
                          <a:solidFill>
                            <a:srgbClr val="1B2333"/>
                          </a:solidFill>
                          <a:latin typeface="Pretendard"/>
                          <a:ea typeface="Pretendard"/>
                          <a:cs typeface="Pretendard"/>
                        </a:rPr>
                        <a:t>추가 개선을 보장하지 않음</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1AA9EC8-FC6C-4EEA-9963-03FB6FF030FC}"/>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더 큰 모델, 더 많은 반복, 더 많은 수정은 검증을 통과해야 한다</a:t>
            </a:r>
          </a:p>
        </p:txBody>
      </p:sp>
      <p:sp>
        <p:nvSpPr>
          <p:cNvPr id="5" name="">
            <a:extLst xmlns:a="http://schemas.openxmlformats.org/drawingml/2006/main">
              <a:ext uri="{FF2B5EF4-FFF2-40B4-BE49-F238E27FC236}">
                <a16:creationId xmlns:a16="http://schemas.microsoft.com/office/drawing/2014/main" id="{F7BA8753-6869-4533-BD7B-B8D4348377BC}"/>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21</a:t>
            </a:r>
          </a:p>
        </p:txBody>
      </p:sp>
    </p:spTree>
    <p:extLst>
      <p:ext uri="{BB962C8B-B14F-4D97-AF65-F5344CB8AC3E}">
        <p14:creationId xmlns:p14="http://schemas.microsoft.com/office/powerpoint/2010/main" val="81914709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1D647F4-B5F2-43A1-AEB1-3FD9E98755AC}"/>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A팀과 B팀의 문제 해결 비교</a:t>
            </a:r>
          </a:p>
        </p:txBody>
      </p:sp>
      <p:sp>
        <p:nvSpPr>
          <p:cNvPr id="2" name="">
            <a:extLst xmlns:a="http://schemas.openxmlformats.org/drawingml/2006/main">
              <a:ext uri="{FF2B5EF4-FFF2-40B4-BE49-F238E27FC236}">
                <a16:creationId xmlns:a16="http://schemas.microsoft.com/office/drawing/2014/main" id="{90CDF341-E6DB-49C8-BE16-39B72046795F}"/>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같은 문제에서 두 팀이 남긴 교훈</a:t>
            </a:r>
          </a:p>
        </p:txBody>
      </p:sp>
      <p:sp>
        <p:nvSpPr>
          <p:cNvPr id="3" name="">
            <a:extLst xmlns:a="http://schemas.openxmlformats.org/drawingml/2006/main">
              <a:ext uri="{FF2B5EF4-FFF2-40B4-BE49-F238E27FC236}">
                <a16:creationId xmlns:a16="http://schemas.microsoft.com/office/drawing/2014/main" id="{64A9BC42-0580-422C-B6B1-836702E4E01A}"/>
              </a:ext>
            </a:extLst>
          </p:cNvPr>
          <p:cNvSpPr>
            <a:spLocks xmlns:a="http://schemas.openxmlformats.org/drawingml/2006/main" noGrp="1"/>
          </p:cNvSpPr>
          <p:nvPr/>
        </p:nvSpPr>
        <p:spPr>
          <a:xfrm xmlns:a="http://schemas.openxmlformats.org/drawingml/2006/main">
            <a:off x="6858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C2410C"/>
                </a:solidFill>
                <a:latin typeface="Pretendard"/>
                <a:ea typeface="Pretendard"/>
                <a:cs typeface="Pretendard"/>
              </a:defRPr>
            </a:defPPr>
          </a:lstStyle>
          <a:p xmlns:a="http://schemas.openxmlformats.org/drawingml/2006/main">
            <a:pPr>
              <a:defRPr sz="2250" b="1">
                <a:solidFill>
                  <a:srgbClr val="C2410C"/>
                </a:solidFill>
                <a:latin typeface="Pretendard"/>
                <a:ea typeface="Pretendard"/>
                <a:cs typeface="Pretendard"/>
              </a:defRPr>
            </a:pPr>
            <a:r>
              <a:rPr sz="2250" b="1">
                <a:solidFill>
                  <a:srgbClr val="C2410C"/>
                </a:solidFill>
                <a:latin typeface="Pretendard"/>
                <a:ea typeface="Pretendard"/>
                <a:cs typeface="Pretendard"/>
              </a:rPr>
              <a:t>A팀: 수정의 정확성</a:t>
            </a:r>
          </a:p>
        </p:txBody>
      </p:sp>
      <p:sp>
        <p:nvSpPr>
          <p:cNvPr id="4" name="">
            <a:extLst xmlns:a="http://schemas.openxmlformats.org/drawingml/2006/main">
              <a:ext uri="{FF2B5EF4-FFF2-40B4-BE49-F238E27FC236}">
                <a16:creationId xmlns:a16="http://schemas.microsoft.com/office/drawing/2014/main" id="{C94679D0-6AD7-4A4B-A895-F88F8879A3BF}"/>
              </a:ext>
            </a:extLst>
          </p:cNvPr>
          <p:cNvSpPr>
            <a:spLocks xmlns:a="http://schemas.openxmlformats.org/drawingml/2006/main" noGrp="1"/>
          </p:cNvSpPr>
          <p:nvPr/>
        </p:nvSpPr>
        <p:spPr>
          <a:xfrm xmlns:a="http://schemas.openxmlformats.org/drawingml/2006/main">
            <a:off x="685800" y="2400300"/>
            <a:ext cx="5238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먼저 읽을 수 있는 문장을 복원</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진짜 실수로 교정을 학습</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맞던 글자를 유지하면서</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반복해서 남은 오류를 줄임</a:t>
            </a:r>
          </a:p>
        </p:txBody>
      </p:sp>
      <p:sp>
        <p:nvSpPr>
          <p:cNvPr id="5" name="">
            <a:extLst xmlns:a="http://schemas.openxmlformats.org/drawingml/2006/main">
              <a:ext uri="{FF2B5EF4-FFF2-40B4-BE49-F238E27FC236}">
                <a16:creationId xmlns:a16="http://schemas.microsoft.com/office/drawing/2014/main" id="{E17D93BA-E538-4181-A7C4-EDE3F6119870}"/>
              </a:ext>
            </a:extLst>
          </p:cNvPr>
          <p:cNvSpPr>
            <a:spLocks xmlns:a="http://schemas.openxmlformats.org/drawingml/2006/main" noGrp="1"/>
          </p:cNvSpPr>
          <p:nvPr/>
        </p:nvSpPr>
        <p:spPr>
          <a:xfrm xmlns:a="http://schemas.openxmlformats.org/drawingml/2006/main">
            <a:off x="6248400" y="17430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563EB"/>
                </a:solidFill>
                <a:latin typeface="Pretendard"/>
                <a:ea typeface="Pretendard"/>
                <a:cs typeface="Pretendard"/>
              </a:defRPr>
            </a:defPPr>
          </a:lstStyle>
          <a:p xmlns:a="http://schemas.openxmlformats.org/drawingml/2006/main">
            <a:pPr>
              <a:defRPr sz="2250" b="1">
                <a:solidFill>
                  <a:srgbClr val="2563EB"/>
                </a:solidFill>
                <a:latin typeface="Pretendard"/>
                <a:ea typeface="Pretendard"/>
                <a:cs typeface="Pretendard"/>
              </a:defRPr>
            </a:pPr>
            <a:r>
              <a:rPr sz="2250" b="1">
                <a:solidFill>
                  <a:srgbClr val="2563EB"/>
                </a:solidFill>
                <a:latin typeface="Pretendard"/>
                <a:ea typeface="Pretendard"/>
                <a:cs typeface="Pretendard"/>
              </a:rPr>
              <a:t>B팀: 후보의 다양성</a:t>
            </a:r>
          </a:p>
        </p:txBody>
      </p:sp>
      <p:sp>
        <p:nvSpPr>
          <p:cNvPr id="6" name="">
            <a:extLst xmlns:a="http://schemas.openxmlformats.org/drawingml/2006/main">
              <a:ext uri="{FF2B5EF4-FFF2-40B4-BE49-F238E27FC236}">
                <a16:creationId xmlns:a16="http://schemas.microsoft.com/office/drawing/2014/main" id="{969582B1-6631-4D79-B609-116D1B206EC0}"/>
              </a:ext>
            </a:extLst>
          </p:cNvPr>
          <p:cNvSpPr>
            <a:spLocks xmlns:a="http://schemas.openxmlformats.org/drawingml/2006/main" noGrp="1"/>
          </p:cNvSpPr>
          <p:nvPr/>
        </p:nvSpPr>
        <p:spPr>
          <a:xfrm xmlns:a="http://schemas.openxmlformats.org/drawingml/2006/main">
            <a:off x="6248400" y="2400300"/>
            <a:ext cx="5238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B2333"/>
                </a:solidFill>
                <a:latin typeface="Pretendard"/>
                <a:ea typeface="Pretendard"/>
                <a:cs typeface="Pretendard"/>
              </a:defRPr>
            </a:defPPr>
          </a:lstStyle>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글자와 단어 지식으로 복원</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모델들이 공유하는 오류를 확인</a:t>
            </a:r>
          </a:p>
          <a:p xmlns:a="http://schemas.openxmlformats.org/drawingml/2006/main">
            <a:r>
              <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다른 계열의 후보를 모아</a:t>
            </a:r>
          </a:p>
          <a:p xmlns:a="http://schemas.openxmlformats.org/drawingml/2006/main">
            <a:pPr>
              <a:defRPr sz="2100" b="0">
                <a:solidFill>
                  <a:srgbClr val="1B2333"/>
                </a:solidFill>
                <a:latin typeface="Pretendard"/>
                <a:ea typeface="Pretendard"/>
                <a:cs typeface="Pretendard"/>
              </a:defRPr>
            </a:pPr>
            <a:r>
              <a:rPr sz="2100" b="0">
                <a:solidFill>
                  <a:srgbClr val="1B2333"/>
                </a:solidFill>
                <a:latin typeface="Pretendard"/>
                <a:ea typeface="Pretendard"/>
                <a:cs typeface="Pretendard"/>
              </a:rPr>
              <a:t>문맥 점수로 다시 선택</a:t>
            </a:r>
          </a:p>
        </p:txBody>
      </p:sp>
      <p:sp>
        <p:nvSpPr>
          <p:cNvPr id="7" name="">
            <a:extLst xmlns:a="http://schemas.openxmlformats.org/drawingml/2006/main">
              <a:ext uri="{FF2B5EF4-FFF2-40B4-BE49-F238E27FC236}">
                <a16:creationId xmlns:a16="http://schemas.microsoft.com/office/drawing/2014/main" id="{017D994D-7465-4831-8EDC-759C50E6A859}"/>
              </a:ext>
            </a:extLst>
          </p:cNvPr>
          <p:cNvSpPr>
            <a:spLocks xmlns:a="http://schemas.openxmlformats.org/drawingml/2006/main" noGrp="1"/>
          </p:cNvSpPr>
          <p:nvPr/>
        </p:nvSpPr>
        <p:spPr>
          <a:xfrm xmlns:a="http://schemas.openxmlformats.org/drawingml/2006/main">
            <a:off x="685800" y="52768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078"/>
                </a:solidFill>
                <a:latin typeface="Pretendard"/>
                <a:ea typeface="Pretendard"/>
                <a:cs typeface="Pretendard"/>
              </a:defRPr>
            </a:defPPr>
          </a:lstStyle>
          <a:p xmlns:a="http://schemas.openxmlformats.org/drawingml/2006/main">
            <a:pPr>
              <a:defRPr sz="1800" b="0">
                <a:solidFill>
                  <a:srgbClr val="526078"/>
                </a:solidFill>
                <a:latin typeface="Pretendard"/>
                <a:ea typeface="Pretendard"/>
                <a:cs typeface="Pretendard"/>
              </a:defRPr>
            </a:pPr>
            <a:r>
              <a:rPr sz="1800" b="0">
                <a:solidFill>
                  <a:srgbClr val="526078"/>
                </a:solidFill>
                <a:latin typeface="Pretendard"/>
                <a:ea typeface="Pretendard"/>
                <a:cs typeface="Pretendard"/>
              </a:rPr>
              <a:t>A팀 리더보드 0.989 / B팀 Public 0.98908</a:t>
            </a:r>
          </a:p>
          <a:p xmlns:a="http://schemas.openxmlformats.org/drawingml/2006/main">
            <a:pPr>
              <a:defRPr sz="1800" b="0">
                <a:solidFill>
                  <a:srgbClr val="526078"/>
                </a:solidFill>
                <a:latin typeface="Pretendard"/>
                <a:ea typeface="Pretendard"/>
                <a:cs typeface="Pretendard"/>
              </a:defRPr>
            </a:pPr>
            <a:r>
              <a:rPr sz="1800" b="0">
                <a:solidFill>
                  <a:srgbClr val="526078"/>
                </a:solidFill>
                <a:latin typeface="Pretendard"/>
                <a:ea typeface="Pretendard"/>
                <a:cs typeface="Pretendard"/>
              </a:rPr>
              <a:t>표시 정밀도와 실험 조건이 달라 점수 차이만으로 우열을 판단하기 어렵다.</a:t>
            </a:r>
          </a:p>
        </p:txBody>
      </p:sp>
      <p:sp>
        <p:nvSpPr>
          <p:cNvPr id="8" name="">
            <a:extLst xmlns:a="http://schemas.openxmlformats.org/drawingml/2006/main">
              <a:ext uri="{FF2B5EF4-FFF2-40B4-BE49-F238E27FC236}">
                <a16:creationId xmlns:a16="http://schemas.microsoft.com/office/drawing/2014/main" id="{4FD910E3-43AE-4FE1-AC2F-97A6E3A4E8EE}"/>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데이터 관찰과 오류 분석이 다음 설계를 결정한다</a:t>
            </a:r>
          </a:p>
        </p:txBody>
      </p:sp>
      <p:sp>
        <p:nvSpPr>
          <p:cNvPr id="9" name="">
            <a:extLst xmlns:a="http://schemas.openxmlformats.org/drawingml/2006/main">
              <a:ext uri="{FF2B5EF4-FFF2-40B4-BE49-F238E27FC236}">
                <a16:creationId xmlns:a16="http://schemas.microsoft.com/office/drawing/2014/main" id="{35DB5B42-D03D-464C-B5AF-B8A998F9B800}"/>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22</a:t>
            </a:r>
          </a:p>
        </p:txBody>
      </p:sp>
    </p:spTree>
    <p:extLst>
      <p:ext uri="{BB962C8B-B14F-4D97-AF65-F5344CB8AC3E}">
        <p14:creationId xmlns:p14="http://schemas.microsoft.com/office/powerpoint/2010/main" val="159398684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D75146-8C13-49CD-A504-2BD50DBDDD57}"/>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부록</a:t>
            </a:r>
          </a:p>
        </p:txBody>
      </p:sp>
      <p:sp>
        <p:nvSpPr>
          <p:cNvPr id="2" name="">
            <a:extLst xmlns:a="http://schemas.openxmlformats.org/drawingml/2006/main">
              <a:ext uri="{FF2B5EF4-FFF2-40B4-BE49-F238E27FC236}">
                <a16:creationId xmlns:a16="http://schemas.microsoft.com/office/drawing/2014/main" id="{846EACF3-C6D4-4B0E-873C-316C2B31AB9E}"/>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부록: 초보자를 위한 용어</a:t>
            </a:r>
          </a:p>
        </p:txBody>
      </p:sp>
      <p:graphicFrame>
        <p:nvGraphicFramePr>
          <p:cNvPr id="3" name="">
            <a:extLst xmlns:a="http://schemas.openxmlformats.org/drawingml/2006/main">
              <a:ext uri="{FF2B5EF4-FFF2-40B4-BE49-F238E27FC236}">
                <a16:creationId xmlns:a16="http://schemas.microsoft.com/office/drawing/2014/main" id="{5B88F4F7-2067-49F2-A3F0-ACAB64FBB91A}"/>
              </a:ext>
            </a:extLst>
          </p:cNvPr>
          <p:cNvGraphicFramePr/>
          <p:nvPr/>
        </p:nvGraphicFramePr>
        <p:xfrm>
          <a:off xmlns:a="http://schemas.openxmlformats.org/drawingml/2006/main" x="685800" y="1619250"/>
          <a:ext xmlns:a="http://schemas.openxmlformats.org/drawingml/2006/main" cx="10820400" cy="4171950"/>
        </p:xfrm>
        <a:graphic xmlns:a="http://schemas.openxmlformats.org/drawingml/2006/main">
          <a:graphicData uri="http://schemas.openxmlformats.org/drawingml/2006/table">
            <a:tbl>
              <a:tblPr/>
              <a:tblGrid>
                <a:gridCol w="2952750"/>
                <a:gridCol w="7867650"/>
              </a:tblGrid>
              <a:tr h="595993">
                <a:tc>
                  <a:txBody>
                    <a:bodyPr/>
                    <a:lstStyle/>
                    <a:p>
                      <a:r>
                        <a:rPr sz="1800" b="1">
                          <a:solidFill>
                            <a:srgbClr val="FFFFFF"/>
                          </a:solidFill>
                          <a:latin typeface="Pretendard"/>
                          <a:ea typeface="Pretendard"/>
                          <a:cs typeface="Pretendard"/>
                        </a:rPr>
                        <a:t>용어</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쉬운 설명</a:t>
                      </a:r>
                    </a:p>
                  </a:txBody>
                  <a:tcPr marL="133350" marR="133350" marT="95250" marB="95250" anchor="ctr">
                    <a:solidFill>
                      <a:srgbClr val="1B2333"/>
                    </a:solidFill>
                  </a:tcPr>
                </a:tc>
              </a:tr>
              <a:tr h="595993">
                <a:tc>
                  <a:txBody>
                    <a:bodyPr/>
                    <a:lstStyle/>
                    <a:p>
                      <a:r>
                        <a:rPr sz="1800" b="0">
                          <a:solidFill>
                            <a:srgbClr val="1B2333"/>
                          </a:solidFill>
                          <a:latin typeface="Pretendard"/>
                          <a:ea typeface="Pretendard"/>
                          <a:cs typeface="Pretendard"/>
                        </a:rPr>
                        <a:t>EDA</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데이터를 살펴보고 패턴과 문제를 찾는 분석</a:t>
                      </a:r>
                    </a:p>
                  </a:txBody>
                  <a:tcPr marL="133350" marR="133350" marT="95250" marB="95250" anchor="ctr">
                    <a:solidFill>
                      <a:srgbClr val="F4F6F9"/>
                    </a:solidFill>
                  </a:tcPr>
                </a:tc>
              </a:tr>
              <a:tr h="595993">
                <a:tc>
                  <a:txBody>
                    <a:bodyPr/>
                    <a:lstStyle/>
                    <a:p>
                      <a:r>
                        <a:rPr sz="1800" b="0">
                          <a:solidFill>
                            <a:srgbClr val="1B2333"/>
                          </a:solidFill>
                          <a:latin typeface="Pretendard"/>
                          <a:ea typeface="Pretendard"/>
                          <a:cs typeface="Pretendard"/>
                        </a:rPr>
                        <a:t>자모 / 음절</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초성·중성·종성 / 이들을 합친 한글 한 글자</a:t>
                      </a:r>
                    </a:p>
                  </a:txBody>
                  <a:tcPr marL="133350" marR="133350" marT="95250" marB="95250" anchor="ctr">
                    <a:solidFill>
                      <a:srgbClr val="FFFFFF"/>
                    </a:solidFill>
                  </a:tcPr>
                </a:tc>
              </a:tr>
              <a:tr h="595993">
                <a:tc>
                  <a:txBody>
                    <a:bodyPr/>
                    <a:lstStyle/>
                    <a:p>
                      <a:r>
                        <a:rPr sz="1800" b="0">
                          <a:solidFill>
                            <a:srgbClr val="1B2333"/>
                          </a:solidFill>
                          <a:latin typeface="Pretendard"/>
                          <a:ea typeface="Pretendard"/>
                          <a:cs typeface="Pretendard"/>
                        </a:rPr>
                        <a:t>OOF / fold</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그 문장을 배우지 않은 모델의 예측 / 데이터를 나눈 묶음</a:t>
                      </a:r>
                    </a:p>
                  </a:txBody>
                  <a:tcPr marL="133350" marR="133350" marT="95250" marB="95250" anchor="ctr">
                    <a:solidFill>
                      <a:srgbClr val="F4F6F9"/>
                    </a:solidFill>
                  </a:tcPr>
                </a:tc>
              </a:tr>
              <a:tr h="595993">
                <a:tc>
                  <a:txBody>
                    <a:bodyPr/>
                    <a:lstStyle/>
                    <a:p>
                      <a:r>
                        <a:rPr sz="1800" b="0">
                          <a:solidFill>
                            <a:srgbClr val="1B2333"/>
                          </a:solidFill>
                          <a:latin typeface="Pretendard"/>
                          <a:ea typeface="Pretendard"/>
                          <a:cs typeface="Pretendard"/>
                        </a:rPr>
                        <a:t>증강 / 앙상블</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제공 자료로 학습 예시 추가 / 여러 모델의 예측 결합</a:t>
                      </a:r>
                    </a:p>
                  </a:txBody>
                  <a:tcPr marL="133350" marR="133350" marT="95250" marB="95250" anchor="ctr">
                    <a:solidFill>
                      <a:srgbClr val="FFFFFF"/>
                    </a:solidFill>
                  </a:tcPr>
                </a:tc>
              </a:tr>
              <a:tr h="595993">
                <a:tc>
                  <a:txBody>
                    <a:bodyPr/>
                    <a:lstStyle/>
                    <a:p>
                      <a:r>
                        <a:rPr sz="1800" b="0">
                          <a:solidFill>
                            <a:srgbClr val="1B2333"/>
                          </a:solidFill>
                          <a:latin typeface="Pretendard"/>
                          <a:ea typeface="Pretendard"/>
                          <a:cs typeface="Pretendard"/>
                        </a:rPr>
                        <a:t>리랭킹 / Public</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후보 점수를 다시 매겨 선택 / 공개 리더보드 평가</a:t>
                      </a:r>
                    </a:p>
                  </a:txBody>
                  <a:tcPr marL="133350" marR="133350" marT="95250" marB="95250" anchor="ctr">
                    <a:solidFill>
                      <a:srgbClr val="F4F6F9"/>
                    </a:solidFill>
                  </a:tcPr>
                </a:tc>
              </a:tr>
              <a:tr h="595993">
                <a:tc>
                  <a:txBody>
                    <a:bodyPr/>
                    <a:lstStyle/>
                    <a:p>
                      <a:r>
                        <a:rPr sz="1800" b="0">
                          <a:solidFill>
                            <a:srgbClr val="1B2333"/>
                          </a:solidFill>
                          <a:latin typeface="Pretendard"/>
                          <a:ea typeface="Pretendard"/>
                          <a:cs typeface="Pretendard"/>
                        </a:rPr>
                        <a:t>F1 / 글자 정확도</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대회 평가 지표 / 맞힌 글자의 비율. 동일 지표로 합치지 않음</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E7562F2-B663-4030-ADE3-5D66EAB2FA4A}"/>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기술 이름보다 어떤 문제를 해결하는지 먼저 이해하면 된다</a:t>
            </a:r>
          </a:p>
        </p:txBody>
      </p:sp>
      <p:sp>
        <p:nvSpPr>
          <p:cNvPr id="5" name="">
            <a:extLst xmlns:a="http://schemas.openxmlformats.org/drawingml/2006/main">
              <a:ext uri="{FF2B5EF4-FFF2-40B4-BE49-F238E27FC236}">
                <a16:creationId xmlns:a16="http://schemas.microsoft.com/office/drawing/2014/main" id="{06702AAF-F2E3-4D36-B876-F9BA8BB8C160}"/>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23</a:t>
            </a:r>
          </a:p>
        </p:txBody>
      </p:sp>
    </p:spTree>
    <p:extLst>
      <p:ext uri="{BB962C8B-B14F-4D97-AF65-F5344CB8AC3E}">
        <p14:creationId xmlns:p14="http://schemas.microsoft.com/office/powerpoint/2010/main" val="169314459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0A1D49-64AF-4C11-BB60-91E0C2D13BD6}"/>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부록</a:t>
            </a:r>
          </a:p>
        </p:txBody>
      </p:sp>
      <p:sp>
        <p:nvSpPr>
          <p:cNvPr id="2" name="">
            <a:extLst xmlns:a="http://schemas.openxmlformats.org/drawingml/2006/main">
              <a:ext uri="{FF2B5EF4-FFF2-40B4-BE49-F238E27FC236}">
                <a16:creationId xmlns:a16="http://schemas.microsoft.com/office/drawing/2014/main" id="{9262A8AC-BC6F-45CE-BB46-BFD31A76EC4F}"/>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부록: A팀 모델과 학습의 세부 설정</a:t>
            </a:r>
          </a:p>
        </p:txBody>
      </p:sp>
      <p:graphicFrame>
        <p:nvGraphicFramePr>
          <p:cNvPr id="3" name="">
            <a:extLst xmlns:a="http://schemas.openxmlformats.org/drawingml/2006/main">
              <a:ext uri="{FF2B5EF4-FFF2-40B4-BE49-F238E27FC236}">
                <a16:creationId xmlns:a16="http://schemas.microsoft.com/office/drawing/2014/main" id="{90F597AA-2679-4C37-80C7-71676DB9A960}"/>
              </a:ext>
            </a:extLst>
          </p:cNvPr>
          <p:cNvGraphicFramePr/>
          <p:nvPr/>
        </p:nvGraphicFramePr>
        <p:xfrm>
          <a:off xmlns:a="http://schemas.openxmlformats.org/drawingml/2006/main" x="685800" y="1619250"/>
          <a:ext xmlns:a="http://schemas.openxmlformats.org/drawingml/2006/main" cx="10820400" cy="3429000"/>
        </p:xfrm>
        <a:graphic xmlns:a="http://schemas.openxmlformats.org/drawingml/2006/main">
          <a:graphicData uri="http://schemas.openxmlformats.org/drawingml/2006/table">
            <a:tbl>
              <a:tblPr/>
              <a:tblGrid>
                <a:gridCol w="2381250"/>
                <a:gridCol w="8439150"/>
              </a:tblGrid>
              <a:tr h="685800">
                <a:tc>
                  <a:txBody>
                    <a:bodyPr/>
                    <a:lstStyle/>
                    <a:p>
                      <a:r>
                        <a:rPr sz="1800" b="1">
                          <a:solidFill>
                            <a:srgbClr val="FFFFFF"/>
                          </a:solidFill>
                          <a:latin typeface="Pretendard"/>
                          <a:ea typeface="Pretendard"/>
                          <a:cs typeface="Pretendard"/>
                        </a:rPr>
                        <a:t>단계</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구성과 설정</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1단계 복원</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자모 임베딩, RoPE 6층(256차원),</a:t>
                      </a:r>
                    </a:p>
                    <a:p>
                      <a:r>
                        <a:rPr sz="1800" b="0">
                          <a:solidFill>
                            <a:srgbClr val="1B2333"/>
                          </a:solidFill>
                          <a:latin typeface="Pretendard"/>
                          <a:ea typeface="Pretendard"/>
                          <a:cs typeface="Pretendard"/>
                        </a:rPr>
                        <a:t>KoCharELECTRA-small 상위 6층, 음절 분류</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2단계 교정</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KcELECTRA-base, 원문·예측 자모,</a:t>
                      </a:r>
                    </a:p>
                    <a:p>
                      <a:r>
                        <a:rPr sz="1800" b="0">
                          <a:solidFill>
                            <a:srgbClr val="1B2333"/>
                          </a:solidFill>
                          <a:latin typeface="Pretendard"/>
                          <a:ea typeface="Pretendard"/>
                          <a:cs typeface="Pretendard"/>
                        </a:rPr>
                        <a:t>RoPE 2층(384차원). 약 1억 3,000만 파라미터</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데이터 분리</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1단계 5 fold OOF. 증강 규칙은 학습 분할에서 추정</a:t>
                      </a:r>
                    </a:p>
                    <a:p>
                      <a:r>
                        <a:rPr sz="1800" b="0">
                          <a:solidFill>
                            <a:srgbClr val="1B2333"/>
                          </a:solidFill>
                          <a:latin typeface="Pretendard"/>
                          <a:ea typeface="Pretendard"/>
                          <a:cs typeface="Pretendard"/>
                        </a:rPr>
                        <a:t>2단계 검증 원문과 그 변형은 학습에서 제외</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추론 설정</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2단계 학습 구간 510자, 128자 겹침</a:t>
                      </a:r>
                    </a:p>
                    <a:p>
                      <a:r>
                        <a:rPr sz="1800" b="0">
                          <a:solidFill>
                            <a:srgbClr val="1B2333"/>
                          </a:solidFill>
                          <a:latin typeface="Pretendard"/>
                          <a:ea typeface="Pretendard"/>
                          <a:cs typeface="Pretendard"/>
                        </a:rPr>
                        <a:t>copy margin과 교정 회차는 검증으로 선택</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CBD031A-ACD6-4EA8-BAF7-18DFD2103E9D}"/>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단어 표현과 원문 단서를 결합하고 검증으로 수정 강도를 정한다</a:t>
            </a:r>
          </a:p>
        </p:txBody>
      </p:sp>
      <p:sp>
        <p:nvSpPr>
          <p:cNvPr id="5" name="">
            <a:extLst xmlns:a="http://schemas.openxmlformats.org/drawingml/2006/main">
              <a:ext uri="{FF2B5EF4-FFF2-40B4-BE49-F238E27FC236}">
                <a16:creationId xmlns:a16="http://schemas.microsoft.com/office/drawing/2014/main" id="{2DAF890B-2E40-4420-AA94-CB9D0EA997F1}"/>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24</a:t>
            </a:r>
          </a:p>
        </p:txBody>
      </p:sp>
    </p:spTree>
    <p:extLst>
      <p:ext uri="{BB962C8B-B14F-4D97-AF65-F5344CB8AC3E}">
        <p14:creationId xmlns:p14="http://schemas.microsoft.com/office/powerpoint/2010/main" val="67218538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CA1066-16BD-4CCB-A498-7E740CB94539}"/>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부록</a:t>
            </a:r>
          </a:p>
        </p:txBody>
      </p:sp>
      <p:sp>
        <p:nvSpPr>
          <p:cNvPr id="2" name="">
            <a:extLst xmlns:a="http://schemas.openxmlformats.org/drawingml/2006/main">
              <a:ext uri="{FF2B5EF4-FFF2-40B4-BE49-F238E27FC236}">
                <a16:creationId xmlns:a16="http://schemas.microsoft.com/office/drawing/2014/main" id="{105E9B52-7BBA-486C-8B0A-B0421A6D6768}"/>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부록: B팀 모델별 역할</a:t>
            </a:r>
          </a:p>
        </p:txBody>
      </p:sp>
      <p:graphicFrame>
        <p:nvGraphicFramePr>
          <p:cNvPr id="3" name="">
            <a:extLst xmlns:a="http://schemas.openxmlformats.org/drawingml/2006/main">
              <a:ext uri="{FF2B5EF4-FFF2-40B4-BE49-F238E27FC236}">
                <a16:creationId xmlns:a16="http://schemas.microsoft.com/office/drawing/2014/main" id="{00E5BFE4-5FB6-48DA-92EF-89F130F3CF9E}"/>
              </a:ext>
            </a:extLst>
          </p:cNvPr>
          <p:cNvGraphicFramePr/>
          <p:nvPr/>
        </p:nvGraphicFramePr>
        <p:xfrm>
          <a:off xmlns:a="http://schemas.openxmlformats.org/drawingml/2006/main" x="685800" y="1619250"/>
          <a:ext xmlns:a="http://schemas.openxmlformats.org/drawingml/2006/main" cx="10820400" cy="4114800"/>
        </p:xfrm>
        <a:graphic xmlns:a="http://schemas.openxmlformats.org/drawingml/2006/main">
          <a:graphicData uri="http://schemas.openxmlformats.org/drawingml/2006/table">
            <a:tbl>
              <a:tblPr/>
              <a:tblGrid>
                <a:gridCol w="4305300"/>
                <a:gridCol w="4038600"/>
                <a:gridCol w="2476500"/>
              </a:tblGrid>
              <a:tr h="685800">
                <a:tc>
                  <a:txBody>
                    <a:bodyPr/>
                    <a:lstStyle/>
                    <a:p>
                      <a:r>
                        <a:rPr sz="1800" b="1">
                          <a:solidFill>
                            <a:srgbClr val="FFFFFF"/>
                          </a:solidFill>
                          <a:latin typeface="Pretendard"/>
                          <a:ea typeface="Pretendard"/>
                          <a:cs typeface="Pretendard"/>
                        </a:rPr>
                        <a:t>모델</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역할</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규모</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KoCharELECTRA-base</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글자별 음절 분류</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약 9,400만</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klue/roberta-large</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단어 표현 보완</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약 3.4억</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xlm-roberta-large</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다른 단어 모델 실행</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약 5.6억</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KcELECTRA-base-v2022</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단어 모델 및 어휘 정보</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약 1.2억</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polyglot-ko-5.8b</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후보의 문맥 점수 계산</a:t>
                      </a:r>
                    </a:p>
                    <a:p>
                      <a:r>
                        <a:rPr sz="1800" b="0">
                          <a:solidFill>
                            <a:srgbClr val="1B2333"/>
                          </a:solidFill>
                          <a:latin typeface="Pretendard"/>
                          <a:ea typeface="Pretendard"/>
                          <a:cs typeface="Pretendard"/>
                        </a:rPr>
                        <a:t>추가 학습 없이 사용</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약 58억</a:t>
                      </a:r>
                    </a:p>
                  </a:txBody>
                  <a:tcPr marL="133350" marR="133350" marT="95250" marB="95250" anchor="ctr">
                    <a:solidFill>
                      <a:srgbClr val="F4F6F9"/>
                    </a:solidFill>
                  </a:tcPr>
                </a:tc>
              </a:tr>
            </a:tbl>
          </a:graphicData>
        </a:graphic>
      </p:graphicFrame>
      <p:sp>
        <p:nvSpPr>
          <p:cNvPr id="4" name="">
            <a:extLst xmlns:a="http://schemas.openxmlformats.org/drawingml/2006/main">
              <a:ext uri="{FF2B5EF4-FFF2-40B4-BE49-F238E27FC236}">
                <a16:creationId xmlns:a16="http://schemas.microsoft.com/office/drawing/2014/main" id="{97EFD611-BE55-4CDB-991C-59EE062400F5}"/>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복원 모델과 후보 선택 모델은 서로 다른 역할을 맡는다</a:t>
            </a:r>
          </a:p>
        </p:txBody>
      </p:sp>
      <p:sp>
        <p:nvSpPr>
          <p:cNvPr id="5" name="">
            <a:extLst xmlns:a="http://schemas.openxmlformats.org/drawingml/2006/main">
              <a:ext uri="{FF2B5EF4-FFF2-40B4-BE49-F238E27FC236}">
                <a16:creationId xmlns:a16="http://schemas.microsoft.com/office/drawing/2014/main" id="{B6F2357C-9B6F-4830-AD0D-7899A1EA20E6}"/>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25</a:t>
            </a:r>
          </a:p>
        </p:txBody>
      </p:sp>
    </p:spTree>
    <p:extLst>
      <p:ext uri="{BB962C8B-B14F-4D97-AF65-F5344CB8AC3E}">
        <p14:creationId xmlns:p14="http://schemas.microsoft.com/office/powerpoint/2010/main" val="143490590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6F4A8A-FD0F-441A-B9E5-00883CC29C64}"/>
              </a:ext>
            </a:extLst>
          </p:cNvPr>
          <p:cNvSpPr>
            <a:spLocks xmlns:a="http://schemas.openxmlformats.org/drawingml/2006/main" noGrp="1"/>
          </p:cNvSpPr>
          <p:nvPr/>
        </p:nvSpPr>
        <p:spPr>
          <a:xfrm xmlns:a="http://schemas.openxmlformats.org/drawingml/2006/main">
            <a:off x="685800" y="3333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078"/>
                </a:solidFill>
                <a:latin typeface="Pretendard"/>
                <a:ea typeface="Pretendard"/>
                <a:cs typeface="Pretendard"/>
              </a:defRPr>
            </a:defPPr>
          </a:lstStyle>
          <a:p xmlns:a="http://schemas.openxmlformats.org/drawingml/2006/main">
            <a:pPr>
              <a:defRPr sz="1350" b="0">
                <a:solidFill>
                  <a:srgbClr val="526078"/>
                </a:solidFill>
                <a:latin typeface="Pretendard"/>
                <a:ea typeface="Pretendard"/>
                <a:cs typeface="Pretendard"/>
              </a:defRPr>
            </a:pPr>
            <a:r>
              <a:rPr sz="1350" b="0">
                <a:solidFill>
                  <a:srgbClr val="526078"/>
                </a:solidFill>
                <a:latin typeface="Pretendard"/>
                <a:ea typeface="Pretendard"/>
                <a:cs typeface="Pretendard"/>
              </a:rPr>
              <a:t>부록</a:t>
            </a:r>
          </a:p>
        </p:txBody>
      </p:sp>
      <p:sp>
        <p:nvSpPr>
          <p:cNvPr id="2" name="">
            <a:extLst xmlns:a="http://schemas.openxmlformats.org/drawingml/2006/main">
              <a:ext uri="{FF2B5EF4-FFF2-40B4-BE49-F238E27FC236}">
                <a16:creationId xmlns:a16="http://schemas.microsoft.com/office/drawing/2014/main" id="{DDF2F2C2-9A9A-4903-BD50-984A3E9B716C}"/>
              </a:ext>
            </a:extLst>
          </p:cNvPr>
          <p:cNvSpPr>
            <a:spLocks xmlns:a="http://schemas.openxmlformats.org/drawingml/2006/main" noGrp="1"/>
          </p:cNvSpPr>
          <p:nvPr/>
        </p:nvSpPr>
        <p:spPr>
          <a:xfrm xmlns:a="http://schemas.openxmlformats.org/drawingml/2006/main">
            <a:off x="685800" y="7810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B2333"/>
                </a:solidFill>
                <a:latin typeface="Pretendard"/>
                <a:ea typeface="Pretendard"/>
                <a:cs typeface="Pretendard"/>
              </a:defRPr>
            </a:defPPr>
          </a:lstStyle>
          <a:p xmlns:a="http://schemas.openxmlformats.org/drawingml/2006/main">
            <a:pPr>
              <a:defRPr sz="3000" b="1">
                <a:solidFill>
                  <a:srgbClr val="1B2333"/>
                </a:solidFill>
                <a:latin typeface="Pretendard"/>
                <a:ea typeface="Pretendard"/>
                <a:cs typeface="Pretendard"/>
              </a:defRPr>
            </a:pPr>
            <a:r>
              <a:rPr sz="3000" b="1">
                <a:solidFill>
                  <a:srgbClr val="1B2333"/>
                </a:solidFill>
                <a:latin typeface="Pretendard"/>
                <a:ea typeface="Pretendard"/>
                <a:cs typeface="Pretendard"/>
              </a:rPr>
              <a:t>부록: 수치 해석과 남은 개선 방향</a:t>
            </a:r>
          </a:p>
        </p:txBody>
      </p:sp>
      <p:graphicFrame>
        <p:nvGraphicFramePr>
          <p:cNvPr id="3" name="">
            <a:extLst xmlns:a="http://schemas.openxmlformats.org/drawingml/2006/main">
              <a:ext uri="{FF2B5EF4-FFF2-40B4-BE49-F238E27FC236}">
                <a16:creationId xmlns:a16="http://schemas.microsoft.com/office/drawing/2014/main" id="{BCBC0295-6E94-47D2-817C-F8ABEC5BA16D}"/>
              </a:ext>
            </a:extLst>
          </p:cNvPr>
          <p:cNvGraphicFramePr/>
          <p:nvPr/>
        </p:nvGraphicFramePr>
        <p:xfrm>
          <a:off xmlns:a="http://schemas.openxmlformats.org/drawingml/2006/main" x="685800" y="1619250"/>
          <a:ext xmlns:a="http://schemas.openxmlformats.org/drawingml/2006/main" cx="10820400" cy="3429000"/>
        </p:xfrm>
        <a:graphic xmlns:a="http://schemas.openxmlformats.org/drawingml/2006/main">
          <a:graphicData uri="http://schemas.openxmlformats.org/drawingml/2006/table">
            <a:tbl>
              <a:tblPr/>
              <a:tblGrid>
                <a:gridCol w="2667000"/>
                <a:gridCol w="8153400"/>
              </a:tblGrid>
              <a:tr h="685800">
                <a:tc>
                  <a:txBody>
                    <a:bodyPr/>
                    <a:lstStyle/>
                    <a:p>
                      <a:r>
                        <a:rPr sz="1800" b="1">
                          <a:solidFill>
                            <a:srgbClr val="FFFFFF"/>
                          </a:solidFill>
                          <a:latin typeface="Pretendard"/>
                          <a:ea typeface="Pretendard"/>
                          <a:cs typeface="Pretendard"/>
                        </a:rPr>
                        <a:t>확인할 점</a:t>
                      </a:r>
                    </a:p>
                  </a:txBody>
                  <a:tcPr marL="133350" marR="133350" marT="95250" marB="95250" anchor="ctr">
                    <a:solidFill>
                      <a:srgbClr val="1B2333"/>
                    </a:solidFill>
                  </a:tcPr>
                </a:tc>
                <a:tc>
                  <a:txBody>
                    <a:bodyPr/>
                    <a:lstStyle/>
                    <a:p>
                      <a:r>
                        <a:rPr sz="1800" b="1">
                          <a:solidFill>
                            <a:srgbClr val="FFFFFF"/>
                          </a:solidFill>
                          <a:latin typeface="Pretendard"/>
                          <a:ea typeface="Pretendard"/>
                          <a:cs typeface="Pretendard"/>
                        </a:rPr>
                        <a:t>자료에서 말할 수 있는 범위</a:t>
                      </a:r>
                    </a:p>
                  </a:txBody>
                  <a:tcPr marL="133350" marR="133350" marT="95250" marB="95250" anchor="ctr">
                    <a:solidFill>
                      <a:srgbClr val="1B2333"/>
                    </a:solidFill>
                  </a:tcPr>
                </a:tc>
              </a:tr>
              <a:tr h="685800">
                <a:tc>
                  <a:txBody>
                    <a:bodyPr/>
                    <a:lstStyle/>
                    <a:p>
                      <a:r>
                        <a:rPr sz="1800" b="0">
                          <a:solidFill>
                            <a:srgbClr val="1B2333"/>
                          </a:solidFill>
                          <a:latin typeface="Pretendard"/>
                          <a:ea typeface="Pretendard"/>
                          <a:cs typeface="Pretendard"/>
                        </a:rPr>
                        <a:t>서로 다른 검증 지표</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A 검증 F1, B OOF 글자 정확도, Public를 각각 유지</a:t>
                      </a:r>
                    </a:p>
                    <a:p>
                      <a:r>
                        <a:rPr sz="1800" b="0">
                          <a:solidFill>
                            <a:srgbClr val="1B2333"/>
                          </a:solidFill>
                          <a:latin typeface="Pretendard"/>
                          <a:ea typeface="Pretendard"/>
                          <a:cs typeface="Pretendard"/>
                        </a:rPr>
                        <a:t>동일 분할과 조건에서 비교한 실험은 없음</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A 최종 결과</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원본 리더보드 차트는 0.989로 표시</a:t>
                      </a:r>
                    </a:p>
                    <a:p>
                      <a:r>
                        <a:rPr sz="1800" b="0">
                          <a:solidFill>
                            <a:srgbClr val="1B2333"/>
                          </a:solidFill>
                          <a:latin typeface="Pretendard"/>
                          <a:ea typeface="Pretendard"/>
                          <a:cs typeface="Pretendard"/>
                        </a:rPr>
                        <a:t>최종 다수결의 상세 방식은 자료에 충분히 설명되지 않음</a:t>
                      </a:r>
                    </a:p>
                  </a:txBody>
                  <a:tcPr marL="133350" marR="133350" marT="95250" marB="95250" anchor="ctr">
                    <a:solidFill>
                      <a:srgbClr val="FFFFFF"/>
                    </a:solidFill>
                  </a:tcPr>
                </a:tc>
              </a:tr>
              <a:tr h="685800">
                <a:tc>
                  <a:txBody>
                    <a:bodyPr/>
                    <a:lstStyle/>
                    <a:p>
                      <a:r>
                        <a:rPr sz="1800" b="0">
                          <a:solidFill>
                            <a:srgbClr val="1B2333"/>
                          </a:solidFill>
                          <a:latin typeface="Pretendard"/>
                          <a:ea typeface="Pretendard"/>
                          <a:cs typeface="Pretendard"/>
                        </a:rPr>
                        <a:t>B 후보의 한계</a:t>
                      </a:r>
                    </a:p>
                  </a:txBody>
                  <a:tcPr marL="133350" marR="133350" marT="95250" marB="95250" anchor="ctr">
                    <a:solidFill>
                      <a:srgbClr val="F4F6F9"/>
                    </a:solidFill>
                  </a:tcPr>
                </a:tc>
                <a:tc>
                  <a:txBody>
                    <a:bodyPr/>
                    <a:lstStyle/>
                    <a:p>
                      <a:r>
                        <a:rPr sz="1800" b="0">
                          <a:solidFill>
                            <a:srgbClr val="1B2333"/>
                          </a:solidFill>
                          <a:latin typeface="Pretendard"/>
                          <a:ea typeface="Pretendard"/>
                          <a:cs typeface="Pretendard"/>
                        </a:rPr>
                        <a:t>후보 중 항상 최선이면 OOF 약 0.9934</a:t>
                      </a:r>
                    </a:p>
                    <a:p>
                      <a:r>
                        <a:rPr sz="1800" b="0">
                          <a:solidFill>
                            <a:srgbClr val="1B2333"/>
                          </a:solidFill>
                          <a:latin typeface="Pretendard"/>
                          <a:ea typeface="Pretendard"/>
                          <a:cs typeface="Pretendard"/>
                        </a:rPr>
                        <a:t>현재 약 0.9915. 공통 오답은 선택만으로 해결 불가</a:t>
                      </a:r>
                    </a:p>
                  </a:txBody>
                  <a:tcPr marL="133350" marR="133350" marT="95250" marB="95250" anchor="ctr">
                    <a:solidFill>
                      <a:srgbClr val="F4F6F9"/>
                    </a:solidFill>
                  </a:tcPr>
                </a:tc>
              </a:tr>
              <a:tr h="685800">
                <a:tc>
                  <a:txBody>
                    <a:bodyPr/>
                    <a:lstStyle/>
                    <a:p>
                      <a:r>
                        <a:rPr sz="1800" b="0">
                          <a:solidFill>
                            <a:srgbClr val="1B2333"/>
                          </a:solidFill>
                          <a:latin typeface="Pretendard"/>
                          <a:ea typeface="Pretendard"/>
                          <a:cs typeface="Pretendard"/>
                        </a:rPr>
                        <a:t>후속 실험 아이디어</a:t>
                      </a:r>
                    </a:p>
                  </a:txBody>
                  <a:tcPr marL="133350" marR="133350" marT="95250" marB="95250" anchor="ctr">
                    <a:solidFill>
                      <a:srgbClr val="FFFFFF"/>
                    </a:solidFill>
                  </a:tcPr>
                </a:tc>
                <a:tc>
                  <a:txBody>
                    <a:bodyPr/>
                    <a:lstStyle/>
                    <a:p>
                      <a:r>
                        <a:rPr sz="1800" b="0">
                          <a:solidFill>
                            <a:srgbClr val="1B2333"/>
                          </a:solidFill>
                          <a:latin typeface="Pretendard"/>
                          <a:ea typeface="Pretendard"/>
                          <a:cs typeface="Pretendard"/>
                        </a:rPr>
                        <a:t>A 교정 결과를 B 후보로 추가하거나 규칙으로 후보 생성</a:t>
                      </a:r>
                    </a:p>
                    <a:p>
                      <a:r>
                        <a:rPr sz="1800" b="0">
                          <a:solidFill>
                            <a:srgbClr val="1B2333"/>
                          </a:solidFill>
                          <a:latin typeface="Pretendard"/>
                          <a:ea typeface="Pretendard"/>
                          <a:cs typeface="Pretendard"/>
                        </a:rPr>
                        <a:t>두 팀을 결합한 성능 향상은 아직 확인되지 않은 제안</a:t>
                      </a:r>
                    </a:p>
                  </a:txBody>
                  <a:tcPr marL="133350" marR="133350" marT="95250" marB="9525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C4EE07A-E925-4825-962B-D457C0DFDAC4}"/>
              </a:ext>
            </a:extLst>
          </p:cNvPr>
          <p:cNvSpPr>
            <a:spLocks xmlns:a="http://schemas.openxmlformats.org/drawingml/2006/main" noGrp="1"/>
          </p:cNvSpPr>
          <p:nvPr/>
        </p:nvSpPr>
        <p:spPr>
          <a:xfrm xmlns:a="http://schemas.openxmlformats.org/drawingml/2006/main">
            <a:off x="685800" y="6000750"/>
            <a:ext cx="10325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C2410C"/>
                </a:solidFill>
                <a:latin typeface="Pretendard"/>
                <a:ea typeface="Pretendard"/>
                <a:cs typeface="Pretendard"/>
              </a:defRPr>
            </a:defPPr>
          </a:lstStyle>
          <a:p xmlns:a="http://schemas.openxmlformats.org/drawingml/2006/main">
            <a:pPr>
              <a:defRPr sz="1950" b="1">
                <a:solidFill>
                  <a:srgbClr val="C2410C"/>
                </a:solidFill>
                <a:latin typeface="Pretendard"/>
                <a:ea typeface="Pretendard"/>
                <a:cs typeface="Pretendard"/>
              </a:defRPr>
            </a:pPr>
            <a:r>
              <a:rPr sz="1950" b="1">
                <a:solidFill>
                  <a:srgbClr val="C2410C"/>
                </a:solidFill>
                <a:latin typeface="Pretendard"/>
                <a:ea typeface="Pretendard"/>
                <a:cs typeface="Pretendard"/>
              </a:rPr>
              <a:t>출처: A팀 제공 PPT / B팀 발표자료.md. 관찰과 제안을 구분한다</a:t>
            </a:r>
          </a:p>
        </p:txBody>
      </p:sp>
      <p:sp>
        <p:nvSpPr>
          <p:cNvPr id="5" name="">
            <a:extLst xmlns:a="http://schemas.openxmlformats.org/drawingml/2006/main">
              <a:ext uri="{FF2B5EF4-FFF2-40B4-BE49-F238E27FC236}">
                <a16:creationId xmlns:a16="http://schemas.microsoft.com/office/drawing/2014/main" id="{D8B305E0-F546-44BC-9A91-410D4E8CBB86}"/>
              </a:ext>
            </a:extLst>
          </p:cNvPr>
          <p:cNvSpPr>
            <a:spLocks xmlns:a="http://schemas.openxmlformats.org/drawingml/2006/main" noGrp="1"/>
          </p:cNvSpPr>
          <p:nvPr/>
        </p:nvSpPr>
        <p:spPr>
          <a:xfrm xmlns:a="http://schemas.openxmlformats.org/drawingml/2006/main">
            <a:off x="11049000" y="647700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078"/>
                </a:solidFill>
                <a:latin typeface="Pretendard"/>
                <a:ea typeface="Pretendard"/>
                <a:cs typeface="Pretendard"/>
              </a:defRPr>
            </a:defPPr>
          </a:lstStyle>
          <a:p xmlns:a="http://schemas.openxmlformats.org/drawingml/2006/main">
            <a:pPr>
              <a:defRPr sz="1275" b="0">
                <a:solidFill>
                  <a:srgbClr val="526078"/>
                </a:solidFill>
                <a:latin typeface="Pretendard"/>
                <a:ea typeface="Pretendard"/>
                <a:cs typeface="Pretendard"/>
              </a:defRPr>
            </a:pPr>
            <a:r>
              <a:rPr sz="1275" b="0">
                <a:solidFill>
                  <a:srgbClr val="526078"/>
                </a:solidFill>
                <a:latin typeface="Pretendard"/>
                <a:ea typeface="Pretendard"/>
                <a:cs typeface="Pretendard"/>
              </a:rPr>
              <a:t>26</a:t>
            </a:r>
          </a:p>
        </p:txBody>
      </p:sp>
    </p:spTree>
    <p:extLst>
      <p:ext uri="{BB962C8B-B14F-4D97-AF65-F5344CB8AC3E}">
        <p14:creationId xmlns:p14="http://schemas.microsoft.com/office/powerpoint/2010/main" val="20516682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2026-10-12T03:15:45.2690000Z</dcterms:created>
  <dcterms:modified xsi:type="dcterms:W3CDTF">2026-10-12T03:15:45.2690000Z</dcterms:modified>
</coreProperties>
</file>